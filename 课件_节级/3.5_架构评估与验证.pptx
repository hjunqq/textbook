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91695" cy="457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10698480" cy="457200"/>
          </a:xfrm>
          <a:prstGeom prst="rect">
            <a:avLst/>
          </a:prstGeom>
          <a:noFill/>
        </p:spPr>
        <p:txBody>
          <a:bodyPr wrap="none">
            <a:spAutoFit/>
          </a:bodyPr>
          <a:lstStyle/>
          <a:p>
            <a:r>
              <a:rPr sz="1800" b="0">
                <a:solidFill>
                  <a:srgbClr val="DDEBF7"/>
                </a:solidFill>
                <a:latin typeface="微软雅黑"/>
              </a:rPr>
              <a:t>智慧水利平台架构与开发</a:t>
            </a:r>
          </a:p>
        </p:txBody>
      </p:sp>
      <p:sp>
        <p:nvSpPr>
          <p:cNvPr id="5" name="TextBox 4"/>
          <p:cNvSpPr txBox="1"/>
          <p:nvPr/>
        </p:nvSpPr>
        <p:spPr>
          <a:xfrm>
            <a:off x="731520" y="2377440"/>
            <a:ext cx="10698480" cy="548640"/>
          </a:xfrm>
          <a:prstGeom prst="rect">
            <a:avLst/>
          </a:prstGeom>
          <a:noFill/>
        </p:spPr>
        <p:txBody>
          <a:bodyPr wrap="none">
            <a:spAutoFit/>
          </a:bodyPr>
          <a:lstStyle/>
          <a:p>
            <a:r>
              <a:rPr sz="2200" b="0">
                <a:solidFill>
                  <a:srgbClr val="DDEBF7"/>
                </a:solidFill>
                <a:latin typeface="微软雅黑"/>
              </a:rPr>
              <a:t>第 三 章   软件架构设计</a:t>
            </a:r>
          </a:p>
        </p:txBody>
      </p:sp>
      <p:sp>
        <p:nvSpPr>
          <p:cNvPr id="6" name="TextBox 5"/>
          <p:cNvSpPr txBox="1"/>
          <p:nvPr/>
        </p:nvSpPr>
        <p:spPr>
          <a:xfrm>
            <a:off x="731520" y="2926080"/>
            <a:ext cx="10698480" cy="1097280"/>
          </a:xfrm>
          <a:prstGeom prst="rect">
            <a:avLst/>
          </a:prstGeom>
          <a:noFill/>
        </p:spPr>
        <p:txBody>
          <a:bodyPr wrap="none">
            <a:spAutoFit/>
          </a:bodyPr>
          <a:lstStyle/>
          <a:p>
            <a:r>
              <a:rPr sz="7200" b="1">
                <a:solidFill>
                  <a:srgbClr val="FFFFFF"/>
                </a:solidFill>
                <a:latin typeface="微软雅黑"/>
              </a:rPr>
              <a:t>3.5</a:t>
            </a:r>
          </a:p>
        </p:txBody>
      </p:sp>
      <p:sp>
        <p:nvSpPr>
          <p:cNvPr id="7" name="TextBox 6"/>
          <p:cNvSpPr txBox="1"/>
          <p:nvPr/>
        </p:nvSpPr>
        <p:spPr>
          <a:xfrm>
            <a:off x="731520" y="4297680"/>
            <a:ext cx="10698480" cy="914400"/>
          </a:xfrm>
          <a:prstGeom prst="rect">
            <a:avLst/>
          </a:prstGeom>
          <a:noFill/>
        </p:spPr>
        <p:txBody>
          <a:bodyPr wrap="none">
            <a:spAutoFit/>
          </a:bodyPr>
          <a:lstStyle/>
          <a:p>
            <a:r>
              <a:rPr sz="4400" b="1">
                <a:solidFill>
                  <a:srgbClr val="FFFFFF"/>
                </a:solidFill>
                <a:latin typeface="微软雅黑"/>
              </a:rPr>
              <a:t>架构评估与验证</a:t>
            </a:r>
          </a:p>
        </p:txBody>
      </p:sp>
      <p:sp>
        <p:nvSpPr>
          <p:cNvPr id="8" name="TextBox 7"/>
          <p:cNvSpPr txBox="1"/>
          <p:nvPr/>
        </p:nvSpPr>
        <p:spPr>
          <a:xfrm>
            <a:off x="731520" y="6035040"/>
            <a:ext cx="10698480" cy="365760"/>
          </a:xfrm>
          <a:prstGeom prst="rect">
            <a:avLst/>
          </a:prstGeom>
          <a:noFill/>
        </p:spPr>
        <p:txBody>
          <a:bodyPr wrap="none">
            <a:spAutoFit/>
          </a:bodyPr>
          <a:lstStyle/>
          <a:p>
            <a:r>
              <a:rPr sz="1400" b="0">
                <a:solidFill>
                  <a:srgbClr val="DDEBF7"/>
                </a:solidFill>
                <a:latin typeface="微软雅黑"/>
              </a:rPr>
              <a:t>河海大学 · 水利水电学院</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学习目标</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333333"/>
                </a:solidFill>
                <a:latin typeface="微软雅黑"/>
              </a:rPr>
              <a:t>通过本节学习，学生应能够：</a:t>
            </a:r>
          </a:p>
          <a:p>
            <a:pPr/>
            <a:r>
              <a:rPr sz="1800" b="0">
                <a:solidFill>
                  <a:srgbClr val="333333"/>
                </a:solidFill>
                <a:latin typeface="微软雅黑"/>
              </a:rPr>
              <a:t>· 掌握 评估方法 的核心概念与方法</a:t>
            </a:r>
          </a:p>
          <a:p>
            <a:pPr/>
            <a:r>
              <a:rPr sz="1800" b="0">
                <a:solidFill>
                  <a:srgbClr val="333333"/>
                </a:solidFill>
                <a:latin typeface="微软雅黑"/>
              </a:rPr>
              <a:t>· 掌握 复杂度与风险分析 的核心概念与方法</a:t>
            </a:r>
          </a:p>
          <a:p>
            <a:pPr/>
            <a:r>
              <a:rPr sz="1800" b="0">
                <a:solidFill>
                  <a:srgbClr val="333333"/>
                </a:solidFill>
                <a:latin typeface="微软雅黑"/>
              </a:rPr>
              <a:t>· 掌握 基础 的核心概念与方法</a:t>
            </a:r>
          </a:p>
          <a:p>
            <a:pPr/>
            <a:r>
              <a:rPr sz="1800" b="0">
                <a:solidFill>
                  <a:srgbClr val="333333"/>
                </a:solidFill>
                <a:latin typeface="微软雅黑"/>
              </a:rPr>
              <a:t>· 能够结合智慧水利平台需求，应用本节内容进行分析与设计</a:t>
            </a:r>
          </a:p>
        </p:txBody>
      </p:sp>
      <p:sp>
        <p:nvSpPr>
          <p:cNvPr id="9" name="TextBox 8"/>
          <p:cNvSpPr txBox="1"/>
          <p:nvPr/>
        </p:nvSpPr>
        <p:spPr>
          <a:xfrm>
            <a:off x="274320" y="6446520"/>
            <a:ext cx="11612880" cy="274320"/>
          </a:xfrm>
          <a:prstGeom prst="rect">
            <a:avLst/>
          </a:prstGeom>
          <a:noFill/>
        </p:spPr>
        <p:txBody>
          <a:bodyPr wrap="none" lIns="0" tIns="0">
            <a:spAutoFit/>
          </a:bodyPr>
          <a:lstStyle/>
          <a:p>
            <a:pPr algn="r"/>
            <a:r>
              <a:rPr sz="1000" b="0">
                <a:solidFill>
                  <a:srgbClr val="595959"/>
                </a:solidFill>
                <a:latin typeface="微软雅黑"/>
              </a:rPr>
              <a:t>河海大学 · 水利水电学院    第 2 / 0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本节知识图谱</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657600"/>
            <a:ext cx="11155680" cy="2560320"/>
          </a:xfrm>
          <a:prstGeom prst="rect">
            <a:avLst/>
          </a:prstGeom>
          <a:noFill/>
        </p:spPr>
        <p:txBody>
          <a:bodyPr wrap="square">
            <a:spAutoFit/>
          </a:bodyPr>
          <a:lstStyle/>
          <a:p>
            <a:r>
              <a:rPr sz="1800" b="1">
                <a:solidFill>
                  <a:srgbClr val="003C71"/>
                </a:solidFill>
                <a:latin typeface="微软雅黑"/>
              </a:rPr>
              <a:t>本节主要内容：</a:t>
            </a:r>
          </a:p>
          <a:p>
            <a:pPr/>
            <a:r>
              <a:rPr sz="1600" b="0">
                <a:solidFill>
                  <a:srgbClr val="333333"/>
                </a:solidFill>
                <a:latin typeface="微软雅黑"/>
              </a:rPr>
              <a:t>· 3.5.1 评估方法</a:t>
            </a:r>
          </a:p>
          <a:p>
            <a:pPr/>
            <a:r>
              <a:rPr sz="1600" b="0">
                <a:solidFill>
                  <a:srgbClr val="333333"/>
                </a:solidFill>
                <a:latin typeface="微软雅黑"/>
              </a:rPr>
              <a:t>· 3.5.2 复杂度与风险分析</a:t>
            </a:r>
          </a:p>
          <a:p>
            <a:pPr/>
            <a:r>
              <a:rPr sz="1600" b="0">
                <a:solidFill>
                  <a:srgbClr val="333333"/>
                </a:solidFill>
                <a:latin typeface="微软雅黑"/>
              </a:rPr>
              <a:t>· 基础</a:t>
            </a:r>
          </a:p>
          <a:p>
            <a:pPr/>
            <a:r>
              <a:rPr sz="1600" b="0">
                <a:solidFill>
                  <a:srgbClr val="333333"/>
                </a:solidFill>
                <a:latin typeface="微软雅黑"/>
              </a:rPr>
              <a:t>· 提高</a:t>
            </a:r>
          </a:p>
          <a:p>
            <a:pPr/>
            <a:r>
              <a:rPr sz="1600" b="0">
                <a:solidFill>
                  <a:srgbClr val="333333"/>
                </a:solidFill>
                <a:latin typeface="微软雅黑"/>
              </a:rPr>
              <a:t>· 讨论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3.5.1 评估方法</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软件架构评估是确保系统架构满足业务需求、具备良好性能与可维护性的关键环节，采用科学有效的评估方法能及时发现架构设计中的潜在问题并加以优化</a:t>
            </a:r>
          </a:p>
          <a:p>
            <a:pPr/>
            <a:r>
              <a:rPr sz="1500" b="0">
                <a:solidFill>
                  <a:srgbClr val="333333"/>
                </a:solidFill>
                <a:latin typeface="微软雅黑"/>
              </a:rPr>
              <a:t>· 常见的评估方法丰富多样，各自适用于不同场景 **ATAM（架构权衡分析方法）?* ATAM 是一种全面且系统的架构评估方法，着重于对架构设计在多个质量属性间的权衡分析</a:t>
            </a:r>
          </a:p>
          <a:p>
            <a:pPr/>
            <a:r>
              <a:rPr sz="1500" b="0">
                <a:solidFill>
                  <a:srgbClr val="333333"/>
                </a:solidFill>
                <a:latin typeface="微软雅黑"/>
              </a:rPr>
              <a:t>· 它的核心步骤包括：首先，识别系统的关键质量属性，例如SafeHome 系统中，安全性、可靠性、响应时间等属性至关重要</a:t>
            </a:r>
          </a:p>
          <a:p>
            <a:pPr/>
            <a:r>
              <a:rPr sz="1500" b="0">
                <a:solidFill>
                  <a:srgbClr val="333333"/>
                </a:solidFill>
                <a:latin typeface="微软雅黑"/>
              </a:rPr>
              <a:t>· 通过与利益相关者充分沟通，梳理出系统在不同使用场景下对这些质量属性的期望和优先级</a:t>
            </a:r>
          </a:p>
          <a:p>
            <a:pPr/>
            <a:r>
              <a:rPr sz="1500" b="0">
                <a:solidFill>
                  <a:srgbClr val="333333"/>
                </a:solidFill>
                <a:latin typeface="微软雅黑"/>
              </a:rPr>
              <a:t>· 其次，分析架构设计如何满足这些质量属性，架构师需详细阐述系统架构中各组件、模块及交互机制对每个质量属性的贡献</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3.5.2 复杂度与风险分析</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在软件架构评估与验证过程中，复杂度与风险分析是极为重要的环节，它能帮助项目团队提前洞察潜在问题，确保架构的稳健性与项目的顺利推进 **1.软件架构复杂度分* **?）结构复杂度** 软件架构的结构复杂度主要体现在系统的模块数量、层次结构以及</a:t>
            </a:r>
          </a:p>
          <a:p>
            <a:pPr/>
            <a:r>
              <a:rPr sz="1500" b="0">
                <a:solidFill>
                  <a:srgbClr val="333333"/>
                </a:solidFill>
                <a:latin typeface="微软雅黑"/>
              </a:rPr>
              <a:t>· 以 SafeHome 系统为例，若其架构包含众多相互关联的模块，如传感器管理模块、报警处理模块、用户界面模块、数据存储模块等，且这些模块之间存在复杂的调用和数据传递关系，结构复杂度就会显著增加</a:t>
            </a:r>
          </a:p>
          <a:p>
            <a:pPr/>
            <a:r>
              <a:rPr sz="1500" b="0">
                <a:solidFill>
                  <a:srgbClr val="333333"/>
                </a:solidFill>
                <a:latin typeface="微软雅黑"/>
              </a:rPr>
              <a:t>· 过多的模块层级也会提升理解和维护的难度，例如在一个多层级的分层架构中，数据在各层之间传递时，可能需要经过多次转换和验证，这不仅增加了开发工作量，还容易引入错误</a:t>
            </a:r>
          </a:p>
          <a:p>
            <a:pPr/>
            <a:r>
              <a:rPr sz="1500" b="0">
                <a:solidFill>
                  <a:srgbClr val="333333"/>
                </a:solidFill>
                <a:latin typeface="微软雅黑"/>
              </a:rPr>
              <a:t>· 可以通过计算模块耦合度和内聚度来量化结构复杂度，高耦合、低内聚的模块结构意味着更高的复杂度 **?）算法复杂度** 算法复杂度关乎系统处理任务时所采用算法的效率</a:t>
            </a:r>
          </a:p>
          <a:p>
            <a:pPr/>
            <a:r>
              <a:rPr sz="1500" b="0">
                <a:solidFill>
                  <a:srgbClr val="333333"/>
                </a:solidFill>
                <a:latin typeface="微软雅黑"/>
              </a:rPr>
              <a:t>· 在 SafeHome 系统的入侵检测功能中，若采用复杂的机器学习算法来分析传感器数据以判断是否存在入侵行为，虽然该算法可能具有较高的准确性，但计算资源消耗大，时间复杂度高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基础</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1. 请简述本节的核心概念，并说明其在智慧水利平台开发中的重要性2. 总结本节介绍的主要技术方法，并分析各方法的适用场景3. 结合智慧水利的实际需求，解释本节内容如何应用于实际项目中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提高</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4. 分析本节涉及的技术难点，并提出可能的解决方案5. 比较本节介绍的不同方法的优缺点，并给出选择建议6. 设计一个简单的案例，说明如何将本节理论应用于智慧水利系统设计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2800" b="1">
                <a:solidFill>
                  <a:srgbClr val="003C71"/>
                </a:solidFill>
                <a:latin typeface="微软雅黑"/>
              </a:rPr>
              <a:t>讨论</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114800"/>
          </a:xfrm>
          <a:prstGeom prst="rect">
            <a:avLst/>
          </a:prstGeom>
          <a:noFill/>
        </p:spPr>
        <p:txBody>
          <a:bodyPr wrap="square">
            <a:spAutoFit/>
          </a:bodyPr>
          <a:lstStyle/>
          <a:p>
            <a:r>
              <a:rPr sz="2000" b="1">
                <a:solidFill>
                  <a:srgbClr val="2E75B6"/>
                </a:solidFill>
                <a:latin typeface="微软雅黑"/>
              </a:rPr>
              <a:t>核心要点</a:t>
            </a:r>
          </a:p>
          <a:p>
            <a:pPr/>
            <a:r>
              <a:rPr sz="1500" b="0">
                <a:solidFill>
                  <a:srgbClr val="333333"/>
                </a:solidFill>
                <a:latin typeface="微软雅黑"/>
              </a:rPr>
              <a:t>· 7. 讨论本节内容与其他相关技术的集成方案，分析可能遇到的挑战8. 展望本节涉及技术的发展趋势，分析其对智慧水利未来发展的影响</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智慧水利应用案例</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2000" b="1">
                <a:solidFill>
                  <a:srgbClr val="333333"/>
                </a:solidFill>
                <a:latin typeface="微软雅黑"/>
              </a:rPr>
              <a:t>案例：将 架构评估与验证 应用到智慧水利平台</a:t>
            </a:r>
          </a:p>
          <a:p>
            <a:pPr/>
            <a:r>
              <a:rPr sz="1500" b="0">
                <a:solidFill>
                  <a:srgbClr val="333333"/>
                </a:solidFill>
                <a:latin typeface="微软雅黑"/>
              </a:rPr>
              <a:t>· 业务场景：水利监测数据采集、三维场景展示或工程安全评估等典型业务环节。</a:t>
            </a:r>
          </a:p>
          <a:p>
            <a:pPr/>
            <a:r>
              <a:rPr sz="1500" b="0">
                <a:solidFill>
                  <a:srgbClr val="333333"/>
                </a:solidFill>
                <a:latin typeface="微软雅黑"/>
              </a:rPr>
              <a:t>· 技术落点：本节 架构评估与验证 的理论与方法如何映射到平台某个模块。</a:t>
            </a:r>
          </a:p>
          <a:p>
            <a:pPr/>
            <a:r>
              <a:rPr sz="1500" b="0">
                <a:solidFill>
                  <a:srgbClr val="333333"/>
                </a:solidFill>
                <a:latin typeface="微软雅黑"/>
              </a:rPr>
              <a:t>· 实施步骤：按照 需求 → 设计 → 实现 → 验证 的工程化流程逐步推进。</a:t>
            </a:r>
          </a:p>
          <a:p>
            <a:pPr/>
            <a:r>
              <a:rPr sz="1500" b="0">
                <a:solidFill>
                  <a:srgbClr val="333333"/>
                </a:solidFill>
                <a:latin typeface="微软雅黑"/>
              </a:rPr>
              <a:t>· 成效指标：从效率 / 准确率 / 可靠性 三个维度衡量应用效果。</a:t>
            </a:r>
          </a:p>
          <a:p>
            <a:pPr/>
            <a:r>
              <a:rPr sz="1200" b="0">
                <a:solidFill>
                  <a:srgbClr val="595959"/>
                </a:solidFill>
                <a:latin typeface="微软雅黑"/>
              </a:rPr>
              <a:t>（请教师结合具体水利工程实践，补充本节对应的真实案例细节）</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思考题与练习</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800" b="1">
                <a:solidFill>
                  <a:srgbClr val="2E75B6"/>
                </a:solidFill>
                <a:latin typeface="微软雅黑"/>
              </a:rPr>
              <a:t>基础题</a:t>
            </a:r>
          </a:p>
          <a:p>
            <a:pPr/>
            <a:r>
              <a:rPr sz="1400" b="0">
                <a:solidFill>
                  <a:srgbClr val="333333"/>
                </a:solidFill>
                <a:latin typeface="微软雅黑"/>
              </a:rPr>
              <a:t>· 简述 架构评估与验证 的基本概念。</a:t>
            </a:r>
          </a:p>
          <a:p>
            <a:pPr/>
            <a:r>
              <a:rPr sz="1400" b="0">
                <a:solidFill>
                  <a:srgbClr val="333333"/>
                </a:solidFill>
                <a:latin typeface="微软雅黑"/>
              </a:rPr>
              <a:t>· 分析 架构评估与验证 在智慧水利系统中的作用。</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4864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
            <a:ext cx="12191695" cy="381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73152"/>
            <a:ext cx="11430000" cy="411480"/>
          </a:xfrm>
          <a:prstGeom prst="rect">
            <a:avLst/>
          </a:prstGeom>
          <a:noFill/>
        </p:spPr>
        <p:txBody>
          <a:bodyPr wrap="none" lIns="0" tIns="0">
            <a:spAutoFit/>
          </a:bodyPr>
          <a:lstStyle/>
          <a:p>
            <a:r>
              <a:rPr sz="1800" b="1">
                <a:solidFill>
                  <a:srgbClr val="FFFFFF"/>
                </a:solidFill>
                <a:latin typeface="微软雅黑"/>
              </a:rPr>
              <a:t>3.5  架构评估与验证</a:t>
            </a:r>
          </a:p>
        </p:txBody>
      </p:sp>
      <p:sp>
        <p:nvSpPr>
          <p:cNvPr id="5" name="TextBox 4"/>
          <p:cNvSpPr txBox="1"/>
          <p:nvPr/>
        </p:nvSpPr>
        <p:spPr>
          <a:xfrm>
            <a:off x="8686800" y="73152"/>
            <a:ext cx="3383280" cy="365760"/>
          </a:xfrm>
          <a:prstGeom prst="rect">
            <a:avLst/>
          </a:prstGeom>
          <a:noFill/>
        </p:spPr>
        <p:txBody>
          <a:bodyPr wrap="none">
            <a:spAutoFit/>
          </a:bodyPr>
          <a:lstStyle/>
          <a:p>
            <a:pPr algn="r"/>
            <a:r>
              <a:rPr sz="1100" b="0">
                <a:solidFill>
                  <a:srgbClr val="DDEBF7"/>
                </a:solidFill>
                <a:latin typeface="微软雅黑"/>
              </a:rPr>
              <a:t>智慧水利平台架构与开发</a:t>
            </a:r>
          </a:p>
        </p:txBody>
      </p:sp>
      <p:sp>
        <p:nvSpPr>
          <p:cNvPr id="6" name="TextBox 5"/>
          <p:cNvSpPr txBox="1"/>
          <p:nvPr/>
        </p:nvSpPr>
        <p:spPr>
          <a:xfrm>
            <a:off x="548640" y="914400"/>
            <a:ext cx="11155680" cy="640080"/>
          </a:xfrm>
          <a:prstGeom prst="rect">
            <a:avLst/>
          </a:prstGeom>
          <a:noFill/>
        </p:spPr>
        <p:txBody>
          <a:bodyPr wrap="none">
            <a:spAutoFit/>
          </a:bodyPr>
          <a:lstStyle/>
          <a:p>
            <a:r>
              <a:rPr sz="3200" b="1">
                <a:solidFill>
                  <a:srgbClr val="003C71"/>
                </a:solidFill>
                <a:latin typeface="微软雅黑"/>
              </a:rPr>
              <a:t>本节小结</a:t>
            </a:r>
          </a:p>
        </p:txBody>
      </p:sp>
      <p:sp>
        <p:nvSpPr>
          <p:cNvPr id="7" name="Rectangle 6"/>
          <p:cNvSpPr/>
          <p:nvPr/>
        </p:nvSpPr>
        <p:spPr>
          <a:xfrm>
            <a:off x="548640" y="1554480"/>
            <a:ext cx="137160" cy="5486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11155680" cy="4206240"/>
          </a:xfrm>
          <a:prstGeom prst="rect">
            <a:avLst/>
          </a:prstGeom>
          <a:noFill/>
        </p:spPr>
        <p:txBody>
          <a:bodyPr wrap="square">
            <a:spAutoFit/>
          </a:bodyPr>
          <a:lstStyle/>
          <a:p>
            <a:r>
              <a:rPr sz="1600" b="0">
                <a:solidFill>
                  <a:srgbClr val="333333"/>
                </a:solidFill>
                <a:latin typeface="微软雅黑"/>
              </a:rPr>
              <a:t>本节系统介绍了 架构评估与验证 的核心概念、关键技术与典型应用。学生应深入理解其原理，并能够结合智慧水利场景灵活运用，为后续章节学习与平台开发实践打下坚实基础。</a:t>
            </a:r>
          </a:p>
          <a:p>
            <a:pPr/>
            <a:r>
              <a:rPr sz="1000" b="0">
                <a:solidFill>
                  <a:srgbClr val="333333"/>
                </a:solidFill>
                <a:latin typeface="微软雅黑"/>
              </a:rPr>
              <a:t/>
            </a:r>
          </a:p>
          <a:p>
            <a:pPr/>
            <a:r>
              <a:rPr sz="1400" b="0">
                <a:solidFill>
                  <a:srgbClr val="595959"/>
                </a:solidFill>
                <a:latin typeface="微软雅黑"/>
              </a:rPr>
              <a:t>下一步：完成知识图谱上的任务点学习，并在题库中完成本节配套练习。</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