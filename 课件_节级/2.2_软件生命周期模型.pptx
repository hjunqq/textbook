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二 章   软件工程基础与需求分析</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2.2</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软件生命周期模型</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软件生命周期模型的概 的核心概念与方法</a:t>
            </a:r>
          </a:p>
          <a:p>
            <a:pPr/>
            <a:r>
              <a:rPr sz="1800" b="0">
                <a:solidFill>
                  <a:srgbClr val="333333"/>
                </a:solidFill>
                <a:latin typeface="微软雅黑"/>
              </a:rPr>
              <a:t>· 掌握 瀑布模型 的核心概念与方法</a:t>
            </a:r>
          </a:p>
          <a:p>
            <a:pPr/>
            <a:r>
              <a:rPr sz="1800" b="0">
                <a:solidFill>
                  <a:srgbClr val="333333"/>
                </a:solidFill>
                <a:latin typeface="微软雅黑"/>
              </a:rPr>
              <a:t>· 掌握 原型模型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2.2.1 软件生命周期模型的概</a:t>
            </a:r>
          </a:p>
          <a:p>
            <a:pPr/>
            <a:r>
              <a:rPr sz="1600" b="0">
                <a:solidFill>
                  <a:srgbClr val="333333"/>
                </a:solidFill>
                <a:latin typeface="微软雅黑"/>
              </a:rPr>
              <a:t>· 2.2.2 瀑布模型</a:t>
            </a:r>
          </a:p>
          <a:p>
            <a:pPr/>
            <a:r>
              <a:rPr sz="1600" b="0">
                <a:solidFill>
                  <a:srgbClr val="333333"/>
                </a:solidFill>
                <a:latin typeface="微软雅黑"/>
              </a:rPr>
              <a:t>· 2.2.3 原型模型</a:t>
            </a:r>
          </a:p>
          <a:p>
            <a:pPr/>
            <a:r>
              <a:rPr sz="1600" b="0">
                <a:solidFill>
                  <a:srgbClr val="333333"/>
                </a:solidFill>
                <a:latin typeface="微软雅黑"/>
              </a:rPr>
              <a:t>· 2.2.4 增量模型</a:t>
            </a:r>
          </a:p>
          <a:p>
            <a:pPr/>
            <a:r>
              <a:rPr sz="1600" b="0">
                <a:solidFill>
                  <a:srgbClr val="333333"/>
                </a:solidFill>
                <a:latin typeface="微软雅黑"/>
              </a:rPr>
              <a:t>· 2.2.5 螺旋模型</a:t>
            </a:r>
          </a:p>
          <a:p>
            <a:pPr/>
            <a:r>
              <a:rPr sz="1600" b="0">
                <a:solidFill>
                  <a:srgbClr val="333333"/>
                </a:solidFill>
                <a:latin typeface="微软雅黑"/>
              </a:rPr>
              <a:t>· 2.2.6 喷泉模型</a:t>
            </a:r>
          </a:p>
          <a:p>
            <a:pPr/>
            <a:r>
              <a:rPr sz="1600" b="0">
                <a:solidFill>
                  <a:srgbClr val="333333"/>
                </a:solidFill>
                <a:latin typeface="微软雅黑"/>
              </a:rPr>
              <a:t>· 2.2.7 基于知识的模</a:t>
            </a:r>
          </a:p>
          <a:p>
            <a:pPr/>
            <a:r>
              <a:rPr sz="1600" b="0">
                <a:solidFill>
                  <a:srgbClr val="333333"/>
                </a:solidFill>
                <a:latin typeface="微软雅黑"/>
              </a:rPr>
              <a:t>· 2.2.8 变换模型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2.2.1 软件生命周期模型的概</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软件生命周期模型是软件开发过程中的一种抽象框架，用于描述和指导软件从概念到退役的各个阶段及其相互关系</a:t>
            </a:r>
          </a:p>
          <a:p>
            <a:pPr/>
            <a:r>
              <a:rPr sz="1500" b="0">
                <a:solidFill>
                  <a:srgbClr val="333333"/>
                </a:solidFill>
                <a:latin typeface="微软雅黑"/>
              </a:rPr>
              <a:t>· 这些模型通过简化和结构化复杂的开发过程，帮助团队更有效地规划、执行和管理项目</a:t>
            </a:r>
          </a:p>
          <a:p>
            <a:pPr/>
            <a:r>
              <a:rPr sz="1500" b="0">
                <a:solidFill>
                  <a:srgbClr val="333333"/>
                </a:solidFill>
                <a:latin typeface="微软雅黑"/>
              </a:rPr>
              <a:t>· 每个模型都提供了一种特定的视角和方法，以适应不同类型和规模的项目需求 软件生命周期模型的核心价值在于其能够为开发团队提供清晰的路线图，确保每个阶段的任务和目标明确</a:t>
            </a:r>
          </a:p>
          <a:p>
            <a:pPr/>
            <a:r>
              <a:rPr sz="1500" b="0">
                <a:solidFill>
                  <a:srgbClr val="333333"/>
                </a:solidFill>
                <a:latin typeface="微软雅黑"/>
              </a:rPr>
              <a:t>· 它们不仅定义了开发活动的顺序，还规定了各阶段之间的过渡条件和质量标准</a:t>
            </a:r>
          </a:p>
          <a:p>
            <a:pPr/>
            <a:r>
              <a:rPr sz="1500" b="0">
                <a:solidFill>
                  <a:srgbClr val="333333"/>
                </a:solidFill>
                <a:latin typeface="微软雅黑"/>
              </a:rPr>
              <a:t>· 通过这种方式，模型帮助团队在开发过程中保持一致性和协调性，减少误解和错误 不同的生命周期模型适用于不同的项目环境和需求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2.2.2 瀑布模型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瀑布模型是软件开发领域中最经典的生命周期模型之一，其核心理念是将开发过程划分为一系列线性且不可逆的阶段</a:t>
            </a:r>
          </a:p>
          <a:p>
            <a:pPr/>
            <a:r>
              <a:rPr sz="1500" b="0">
                <a:solidFill>
                  <a:srgbClr val="333333"/>
                </a:solidFill>
                <a:latin typeface="微软雅黑"/>
              </a:rPr>
              <a:t>· 这种模型因其清晰的阶段划分和严格的流程控制，常被比作“瀑布”——水流从高处逐级落下，无法回头</a:t>
            </a:r>
          </a:p>
          <a:p>
            <a:pPr/>
            <a:r>
              <a:rPr sz="1500" b="0">
                <a:solidFill>
                  <a:srgbClr val="333333"/>
                </a:solidFill>
                <a:latin typeface="微软雅黑"/>
              </a:rPr>
              <a:t>· 尽管瀑布模型在现代敏捷开发的浪潮中显得略显僵化，但它仍然是理解软件开发过程的基础框架 **1.模型** 瀑布模型如图2-1所示，该模型说明整个软件开发过程是按图个阶段进行的 ![?2.1](../images/chapter02/image</a:t>
            </a:r>
          </a:p>
          <a:p>
            <a:pPr/>
            <a:r>
              <a:rPr sz="1500" b="0">
                <a:solidFill>
                  <a:srgbClr val="333333"/>
                </a:solidFill>
                <a:latin typeface="微软雅黑"/>
              </a:rPr>
              <a:t>· 整个开发过程按照需求分析、系统设计、实现、测试、部署和维护等固定阶段逐步推进，每个阶段的输出都成为下一阶段的输入</a:t>
            </a:r>
          </a:p>
          <a:p>
            <a:pPr/>
            <a:r>
              <a:rPr sz="1500" b="0">
                <a:solidFill>
                  <a:srgbClr val="333333"/>
                </a:solidFill>
                <a:latin typeface="微软雅黑"/>
              </a:rPr>
              <a:t>· 该模型强调每个阶段的工作必须在完成后才进入下一个阶段，要求开发团队在开始设计之前已完全理解和确定需求，设计和编码阶段也必须在需求完全清晰后才进行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2.2.3 原型模型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原型模型是一种以快速构建和迭代为核心的软件开发方法，特别适用于需求不明确或需要频繁用户反馈的项目</a:t>
            </a:r>
          </a:p>
          <a:p>
            <a:pPr/>
            <a:r>
              <a:rPr sz="1500" b="0">
                <a:solidFill>
                  <a:srgbClr val="333333"/>
                </a:solidFill>
                <a:latin typeface="微软雅黑"/>
              </a:rPr>
              <a:t>· 与瀑布模型的线性流程不同，原型模型通过快速构建原型来验证需求和设计，逐步完善系统</a:t>
            </a:r>
          </a:p>
          <a:p>
            <a:pPr/>
            <a:r>
              <a:rPr sz="1500" b="0">
                <a:solidFill>
                  <a:srgbClr val="333333"/>
                </a:solidFill>
                <a:latin typeface="微软雅黑"/>
              </a:rPr>
              <a:t>· 这种方法允许开发团队和用户在早期阶段进行互动，确保最终产品更符合用户期望 原型模型的核心思想是通过快速构建一个可运行的原型，尽早展示系统的部分功能，以便用户提供反馈</a:t>
            </a:r>
          </a:p>
          <a:p>
            <a:pPr/>
            <a:r>
              <a:rPr sz="1500" b="0">
                <a:solidFill>
                  <a:srgbClr val="333333"/>
                </a:solidFill>
                <a:latin typeface="微软雅黑"/>
              </a:rPr>
              <a:t>· 开发团队根据反馈不断改进原型，直到满足用户需求</a:t>
            </a:r>
          </a:p>
          <a:p>
            <a:pPr/>
            <a:r>
              <a:rPr sz="1500" b="0">
                <a:solidFill>
                  <a:srgbClr val="333333"/>
                </a:solidFill>
                <a:latin typeface="微软雅黑"/>
              </a:rPr>
              <a:t>· 这种方法强调灵活性和适应性，能够有效应对需求变化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2.2.4 增量模型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**1.基本概念与理* 增量模型将软件项目视为一系列可逐步交付的增量构件集合</a:t>
            </a:r>
          </a:p>
          <a:p>
            <a:pPr/>
            <a:r>
              <a:rPr sz="1500" b="0">
                <a:solidFill>
                  <a:srgbClr val="333333"/>
                </a:solidFill>
                <a:latin typeface="微软雅黑"/>
              </a:rPr>
              <a:t>· 区别于传统瀑布模型追求一次性完整开发，它倡导分阶段、逐步地构建和交付软件</a:t>
            </a:r>
          </a:p>
          <a:p>
            <a:pPr/>
            <a:r>
              <a:rPr sz="1500" b="0">
                <a:solidFill>
                  <a:srgbClr val="333333"/>
                </a:solidFill>
                <a:latin typeface="微软雅黑"/>
              </a:rPr>
              <a:t>· 在每个阶段，开发团队聚焦于完成软件的一个或多个增量部分，这些部分相互关联却又相对独立，最终组合成完整的软件系统</a:t>
            </a:r>
          </a:p>
          <a:p>
            <a:pPr/>
            <a:r>
              <a:rPr sz="1500" b="0">
                <a:solidFill>
                  <a:srgbClr val="333333"/>
                </a:solidFill>
                <a:latin typeface="微软雅黑"/>
              </a:rPr>
              <a:t>· 这种方式类似于搭建积木，每一块积木都是整体不可或缺的部分，且可在不同时间单独打造</a:t>
            </a:r>
          </a:p>
          <a:p>
            <a:pPr/>
            <a:r>
              <a:rPr sz="1500" b="0">
                <a:solidFill>
                  <a:srgbClr val="333333"/>
                </a:solidFill>
                <a:latin typeface="微软雅黑"/>
              </a:rPr>
              <a:t>· 增量构造模型如-3所示，演化提交模型如图2-4所示 ![?2.3](../images/chapter02/image3.png) ?-3 增量构造模 ![?2.4](../images/chapter02/image4.png) ?-4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2.2.5 螺旋模型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在软件开发的多元版图中，螺旋模型以其独特的运作模式，成为驾驭复杂项目的有力武器</a:t>
            </a:r>
          </a:p>
          <a:p>
            <a:pPr/>
            <a:r>
              <a:rPr sz="1500" b="0">
                <a:solidFill>
                  <a:srgbClr val="333333"/>
                </a:solidFill>
                <a:latin typeface="微软雅黑"/>
              </a:rPr>
              <a:t>· 它打破常规，将软件开发视为一场在风险与机遇间寻求平衡的旅程</a:t>
            </a:r>
          </a:p>
          <a:p>
            <a:pPr/>
            <a:r>
              <a:rPr sz="1500" b="0">
                <a:solidFill>
                  <a:srgbClr val="333333"/>
                </a:solidFill>
                <a:latin typeface="微软雅黑"/>
              </a:rPr>
              <a:t>· 螺旋模型如-5所示 ![?2.5](../images/chapter02/image5.png) ?-5 螺旋模型 **1.核心理念与架* 螺旋模型将软件开发过程拆解为一系列紧密相连的迭代循环</a:t>
            </a:r>
          </a:p>
          <a:p>
            <a:pPr/>
            <a:r>
              <a:rPr sz="1500" b="0">
                <a:solidFill>
                  <a:srgbClr val="333333"/>
                </a:solidFill>
                <a:latin typeface="微软雅黑"/>
              </a:rPr>
              <a:t>· 每个循环都如同一个微型项目，依次历经计划、风险分析、工程实施和评估四个关键阶段</a:t>
            </a:r>
          </a:p>
          <a:p>
            <a:pPr/>
            <a:r>
              <a:rPr sz="1500" b="0">
                <a:solidFill>
                  <a:srgbClr val="333333"/>
                </a:solidFill>
                <a:latin typeface="微软雅黑"/>
              </a:rPr>
              <a:t>· 这种循环往复并非简单重复，而是每一圈都推动软件向更完善的方向进化，恰似螺旋上升的轨迹 **2.关键特征与优* 精准风险管理：它将风险管理置于开发流程的核心</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2.2.6 喷泉模型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喷泉模型（Fountain Model）是一种典型的面向对象的软件开发模型，?B.H.Sollers ?J.M.Edwards ?1990 年提出</a:t>
            </a:r>
          </a:p>
          <a:p>
            <a:pPr/>
            <a:r>
              <a:rPr sz="1500" b="0">
                <a:solidFill>
                  <a:srgbClr val="333333"/>
                </a:solidFill>
                <a:latin typeface="微软雅黑"/>
              </a:rPr>
              <a:t>· 它强调软件开发过程的迭代和无间隙特性，如同喷泉中的水一样，各个开发阶段相互交融、连续推进</a:t>
            </a:r>
          </a:p>
          <a:p>
            <a:pPr/>
            <a:r>
              <a:rPr sz="1500" b="0">
                <a:solidFill>
                  <a:srgbClr val="333333"/>
                </a:solidFill>
                <a:latin typeface="微软雅黑"/>
              </a:rPr>
              <a:t>· 喷泉模型如-6所示 ![?2.6](../images/chapter02/image6.png) ?-6 喷泉模型 **1.模型原理与结* 迭代特性：喷泉模型打破了传统软件开发模型（如瀑布模型）中阶段的严格顺序，允许开发过程在各个阶段之间</a:t>
            </a:r>
          </a:p>
          <a:p>
            <a:pPr/>
            <a:r>
              <a:rPr sz="1500" b="0">
                <a:solidFill>
                  <a:srgbClr val="333333"/>
                </a:solidFill>
                <a:latin typeface="微软雅黑"/>
              </a:rPr>
              <a:t>· 在整个开发过程中，需求分析、设计、编码、测试等活动并非依次完成，而是可以反复进行</a:t>
            </a:r>
          </a:p>
          <a:p>
            <a:pPr/>
            <a:r>
              <a:rPr sz="1500" b="0">
                <a:solidFill>
                  <a:srgbClr val="333333"/>
                </a:solidFill>
                <a:latin typeface="微软雅黑"/>
              </a:rPr>
              <a:t>· 例如，在编码过程中发现设计存在问题，就可以立即返回设计阶段进行修改，修改完成后再继续编码 无间隙特性：该模型认为软件开发过程中的各个阶段之间不存在明显的界限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软件生命周期模型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软件生命周期模型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软件生命周期模型 的基本概念。</a:t>
            </a:r>
          </a:p>
          <a:p>
            <a:pPr/>
            <a:r>
              <a:rPr sz="1400" b="0">
                <a:solidFill>
                  <a:srgbClr val="333333"/>
                </a:solidFill>
                <a:latin typeface="微软雅黑"/>
              </a:rPr>
              <a:t>· 分析 软件生命周期模型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2.2  软件生命周期模型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软件生命周期模型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