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三 章   软件架构设计</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3.4</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架构设计过程</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系统环境表示 的核心概念与方法</a:t>
            </a:r>
          </a:p>
          <a:p>
            <a:pPr/>
            <a:r>
              <a:rPr sz="1800" b="0">
                <a:solidFill>
                  <a:srgbClr val="333333"/>
                </a:solidFill>
                <a:latin typeface="微软雅黑"/>
              </a:rPr>
              <a:t>· 掌握 原型定义与细 的核心概念与方法</a:t>
            </a:r>
          </a:p>
          <a:p>
            <a:pPr/>
            <a:r>
              <a:rPr sz="1800" b="0">
                <a:solidFill>
                  <a:srgbClr val="333333"/>
                </a:solidFill>
                <a:latin typeface="微软雅黑"/>
              </a:rPr>
              <a:t>· 掌握 构件级设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3.4.1 系统环境表示</a:t>
            </a:r>
          </a:p>
          <a:p>
            <a:pPr/>
            <a:r>
              <a:rPr sz="1600" b="0">
                <a:solidFill>
                  <a:srgbClr val="333333"/>
                </a:solidFill>
                <a:latin typeface="微软雅黑"/>
              </a:rPr>
              <a:t>· 3.4.2 原型定义与细</a:t>
            </a:r>
          </a:p>
          <a:p>
            <a:pPr/>
            <a:r>
              <a:rPr sz="1600" b="0">
                <a:solidFill>
                  <a:srgbClr val="333333"/>
                </a:solidFill>
                <a:latin typeface="微软雅黑"/>
              </a:rPr>
              <a:t>· 3.4.3 构件级设</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3.4.1 系统环境表示</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在软件架构设计的复杂旅程中，系统环境表示是关键的起点</a:t>
            </a:r>
          </a:p>
          <a:p>
            <a:pPr/>
            <a:r>
              <a:rPr sz="1500" b="0">
                <a:solidFill>
                  <a:srgbClr val="333333"/>
                </a:solidFill>
                <a:latin typeface="微软雅黑"/>
              </a:rPr>
              <a:t>· 它要求架构师全面、细致地识别软件系统与外部世界交互的接口以及面临的各种约束，这不仅为架构设计奠定坚实基础，还对软件系统在实际应用中的稳定性、可靠性和适应性起着决定性作用 #### 1 外部接口的识别与分类 外部接口作为软件系统与外部实体交互</a:t>
            </a:r>
          </a:p>
          <a:p>
            <a:pPr/>
            <a:r>
              <a:rPr sz="1500" b="0">
                <a:solidFill>
                  <a:srgbClr val="333333"/>
                </a:solidFill>
                <a:latin typeface="微软雅黑"/>
              </a:rPr>
              <a:t>· 不同类型的外部接口在系统中承担着独特的功能，对其精准把握有助于构建高效、稳定的软件架构 **1.用户接口*用户接口是软件系统与用户直接交互的界面，直接关乎用户体验</a:t>
            </a:r>
          </a:p>
          <a:p>
            <a:pPr/>
            <a:r>
              <a:rPr sz="1500" b="0">
                <a:solidFill>
                  <a:srgbClr val="333333"/>
                </a:solidFill>
                <a:latin typeface="微软雅黑"/>
              </a:rPr>
              <a:t>· 以 SafeHome 系统为例，用户可能通过手机应用程序、智能控制面板等多种方式与系统互动</a:t>
            </a:r>
          </a:p>
          <a:p>
            <a:pPr/>
            <a:r>
              <a:rPr sz="1500" b="0">
                <a:solidFill>
                  <a:srgbClr val="333333"/>
                </a:solidFill>
                <a:latin typeface="微软雅黑"/>
              </a:rPr>
              <a:t>· 手机应用程序为用户提供了便捷的远程操作体验，无论身处何地，用户都能轻松查看家中安全状态、控制各类设备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3.4.2 原型定义与细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在软件架构设计过程中，原型定义与细化是验证架构可行性、降低项目风险的重要环节</a:t>
            </a:r>
          </a:p>
          <a:p>
            <a:pPr/>
            <a:r>
              <a:rPr sz="1500" b="0">
                <a:solidFill>
                  <a:srgbClr val="333333"/>
                </a:solidFill>
                <a:latin typeface="微软雅黑"/>
              </a:rPr>
              <a:t>· 快速原型能够让架构师和项目团队在早期阶段对架构设计进行实际检验，及时发现潜在问题并加以调整，确保最终的软件系统能够满足业务需求 1 原型的定义与作用 原型是软件系统的初步版本，它具有真实系统的部分功能和特性，但通常在完整性和性能上不如最终产</a:t>
            </a:r>
          </a:p>
          <a:p>
            <a:pPr/>
            <a:r>
              <a:rPr sz="1500" b="0">
                <a:solidFill>
                  <a:srgbClr val="333333"/>
                </a:solidFill>
                <a:latin typeface="微软雅黑"/>
              </a:rPr>
              <a:t>· 对SafeHome 系统而言，原型可以是一个简化的版本，具备基本的传感器数据采集、简单的报警功能以及基本的用户交互界面</a:t>
            </a:r>
          </a:p>
          <a:p>
            <a:pPr/>
            <a:r>
              <a:rPr sz="1500" b="0">
                <a:solidFill>
                  <a:srgbClr val="333333"/>
                </a:solidFill>
                <a:latin typeface="微软雅黑"/>
              </a:rPr>
              <a:t>· 其主要作用在于 **直观呈现设计理念*通过原型，项目团队能够将抽象的架构设计转化为具体可操作的实体，让利益相关者（如客户、开发团队成员、管理层等）直观地感受到系统的功能和使用方式</a:t>
            </a:r>
          </a:p>
          <a:p>
            <a:pPr/>
            <a:r>
              <a:rPr sz="1500" b="0">
                <a:solidFill>
                  <a:srgbClr val="333333"/>
                </a:solidFill>
                <a:latin typeface="微软雅黑"/>
              </a:rPr>
              <a:t>· 这有助于各方更好地理解架构设计，发现潜在的需求不一致或设计缺陷</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3.4.3 构件级设</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在软件架构设计中，构件级设计是将系统架构细化为具体可实现单元的关键阶段</a:t>
            </a:r>
          </a:p>
          <a:p>
            <a:pPr/>
            <a:r>
              <a:rPr sz="1500" b="0">
                <a:solidFill>
                  <a:srgbClr val="333333"/>
                </a:solidFill>
                <a:latin typeface="微软雅黑"/>
              </a:rPr>
              <a:t>· 它主要涵盖接口设计、类设计以及构件间的协作设计，这些方面对于构建高效、可维护且可扩展的软件系统至关重要 1 接口设计 接口是构件与外部交互的边界，它定义了构件提供的服务以及与其他构件进行通信的方式</a:t>
            </a:r>
          </a:p>
          <a:p>
            <a:pPr/>
            <a:r>
              <a:rPr sz="1500" b="0">
                <a:solidFill>
                  <a:srgbClr val="333333"/>
                </a:solidFill>
                <a:latin typeface="微软雅黑"/>
              </a:rPr>
              <a:t>· 良好的接口设计能够提高构件的独立性和可复用性，降低系统的耦合度 **接口设计原则*接口设计应遵循一些关键原则</a:t>
            </a:r>
          </a:p>
          <a:p>
            <a:pPr/>
            <a:r>
              <a:rPr sz="1500" b="0">
                <a:solidFill>
                  <a:srgbClr val="333333"/>
                </a:solidFill>
                <a:latin typeface="微软雅黑"/>
              </a:rPr>
              <a:t>· 首先是一致性原则，同一系统内相似功能的接口在设计上应保持一致，包括接口的命名规范、参数类型和顺序等</a:t>
            </a:r>
          </a:p>
          <a:p>
            <a:pPr/>
            <a:r>
              <a:rPr sz="1500" b="0">
                <a:solidFill>
                  <a:srgbClr val="333333"/>
                </a:solidFill>
                <a:latin typeface="微软雅黑"/>
              </a:rPr>
              <a:t>· 例如，?SafeHome 系统中，各类传感器的接口在数据获取方法的命名上应统一，如getSensorData()，方便开发者理解和使用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架构设计过程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架构设计过程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架构设计过程 的基本概念。</a:t>
            </a:r>
          </a:p>
          <a:p>
            <a:pPr/>
            <a:r>
              <a:rPr sz="1400" b="0">
                <a:solidFill>
                  <a:srgbClr val="333333"/>
                </a:solidFill>
                <a:latin typeface="微软雅黑"/>
              </a:rPr>
              <a:t>· 分析 架构设计过程 在智慧水利系统中的作用。</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3.4  架构设计过程</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架构设计过程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