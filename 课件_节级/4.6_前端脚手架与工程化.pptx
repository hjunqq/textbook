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0"/>
            <a:ext cx="12191695"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48640"/>
            <a:ext cx="10698480" cy="457200"/>
          </a:xfrm>
          <a:prstGeom prst="rect">
            <a:avLst/>
          </a:prstGeom>
          <a:noFill/>
        </p:spPr>
        <p:txBody>
          <a:bodyPr wrap="none">
            <a:spAutoFit/>
          </a:bodyPr>
          <a:lstStyle/>
          <a:p>
            <a:r>
              <a:rPr sz="1800" b="0">
                <a:solidFill>
                  <a:srgbClr val="DDEBF7"/>
                </a:solidFill>
                <a:latin typeface="微软雅黑"/>
              </a:rPr>
              <a:t>智慧水利平台架构与开发</a:t>
            </a:r>
          </a:p>
        </p:txBody>
      </p:sp>
      <p:sp>
        <p:nvSpPr>
          <p:cNvPr id="5" name="TextBox 4"/>
          <p:cNvSpPr txBox="1"/>
          <p:nvPr/>
        </p:nvSpPr>
        <p:spPr>
          <a:xfrm>
            <a:off x="731520" y="2377440"/>
            <a:ext cx="10698480" cy="548640"/>
          </a:xfrm>
          <a:prstGeom prst="rect">
            <a:avLst/>
          </a:prstGeom>
          <a:noFill/>
        </p:spPr>
        <p:txBody>
          <a:bodyPr wrap="none">
            <a:spAutoFit/>
          </a:bodyPr>
          <a:lstStyle/>
          <a:p>
            <a:r>
              <a:rPr sz="2200" b="0">
                <a:solidFill>
                  <a:srgbClr val="DDEBF7"/>
                </a:solidFill>
                <a:latin typeface="微软雅黑"/>
              </a:rPr>
              <a:t>第 四 章   前端开发技术</a:t>
            </a:r>
          </a:p>
        </p:txBody>
      </p:sp>
      <p:sp>
        <p:nvSpPr>
          <p:cNvPr id="6" name="TextBox 5"/>
          <p:cNvSpPr txBox="1"/>
          <p:nvPr/>
        </p:nvSpPr>
        <p:spPr>
          <a:xfrm>
            <a:off x="731520" y="2926080"/>
            <a:ext cx="10698480" cy="1097280"/>
          </a:xfrm>
          <a:prstGeom prst="rect">
            <a:avLst/>
          </a:prstGeom>
          <a:noFill/>
        </p:spPr>
        <p:txBody>
          <a:bodyPr wrap="none">
            <a:spAutoFit/>
          </a:bodyPr>
          <a:lstStyle/>
          <a:p>
            <a:r>
              <a:rPr sz="7200" b="1">
                <a:solidFill>
                  <a:srgbClr val="FFFFFF"/>
                </a:solidFill>
                <a:latin typeface="微软雅黑"/>
              </a:rPr>
              <a:t>4.6</a:t>
            </a:r>
          </a:p>
        </p:txBody>
      </p:sp>
      <p:sp>
        <p:nvSpPr>
          <p:cNvPr id="7" name="TextBox 6"/>
          <p:cNvSpPr txBox="1"/>
          <p:nvPr/>
        </p:nvSpPr>
        <p:spPr>
          <a:xfrm>
            <a:off x="731520" y="4297680"/>
            <a:ext cx="10698480" cy="914400"/>
          </a:xfrm>
          <a:prstGeom prst="rect">
            <a:avLst/>
          </a:prstGeom>
          <a:noFill/>
        </p:spPr>
        <p:txBody>
          <a:bodyPr wrap="none">
            <a:spAutoFit/>
          </a:bodyPr>
          <a:lstStyle/>
          <a:p>
            <a:r>
              <a:rPr sz="4400" b="1">
                <a:solidFill>
                  <a:srgbClr val="FFFFFF"/>
                </a:solidFill>
                <a:latin typeface="微软雅黑"/>
              </a:rPr>
              <a:t>前端脚手架与工程化</a:t>
            </a:r>
          </a:p>
        </p:txBody>
      </p:sp>
      <p:sp>
        <p:nvSpPr>
          <p:cNvPr id="8" name="TextBox 7"/>
          <p:cNvSpPr txBox="1"/>
          <p:nvPr/>
        </p:nvSpPr>
        <p:spPr>
          <a:xfrm>
            <a:off x="731520" y="6035040"/>
            <a:ext cx="10698480" cy="365760"/>
          </a:xfrm>
          <a:prstGeom prst="rect">
            <a:avLst/>
          </a:prstGeom>
          <a:noFill/>
        </p:spPr>
        <p:txBody>
          <a:bodyPr wrap="none">
            <a:spAutoFit/>
          </a:bodyPr>
          <a:lstStyle/>
          <a:p>
            <a:r>
              <a:rPr sz="1400" b="0">
                <a:solidFill>
                  <a:srgbClr val="DDEBF7"/>
                </a:solidFill>
                <a:latin typeface="微软雅黑"/>
              </a:rPr>
              <a:t>河海大学 · 水利水电学院</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4.6  前端脚手架与工程化</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学习目标</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333333"/>
                </a:solidFill>
                <a:latin typeface="微软雅黑"/>
              </a:rPr>
              <a:t>通过本节学习，学生应能够：</a:t>
            </a:r>
          </a:p>
          <a:p>
            <a:pPr/>
            <a:r>
              <a:rPr sz="1800" b="0">
                <a:solidFill>
                  <a:srgbClr val="333333"/>
                </a:solidFill>
                <a:latin typeface="微软雅黑"/>
              </a:rPr>
              <a:t>· 掌握 什么是前端工程 的核心概念与方法</a:t>
            </a:r>
          </a:p>
          <a:p>
            <a:pPr/>
            <a:r>
              <a:rPr sz="1800" b="0">
                <a:solidFill>
                  <a:srgbClr val="333333"/>
                </a:solidFill>
                <a:latin typeface="微软雅黑"/>
              </a:rPr>
              <a:t>· 掌握 前端工程化的核心要素 的核心概念与方法</a:t>
            </a:r>
          </a:p>
          <a:p>
            <a:pPr/>
            <a:r>
              <a:rPr sz="1800" b="0">
                <a:solidFill>
                  <a:srgbClr val="333333"/>
                </a:solidFill>
                <a:latin typeface="微软雅黑"/>
              </a:rPr>
              <a:t>· 掌握 前端工程化的价 的核心概念与方法</a:t>
            </a:r>
          </a:p>
          <a:p>
            <a:pPr/>
            <a:r>
              <a:rPr sz="1800" b="0">
                <a:solidFill>
                  <a:srgbClr val="333333"/>
                </a:solidFill>
                <a:latin typeface="微软雅黑"/>
              </a:rPr>
              <a:t>· 能够结合智慧水利平台需求，应用本节内容进行分析与设计</a:t>
            </a:r>
          </a:p>
        </p:txBody>
      </p:sp>
      <p:sp>
        <p:nvSpPr>
          <p:cNvPr id="9" name="TextBox 8"/>
          <p:cNvSpPr txBox="1"/>
          <p:nvPr/>
        </p:nvSpPr>
        <p:spPr>
          <a:xfrm>
            <a:off x="274320" y="6446520"/>
            <a:ext cx="11612880" cy="274320"/>
          </a:xfrm>
          <a:prstGeom prst="rect">
            <a:avLst/>
          </a:prstGeom>
          <a:noFill/>
        </p:spPr>
        <p:txBody>
          <a:bodyPr wrap="none" lIns="0" tIns="0">
            <a:spAutoFit/>
          </a:bodyPr>
          <a:lstStyle/>
          <a:p>
            <a:pPr algn="r"/>
            <a:r>
              <a:rPr sz="1000" b="0">
                <a:solidFill>
                  <a:srgbClr val="595959"/>
                </a:solidFill>
                <a:latin typeface="微软雅黑"/>
              </a:rPr>
              <a:t>河海大学 · 水利水电学院    第 2 / 0 页</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4.6  前端脚手架与工程化</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本节知识图谱</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1463040"/>
          </a:xfrm>
          <a:prstGeom prst="rect">
            <a:avLst/>
          </a:prstGeom>
          <a:noFill/>
        </p:spPr>
        <p:txBody>
          <a:bodyPr wrap="square">
            <a:spAutoFit/>
          </a:bodyPr>
          <a:lstStyle/>
          <a:p>
            <a:r>
              <a:rPr sz="1400" b="0">
                <a:solidFill>
                  <a:srgbClr val="595959"/>
                </a:solidFill>
                <a:latin typeface="微软雅黑"/>
              </a:rPr>
              <a:t>&lt;!-- 教材内容修改指导原则024年更新）? 1. 内容详实化原则： - 每个技术标概念都要有详细的功能解释和使用场景说 - 不能只有简短描述，必须包含：定义、特点、优势、适用场景 - 解释要在代码示例之前，先理论后实 2. 语言表达多样化原则： - 避免重复使用"智慧水利平台"等固定短 - 使用多样化表达：水利监测平台、监测系统、水利系统、数据监测系统等 - 保持专业性的同时提升可读 3. 代码示例实用化原则： - 代码要短小精悍，每个概念单独展示 - 包含必要的属性和配置参数 - 添加适当的注释说 - 提供完整但不冗长的示 4. 教学结构规范化原则</a:t>
            </a:r>
          </a:p>
        </p:txBody>
      </p:sp>
      <p:sp>
        <p:nvSpPr>
          <p:cNvPr id="9" name="TextBox 8"/>
          <p:cNvSpPr txBox="1"/>
          <p:nvPr/>
        </p:nvSpPr>
        <p:spPr>
          <a:xfrm>
            <a:off x="548640" y="3657600"/>
            <a:ext cx="11155680" cy="2560320"/>
          </a:xfrm>
          <a:prstGeom prst="rect">
            <a:avLst/>
          </a:prstGeom>
          <a:noFill/>
        </p:spPr>
        <p:txBody>
          <a:bodyPr wrap="square">
            <a:spAutoFit/>
          </a:bodyPr>
          <a:lstStyle/>
          <a:p>
            <a:r>
              <a:rPr sz="1800" b="1">
                <a:solidFill>
                  <a:srgbClr val="003C71"/>
                </a:solidFill>
                <a:latin typeface="微软雅黑"/>
              </a:rPr>
              <a:t>本节主要内容：</a:t>
            </a:r>
          </a:p>
          <a:p>
            <a:pPr/>
            <a:r>
              <a:rPr sz="1600" b="0">
                <a:solidFill>
                  <a:srgbClr val="333333"/>
                </a:solidFill>
                <a:latin typeface="微软雅黑"/>
              </a:rPr>
              <a:t>· 什么是前端工程</a:t>
            </a:r>
          </a:p>
          <a:p>
            <a:pPr/>
            <a:r>
              <a:rPr sz="1600" b="0">
                <a:solidFill>
                  <a:srgbClr val="333333"/>
                </a:solidFill>
                <a:latin typeface="微软雅黑"/>
              </a:rPr>
              <a:t>· 前端工程化的核心要素</a:t>
            </a:r>
          </a:p>
          <a:p>
            <a:pPr/>
            <a:r>
              <a:rPr sz="1600" b="0">
                <a:solidFill>
                  <a:srgbClr val="333333"/>
                </a:solidFill>
                <a:latin typeface="微软雅黑"/>
              </a:rPr>
              <a:t>· 前端工程化的价</a:t>
            </a:r>
          </a:p>
          <a:p>
            <a:pPr/>
            <a:r>
              <a:rPr sz="1600" b="0">
                <a:solidFill>
                  <a:srgbClr val="333333"/>
                </a:solidFill>
                <a:latin typeface="微软雅黑"/>
              </a:rPr>
              <a:t>· Vue CLI简介与安装</a:t>
            </a:r>
          </a:p>
          <a:p>
            <a:pPr/>
            <a:r>
              <a:rPr sz="1600" b="0">
                <a:solidFill>
                  <a:srgbClr val="333333"/>
                </a:solidFill>
                <a:latin typeface="微软雅黑"/>
              </a:rPr>
              <a:t>· Vue CLI安装和基本使</a:t>
            </a:r>
          </a:p>
          <a:p>
            <a:pPr/>
            <a:r>
              <a:rPr sz="1600" b="0">
                <a:solidFill>
                  <a:srgbClr val="333333"/>
                </a:solidFill>
                <a:latin typeface="微软雅黑"/>
              </a:rPr>
              <a:t>· 项目结构解析</a:t>
            </a:r>
          </a:p>
          <a:p>
            <a:pPr/>
            <a:r>
              <a:rPr sz="1600" b="0">
                <a:solidFill>
                  <a:srgbClr val="333333"/>
                </a:solidFill>
                <a:latin typeface="微软雅黑"/>
              </a:rPr>
              <a:t>· Vue CLI命令详解</a:t>
            </a:r>
          </a:p>
          <a:p>
            <a:pPr/>
            <a:r>
              <a:rPr sz="1600" b="0">
                <a:solidFill>
                  <a:srgbClr val="333333"/>
                </a:solidFill>
                <a:latin typeface="微软雅黑"/>
              </a:rPr>
              <a:t>· Vue CLI插件系统</a:t>
            </a:r>
          </a:p>
          <a:p>
            <a:pPr/>
            <a:r>
              <a:rPr sz="1600" b="0">
                <a:solidFill>
                  <a:srgbClr val="333333"/>
                </a:solidFill>
                <a:latin typeface="微软雅黑"/>
              </a:rPr>
              <a:t>· 环境配置与自定义</a:t>
            </a:r>
          </a:p>
          <a:p>
            <a:pPr/>
            <a:r>
              <a:rPr sz="1600" b="0">
                <a:solidFill>
                  <a:srgbClr val="333333"/>
                </a:solidFill>
                <a:latin typeface="微软雅黑"/>
              </a:rPr>
              <a:t>· 构建工具的作用与重要</a:t>
            </a:r>
          </a:p>
          <a:p>
            <a:pPr/>
            <a:r>
              <a:rPr sz="1600" b="0">
                <a:solidFill>
                  <a:srgbClr val="333333"/>
                </a:solidFill>
                <a:latin typeface="微软雅黑"/>
              </a:rPr>
              <a:t>· Webpack：经典构建工</a:t>
            </a:r>
          </a:p>
          <a:p>
            <a:pPr/>
            <a:r>
              <a:rPr sz="1600" b="0">
                <a:solidFill>
                  <a:srgbClr val="333333"/>
                </a:solidFill>
                <a:latin typeface="微软雅黑"/>
              </a:rPr>
              <a:t>· Vite：新一代构建工</a:t>
            </a:r>
          </a:p>
          <a:p>
            <a:pPr/>
            <a:r>
              <a:rPr sz="1600" b="0">
                <a:solidFill>
                  <a:srgbClr val="333333"/>
                </a:solidFill>
                <a:latin typeface="微软雅黑"/>
              </a:rPr>
              <a:t>· Webpack vs Vite 详细对比</a:t>
            </a:r>
          </a:p>
          <a:p>
            <a:pPr/>
            <a:r>
              <a:rPr sz="1600" b="0">
                <a:solidFill>
                  <a:srgbClr val="333333"/>
                </a:solidFill>
                <a:latin typeface="微软雅黑"/>
              </a:rPr>
              <a:t>· 开发环境的重要</a:t>
            </a:r>
          </a:p>
          <a:p>
            <a:pPr/>
            <a:r>
              <a:rPr sz="1600" b="0">
                <a:solidFill>
                  <a:srgbClr val="333333"/>
                </a:solidFill>
                <a:latin typeface="微软雅黑"/>
              </a:rPr>
              <a:t>· 开发服务器配置</a:t>
            </a:r>
          </a:p>
          <a:p>
            <a:pPr/>
            <a:r>
              <a:rPr sz="1600" b="0">
                <a:solidFill>
                  <a:srgbClr val="333333"/>
                </a:solidFill>
                <a:latin typeface="微软雅黑"/>
              </a:rPr>
              <a:t>· 热重载技术详</a:t>
            </a:r>
          </a:p>
          <a:p>
            <a:pPr/>
            <a:r>
              <a:rPr sz="1600" b="0">
                <a:solidFill>
                  <a:srgbClr val="333333"/>
                </a:solidFill>
                <a:latin typeface="微软雅黑"/>
              </a:rPr>
              <a:t>· 环境变量管理</a:t>
            </a:r>
          </a:p>
          <a:p>
            <a:pPr/>
            <a:r>
              <a:rPr sz="1600" b="0">
                <a:solidFill>
                  <a:srgbClr val="333333"/>
                </a:solidFill>
                <a:latin typeface="微软雅黑"/>
              </a:rPr>
              <a:t>· 代码规范的重要</a:t>
            </a:r>
          </a:p>
          <a:p>
            <a:pPr/>
            <a:r>
              <a:rPr sz="1600" b="0">
                <a:solidFill>
                  <a:srgbClr val="333333"/>
                </a:solidFill>
                <a:latin typeface="微软雅黑"/>
              </a:rPr>
              <a:t>· ESLint配置与使</a:t>
            </a:r>
          </a:p>
          <a:p>
            <a:pPr/>
            <a:r>
              <a:rPr sz="1600" b="0">
                <a:solidFill>
                  <a:srgbClr val="333333"/>
                </a:solidFill>
                <a:latin typeface="微软雅黑"/>
              </a:rPr>
              <a:t>· Prettier代码格式</a:t>
            </a:r>
          </a:p>
          <a:p>
            <a:pPr/>
            <a:r>
              <a:rPr sz="1600" b="0">
                <a:solidFill>
                  <a:srgbClr val="333333"/>
                </a:solidFill>
                <a:latin typeface="微软雅黑"/>
              </a:rPr>
              <a:t>· Git Hooks与自动化</a:t>
            </a:r>
          </a:p>
          <a:p>
            <a:pPr/>
            <a:r>
              <a:rPr sz="1600" b="0">
                <a:solidFill>
                  <a:srgbClr val="333333"/>
                </a:solidFill>
                <a:latin typeface="微软雅黑"/>
              </a:rPr>
              <a:t>· TypeScript集成</a:t>
            </a:r>
          </a:p>
          <a:p>
            <a:pPr/>
            <a:r>
              <a:rPr sz="1600" b="0">
                <a:solidFill>
                  <a:srgbClr val="333333"/>
                </a:solidFill>
                <a:latin typeface="微软雅黑"/>
              </a:rPr>
              <a:t>· 技术要点回</a:t>
            </a:r>
          </a:p>
          <a:p>
            <a:pPr/>
            <a:r>
              <a:rPr sz="1600" b="0">
                <a:solidFill>
                  <a:srgbClr val="333333"/>
                </a:solidFill>
                <a:latin typeface="微软雅黑"/>
              </a:rPr>
              <a:t>· 水利行业应用特点</a:t>
            </a:r>
          </a:p>
          <a:p>
            <a:pPr/>
            <a:r>
              <a:rPr sz="1600" b="0">
                <a:solidFill>
                  <a:srgbClr val="333333"/>
                </a:solidFill>
                <a:latin typeface="微软雅黑"/>
              </a:rPr>
              <a:t>· 发展趋势与展</a:t>
            </a:r>
          </a:p>
          <a:p>
            <a:pPr/>
            <a:r>
              <a:rPr sz="1600" b="0">
                <a:solidFill>
                  <a:srgbClr val="333333"/>
                </a:solidFill>
                <a:latin typeface="微软雅黑"/>
              </a:rPr>
              <a:t>· 学习建议</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4.6  前端脚手架与工程化</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什么是前端工程</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前端工程化是指将软件工程的方法和实践应用到前端开发中，通过工具化、自动化、规范化的手段来提升开发效率、保证项目质量、支持团队协作的开发模式</a:t>
            </a:r>
          </a:p>
          <a:p>
            <a:pPr/>
            <a:r>
              <a:rPr sz="1500" b="0">
                <a:solidFill>
                  <a:srgbClr val="333333"/>
                </a:solidFill>
                <a:latin typeface="微软雅黑"/>
              </a:rPr>
              <a:t>· 它不是单一的技术或工具，而是一套完整的开发体系和流程 在传统的前端开发中，开发者通常面临以下挑战 **手动文件管理的复杂*：随着项目规模增长，JavaScript和CSS文件数量激增，手动管理文件依赖关系变得极其困难</a:t>
            </a:r>
          </a:p>
          <a:p>
            <a:pPr/>
            <a:r>
              <a:rPr sz="1500" b="0">
                <a:solidFill>
                  <a:srgbClr val="333333"/>
                </a:solidFill>
                <a:latin typeface="微软雅黑"/>
              </a:rPr>
              <a:t>· 开发者需要手动维护`&lt;script&gt;`标签的加载顺序，确保依赖库在使用前已经加载完成</a:t>
            </a:r>
          </a:p>
          <a:p>
            <a:pPr/>
            <a:r>
              <a:rPr sz="1500" b="0">
                <a:solidFill>
                  <a:srgbClr val="333333"/>
                </a:solidFill>
                <a:latin typeface="微软雅黑"/>
              </a:rPr>
              <a:t>· 当项目包含几十个甚至上百个文件时，这种管理方式容易出错且效率低下 **代码兼容性问*：现代JavaScript使用了ES6+的新特性，CSS使用了新的属性和语法，但不同浏览器的支持程度不同</a:t>
            </a:r>
          </a:p>
          <a:p>
            <a:pPr/>
            <a:r>
              <a:rPr sz="1500" b="0">
                <a:solidFill>
                  <a:srgbClr val="333333"/>
                </a:solidFill>
                <a:latin typeface="微软雅黑"/>
              </a:rPr>
              <a:t>· 开发者需要手动处理兼容性问题，编写大量的兼容代码，或者放弃使用新特性</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4.6  前端脚手架与工程化</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前端工程化的核心要素</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现代前端工程化体系包含以下几个核心要素： **1. 项目脚手架（Scaffolding?* 项目脚手架是快速创建项目初始结构的工具，它提供了标准化的项目模板和配置</a:t>
            </a:r>
          </a:p>
          <a:p>
            <a:pPr/>
            <a:r>
              <a:rPr sz="1500" b="0">
                <a:solidFill>
                  <a:srgbClr val="333333"/>
                </a:solidFill>
                <a:latin typeface="微软雅黑"/>
              </a:rPr>
              <a:t>· 脚手架通常包含以下功能 - **项目结构生成**：自动创建符合最佳实践的目录结构和文 - **依赖管理**：自动安装和配置项目所需的依赖包 - **开发环境配*：设置开发服务器、热重载、代理配置等 - **构建配置**：预配置构建工具的相关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4.6  前端脚手架与工程化</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前端工程化的价</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前端工程化为现代Web开发带来了显著的价值提升： **开发效率提*：自动化工具减少了重复性工作，开发者可以专注于业务逻辑实现</a:t>
            </a:r>
          </a:p>
          <a:p>
            <a:pPr/>
            <a:r>
              <a:rPr sz="1500" b="0">
                <a:solidFill>
                  <a:srgbClr val="333333"/>
                </a:solidFill>
                <a:latin typeface="微软雅黑"/>
              </a:rPr>
              <a:t>· 热重载、实时编译等功能让开发反馈更快速</a:t>
            </a:r>
          </a:p>
          <a:p>
            <a:pPr/>
            <a:r>
              <a:rPr sz="1500" b="0">
                <a:solidFill>
                  <a:srgbClr val="333333"/>
                </a:solidFill>
                <a:latin typeface="微软雅黑"/>
              </a:rPr>
              <a:t>· 统一的项目结构和开发规范降低了学习成本 **代码质量保证**：通过静态分析、自动化测试、代码审查等手段，及早发现和修复代码问题</a:t>
            </a:r>
          </a:p>
          <a:p>
            <a:pPr/>
            <a:r>
              <a:rPr sz="1500" b="0">
                <a:solidFill>
                  <a:srgbClr val="333333"/>
                </a:solidFill>
                <a:latin typeface="微软雅黑"/>
              </a:rPr>
              <a:t>· 统一的代码规范确保代码风格一致，提高可读性和可维护性 **团队协作优化**：标准化的开发流程让团队成员能够快速上手项目</a:t>
            </a:r>
          </a:p>
          <a:p>
            <a:pPr/>
            <a:r>
              <a:rPr sz="1500" b="0">
                <a:solidFill>
                  <a:srgbClr val="333333"/>
                </a:solidFill>
                <a:latin typeface="微软雅黑"/>
              </a:rPr>
              <a:t>· 版本控制、分支管理、代码合并等流程确保多人协作的顺畅进行 **项目维护简*：清晰的模块化结构让代码修改和功能扩展变得简单</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4.6  前端脚手架与工程化</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Vue CLI简介与安装</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Vue CLI（Command Line Interface）是Vue.js官方提供的标准化开发工具，它为Vue项目的创建、开发、构建和部署提供了完整的解决方案</a:t>
            </a:r>
          </a:p>
          <a:p>
            <a:pPr/>
            <a:r>
              <a:rPr sz="1500" b="0">
                <a:solidFill>
                  <a:srgbClr val="333333"/>
                </a:solidFill>
                <a:latin typeface="微软雅黑"/>
              </a:rPr>
              <a:t>· Vue CLI不仅仅是一个简单的项目生成器，更是一个完整的开发工具链，集成了现代前端开发所需的各种功能 Vue CLI的核心价值在*标准*?*自动*</a:t>
            </a:r>
          </a:p>
          <a:p>
            <a:pPr/>
            <a:r>
              <a:rPr sz="1500" b="0">
                <a:solidFill>
                  <a:srgbClr val="333333"/>
                </a:solidFill>
                <a:latin typeface="微软雅黑"/>
              </a:rPr>
              <a:t>· 它将复杂的Webpack配置、Babel转换、ESLint规则、测试框架等技术细节封装起来，让开发者能够通过简单的命令和配置就获得一个功能完整的开发环境</a:t>
            </a:r>
          </a:p>
          <a:p>
            <a:pPr/>
            <a:r>
              <a:rPr sz="1500" b="0">
                <a:solidFill>
                  <a:srgbClr val="333333"/>
                </a:solidFill>
                <a:latin typeface="微软雅黑"/>
              </a:rPr>
              <a:t>· 这种抽象化的设计让开发者可以专注于业务逻辑的实现，而不必深入了解底层构建工具的复杂配置 **Vue CLI的主要特性：** **零配置启*：通过预设模板快速创建项目，无需手动配置复杂的构建工具</a:t>
            </a:r>
          </a:p>
          <a:p>
            <a:pPr/>
            <a:r>
              <a:rPr sz="1500" b="0">
                <a:solidFill>
                  <a:srgbClr val="333333"/>
                </a:solidFill>
                <a:latin typeface="微软雅黑"/>
              </a:rPr>
              <a:t>· 开发者可以在几分钟内创建一个包含完整开发环境的Vue项目，立即开始业务开发 **插件化架*：通过插件系统扩展功能，支持TypeScript、PWA、测试框架等各种技术栈</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4.6  前端脚手架与工程化</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Vue CLI安装和基本使</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**安装Vue CLI** Vue CLI需要Node.js环境支持</a:t>
            </a:r>
          </a:p>
          <a:p>
            <a:pPr/>
            <a:r>
              <a:rPr sz="1500" b="0">
                <a:solidFill>
                  <a:srgbClr val="333333"/>
                </a:solidFill>
                <a:latin typeface="微软雅黑"/>
              </a:rPr>
              <a:t>· 在安装Vue CLI之前，请确保系统已安装Node.js 8.9或更高版本 ```bash # 全局安装Vue CLI npm install -g @vue/cli # 验证安装是否成功 vue --version # 如果看到版本号（?</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4.6  前端脚手架与工程化</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项目结构解析</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Vue CLI创建的项目具有清晰的目录结构，每个目录和文件都有明确的用途： ``` water-monitoring-dashboard/ ├── public/ # 静态资源目 ? ├── index.html # 主HTML模板 ?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4.6  前端脚手架与工程化</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智慧水利应用案例</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206240"/>
          </a:xfrm>
          <a:prstGeom prst="rect">
            <a:avLst/>
          </a:prstGeom>
          <a:noFill/>
        </p:spPr>
        <p:txBody>
          <a:bodyPr wrap="square">
            <a:spAutoFit/>
          </a:bodyPr>
          <a:lstStyle/>
          <a:p>
            <a:r>
              <a:rPr sz="2000" b="1">
                <a:solidFill>
                  <a:srgbClr val="333333"/>
                </a:solidFill>
                <a:latin typeface="微软雅黑"/>
              </a:rPr>
              <a:t>案例：将 前端脚手架与工程化 应用到智慧水利平台</a:t>
            </a:r>
          </a:p>
          <a:p>
            <a:pPr/>
            <a:r>
              <a:rPr sz="1500" b="0">
                <a:solidFill>
                  <a:srgbClr val="333333"/>
                </a:solidFill>
                <a:latin typeface="微软雅黑"/>
              </a:rPr>
              <a:t>· 业务场景：水利监测数据采集、三维场景展示或工程安全评估等典型业务环节。</a:t>
            </a:r>
          </a:p>
          <a:p>
            <a:pPr/>
            <a:r>
              <a:rPr sz="1500" b="0">
                <a:solidFill>
                  <a:srgbClr val="333333"/>
                </a:solidFill>
                <a:latin typeface="微软雅黑"/>
              </a:rPr>
              <a:t>· 技术落点：本节 前端脚手架与工程化 的理论与方法如何映射到平台某个模块。</a:t>
            </a:r>
          </a:p>
          <a:p>
            <a:pPr/>
            <a:r>
              <a:rPr sz="1500" b="0">
                <a:solidFill>
                  <a:srgbClr val="333333"/>
                </a:solidFill>
                <a:latin typeface="微软雅黑"/>
              </a:rPr>
              <a:t>· 实施步骤：按照 需求 → 设计 → 实现 → 验证 的工程化流程逐步推进。</a:t>
            </a:r>
          </a:p>
          <a:p>
            <a:pPr/>
            <a:r>
              <a:rPr sz="1500" b="0">
                <a:solidFill>
                  <a:srgbClr val="333333"/>
                </a:solidFill>
                <a:latin typeface="微软雅黑"/>
              </a:rPr>
              <a:t>· 成效指标：从效率 / 准确率 / 可靠性 三个维度衡量应用效果。</a:t>
            </a:r>
          </a:p>
          <a:p>
            <a:pPr/>
            <a:r>
              <a:rPr sz="1200" b="0">
                <a:solidFill>
                  <a:srgbClr val="595959"/>
                </a:solidFill>
                <a:latin typeface="微软雅黑"/>
              </a:rPr>
              <a:t>（请教师结合具体水利工程实践，补充本节对应的真实案例细节）</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4.6  前端脚手架与工程化</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思考题与练习</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206240"/>
          </a:xfrm>
          <a:prstGeom prst="rect">
            <a:avLst/>
          </a:prstGeom>
          <a:noFill/>
        </p:spPr>
        <p:txBody>
          <a:bodyPr wrap="square">
            <a:spAutoFit/>
          </a:bodyPr>
          <a:lstStyle/>
          <a:p>
            <a:r>
              <a:rPr sz="1800" b="1">
                <a:solidFill>
                  <a:srgbClr val="2E75B6"/>
                </a:solidFill>
                <a:latin typeface="微软雅黑"/>
              </a:rPr>
              <a:t>基础题</a:t>
            </a:r>
          </a:p>
          <a:p>
            <a:pPr/>
            <a:r>
              <a:rPr sz="1400" b="0">
                <a:solidFill>
                  <a:srgbClr val="333333"/>
                </a:solidFill>
                <a:latin typeface="微软雅黑"/>
              </a:rPr>
              <a:t>· 简述 前端脚手架与工程化 的基本概念。</a:t>
            </a:r>
          </a:p>
          <a:p>
            <a:pPr/>
            <a:r>
              <a:rPr sz="1400" b="0">
                <a:solidFill>
                  <a:srgbClr val="333333"/>
                </a:solidFill>
                <a:latin typeface="微软雅黑"/>
              </a:rPr>
              <a:t>· 分析 前端脚手架与工程化 在智慧水利系统中的作用。</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4.6  前端脚手架与工程化</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本节小结</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206240"/>
          </a:xfrm>
          <a:prstGeom prst="rect">
            <a:avLst/>
          </a:prstGeom>
          <a:noFill/>
        </p:spPr>
        <p:txBody>
          <a:bodyPr wrap="square">
            <a:spAutoFit/>
          </a:bodyPr>
          <a:lstStyle/>
          <a:p>
            <a:r>
              <a:rPr sz="1600" b="0">
                <a:solidFill>
                  <a:srgbClr val="333333"/>
                </a:solidFill>
                <a:latin typeface="微软雅黑"/>
              </a:rPr>
              <a:t>本节系统介绍了 前端脚手架与工程化 的核心概念、关键技术与典型应用。学生应深入理解其原理，并能够结合智慧水利场景灵活运用，为后续章节学习与平台开发实践打下坚实基础。</a:t>
            </a:r>
          </a:p>
          <a:p>
            <a:pPr/>
            <a:r>
              <a:rPr sz="1000" b="0">
                <a:solidFill>
                  <a:srgbClr val="333333"/>
                </a:solidFill>
                <a:latin typeface="微软雅黑"/>
              </a:rPr>
              <a:t/>
            </a:r>
          </a:p>
          <a:p>
            <a:pPr/>
            <a:r>
              <a:rPr sz="1400" b="0">
                <a:solidFill>
                  <a:srgbClr val="595959"/>
                </a:solidFill>
                <a:latin typeface="微软雅黑"/>
              </a:rPr>
              <a:t>下一步：完成知识图谱上的任务点学习，并在题库中完成本节配套练习。</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