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三 章   软件架构设计</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3.2</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架构设计原则</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模块化与关注点分离原 的核心概念与方法</a:t>
            </a:r>
          </a:p>
          <a:p>
            <a:pPr/>
            <a:r>
              <a:rPr sz="1800" b="0">
                <a:solidFill>
                  <a:srgbClr val="333333"/>
                </a:solidFill>
                <a:latin typeface="微软雅黑"/>
              </a:rPr>
              <a:t>· 掌握 抽象与信息隐藏原 的核心概念与方法</a:t>
            </a:r>
          </a:p>
          <a:p>
            <a:pPr/>
            <a:r>
              <a:rPr sz="1800" b="0">
                <a:solidFill>
                  <a:srgbClr val="333333"/>
                </a:solidFill>
                <a:latin typeface="微软雅黑"/>
              </a:rPr>
              <a:t>· 掌握 功能独立性与复用性原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软件架构设计需要遵循一系列基本原则，这些原则指导我们构建高质量、可维护、可扩展的软件系统。主要原则包括模块化与关注点分离、抽象与信息隐藏、功能独立性与复用性等。下面将逐一详细介绍这些核心原则</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3.2.1 模块化与关注点分离原</a:t>
            </a:r>
          </a:p>
          <a:p>
            <a:pPr/>
            <a:r>
              <a:rPr sz="1600" b="0">
                <a:solidFill>
                  <a:srgbClr val="333333"/>
                </a:solidFill>
                <a:latin typeface="微软雅黑"/>
              </a:rPr>
              <a:t>· 3.2.2 抽象与信息隐藏原</a:t>
            </a:r>
          </a:p>
          <a:p>
            <a:pPr/>
            <a:r>
              <a:rPr sz="1600" b="0">
                <a:solidFill>
                  <a:srgbClr val="333333"/>
                </a:solidFill>
                <a:latin typeface="微软雅黑"/>
              </a:rPr>
              <a:t>· 3.2.3 功能独立性与复用性原</a:t>
            </a:r>
          </a:p>
          <a:p>
            <a:pPr/>
            <a:r>
              <a:rPr sz="1600" b="0">
                <a:solidFill>
                  <a:srgbClr val="333333"/>
                </a:solidFill>
                <a:latin typeface="微软雅黑"/>
              </a:rPr>
              <a:t>· 2 案例分析：SafeHome 的传感器模块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3.2.1 模块化与关注点分离原</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模块化与关注点分离是软件架构设计的核心原则，旨在通过将系统分解为独立、可管理的模块，降低复杂性并提升可维护性</a:t>
            </a:r>
          </a:p>
          <a:p>
            <a:pPr/>
            <a:r>
              <a:rPr sz="1500" b="0">
                <a:solidFill>
                  <a:srgbClr val="333333"/>
                </a:solidFill>
                <a:latin typeface="微软雅黑"/>
              </a:rPr>
              <a:t>· 本小节将深入探讨模块划分的内聚性与耦合性，以及如何通过这些原则优化系统设计 #### 1 模块化的定义与目 模块化（Modularity）是将软件系统分解为多个独立模块的过程，每个模块负责特定的功能或子功能</a:t>
            </a:r>
          </a:p>
          <a:p>
            <a:pPr/>
            <a:r>
              <a:rPr sz="1500" b="0">
                <a:solidFill>
                  <a:srgbClr val="333333"/>
                </a:solidFill>
                <a:latin typeface="微软雅黑"/>
              </a:rPr>
              <a:t>· 其核心目标是： **降低复杂性：**将复杂系统拆分为较小的单元，便于开发、测试和维护</a:t>
            </a:r>
          </a:p>
          <a:p>
            <a:pPr/>
            <a:r>
              <a:rPr sz="1500" b="0">
                <a:solidFill>
                  <a:srgbClr val="333333"/>
                </a:solidFill>
                <a:latin typeface="微软雅黑"/>
              </a:rPr>
              <a:t>· 例如，一个大型的电子商务系统可以被拆分成用户管理、订单处理、支付网关、库存管理等多个模块，每个模块都可以独立进行开发和测试，从而降低了整个系统的复杂性 **提高复用性：**独立模块可在不同场景中复用，减少重复开发</a:t>
            </a:r>
          </a:p>
          <a:p>
            <a:pPr/>
            <a:r>
              <a:rPr sz="1500" b="0">
                <a:solidFill>
                  <a:srgbClr val="333333"/>
                </a:solidFill>
                <a:latin typeface="微软雅黑"/>
              </a:rPr>
              <a:t>· 例如，一个通用的用户认证模块可以被多个不同的应用程序所使用，无需每次重新开发相同的认证功能 **支持并行开发：**团队成员可独立开发不同模块，提升协作效率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3.2.2 抽象与信息隐藏原</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抽象与信息隐藏是软件架构设计的关键原则，通过层次化抽象简化复杂系统，并通过接口封装隔离实现细节</a:t>
            </a:r>
          </a:p>
          <a:p>
            <a:pPr/>
            <a:r>
              <a:rPr sz="1500" b="0">
                <a:solidFill>
                  <a:srgbClr val="333333"/>
                </a:solidFill>
                <a:latin typeface="微软雅黑"/>
              </a:rPr>
              <a:t>· 本小节将深入探讨其定义、应用及实践方法 #### 1 抽象的定义与作用 抽象（Abstraction）是对复杂系统的简化表示，通过忽略非本质细节，聚焦于核心特征</a:t>
            </a:r>
          </a:p>
          <a:p>
            <a:pPr/>
            <a:r>
              <a:rPr sz="1500" b="0">
                <a:solidFill>
                  <a:srgbClr val="333333"/>
                </a:solidFill>
                <a:latin typeface="微软雅黑"/>
              </a:rPr>
              <a:t>· 其核心作用是： **1.降低认知负担*允许开发者以更高层次的视角理解系统，避免陷入细节</a:t>
            </a:r>
          </a:p>
          <a:p>
            <a:pPr/>
            <a:r>
              <a:rPr sz="1500" b="0">
                <a:solidFill>
                  <a:srgbClr val="333333"/>
                </a:solidFill>
                <a:latin typeface="微软雅黑"/>
              </a:rPr>
              <a:t>· 例如，在设计一个图形用户界面时，开发者可以将按钮、文本框等界面元素抽象为通用的控件类，而无需在设计界面布局时考虑每个控件内部的绘图算法和事件处理机制，从而能够更专注于界面的整体结构和用户体验 **2.支持复用*抽象层可独立于具体实现，便于在</a:t>
            </a:r>
          </a:p>
          <a:p>
            <a:pPr/>
            <a:r>
              <a:rPr sz="1500" b="0">
                <a:solidFill>
                  <a:srgbClr val="333333"/>
                </a:solidFill>
                <a:latin typeface="微软雅黑"/>
              </a:rPr>
              <a:t>· 例如，一个抽象的数据库访问层可以被多个不同的业务模块所使用，无论这些业务模块是处理用户数据、订单数据还是库存数据，都可以通过相同的抽象接口进行数据库操作，提高了代码的复用性 **3.促进模块化：**抽象为模块划分提供依据，确保模块职责明确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3.2.3 功能独立性与复用性原</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功能独立性与复用性是软件架构设计的核心目标，旨在通过模块化设计降低系统复杂度，提升开发效率与维护性</a:t>
            </a:r>
          </a:p>
          <a:p>
            <a:pPr/>
            <a:r>
              <a:rPr sz="1500" b="0">
                <a:solidFill>
                  <a:srgbClr val="333333"/>
                </a:solidFill>
                <a:latin typeface="微软雅黑"/>
              </a:rPr>
              <a:t>· 本小节将深入探讨基于构件的设计原则及其在实践中的应用 #### 1 基于构件的设计原 基于构件的设计（Component-Based Design, CBD）通过以下原则实现功能独立性与复用性： **1.领域工程（Domain Engine</a:t>
            </a:r>
          </a:p>
          <a:p>
            <a:pPr/>
            <a:r>
              <a:rPr sz="1500" b="0">
                <a:solidFill>
                  <a:srgbClr val="333333"/>
                </a:solidFill>
                <a:latin typeface="微软雅黑"/>
              </a:rPr>
              <a:t>· 这些构件封装了领域的共性需求和专业知识，可以在不同的项目中被反复使用，从而提高开发效率和系统质量 **实践步骤* 识别领域内的通用功能（如身份验证、日志记录）：在进行领域分析时，需要对领域内的各种应用进行调研和分析，找出其中的通用功能模块</a:t>
            </a:r>
          </a:p>
          <a:p>
            <a:pPr/>
            <a:r>
              <a:rPr sz="1500" b="0">
                <a:solidFill>
                  <a:srgbClr val="333333"/>
                </a:solidFill>
                <a:latin typeface="微软雅黑"/>
              </a:rPr>
              <a:t>· 例如，在企业级应用中，身份验证和日志记录几乎是每个系统都必需的功能</a:t>
            </a:r>
          </a:p>
          <a:p>
            <a:pPr/>
            <a:r>
              <a:rPr sz="1500" b="0">
                <a:solidFill>
                  <a:srgbClr val="333333"/>
                </a:solidFill>
                <a:latin typeface="微软雅黑"/>
              </a:rPr>
              <a:t>· 这些功能在不同的应用中具有相似的流程和逻辑，因此可以被识别为通用功能模块 设计通用构件，封装领域知识：一旦识别出通用功能，下一步就是设计可复用的构件来实现这些功能，并将相关的领域知识和业务规则封装在构件内部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2 案例分析：SafeHome 的传感器模块</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**1.功能独立* 传感器模块仅负责数据采集与传输，不参与报警逻辑</a:t>
            </a:r>
          </a:p>
          <a:p>
            <a:pPr/>
            <a:r>
              <a:rPr sz="1500" b="0">
                <a:solidFill>
                  <a:srgbClr val="333333"/>
                </a:solidFill>
                <a:latin typeface="微软雅黑"/>
              </a:rPr>
              <a:t>· 在SafeHome系统中，传感器模块专注于收集来自各类传感器的实时数据，如门窗传感器的开关状态、运动传感器检测到的移动信号、烟雾传感器感知的烟雾浓度等，并将这些原始数据进行初步处理后通过特定的通信协议传输给中央控制单元</a:t>
            </a:r>
          </a:p>
          <a:p>
            <a:pPr/>
            <a:r>
              <a:rPr sz="1500" b="0">
                <a:solidFill>
                  <a:srgbClr val="333333"/>
                </a:solidFill>
                <a:latin typeface="微软雅黑"/>
              </a:rPr>
              <a:t>· 这种功能上的独立性使得传感器模块的职责清晰明确，开发人员在设计和维护该模块时只需关注数据采集的准确性和效率，无需考虑其他复杂的业务逻辑，如报警触发条件的判断、用户界面的展示等，从而降低了系统的整体复杂度，提高了模块的可维护性和可测试性 **</a:t>
            </a:r>
          </a:p>
          <a:p>
            <a:pPr/>
            <a:r>
              <a:rPr sz="1500" b="0">
                <a:solidFill>
                  <a:srgbClr val="333333"/>
                </a:solidFill>
                <a:latin typeface="微软雅黑"/>
              </a:rPr>
              <a:t>· 传感器模块采用标准化的接口设计，能够兼容多种不同类型的传感器</a:t>
            </a:r>
          </a:p>
          <a:p>
            <a:pPr/>
            <a:r>
              <a:rPr sz="1500" b="0">
                <a:solidFill>
                  <a:srgbClr val="333333"/>
                </a:solidFill>
                <a:latin typeface="微软雅黑"/>
              </a:rPr>
              <a:t>· 无论是烟雾传感器、运动传感器、温度传感器还是其他类型的传感器，只要符合模块的接口规范，就可以方便地接入系统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架构设计原则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架构设计原则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架构设计原则 的基本概念。</a:t>
            </a:r>
          </a:p>
          <a:p>
            <a:pPr/>
            <a:r>
              <a:rPr sz="1400" b="0">
                <a:solidFill>
                  <a:srgbClr val="333333"/>
                </a:solidFill>
                <a:latin typeface="微软雅黑"/>
              </a:rPr>
              <a:t>· 分析 架构设计原则 在智慧水利系统中的作用。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3.2  架构设计原则</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架构设计原则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