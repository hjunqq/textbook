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一 章   智慧水利概述与平台架构基础</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1.1</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软件概述</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定义软件 的核心概念与方法</a:t>
            </a:r>
          </a:p>
          <a:p>
            <a:pPr/>
            <a:r>
              <a:rPr sz="1800" b="0">
                <a:solidFill>
                  <a:srgbClr val="333333"/>
                </a:solidFill>
                <a:latin typeface="微软雅黑"/>
              </a:rPr>
              <a:t>· 掌握 软件的特 的核心概念与方法</a:t>
            </a:r>
          </a:p>
          <a:p>
            <a:pPr/>
            <a:r>
              <a:rPr sz="1800" b="0">
                <a:solidFill>
                  <a:srgbClr val="333333"/>
                </a:solidFill>
                <a:latin typeface="微软雅黑"/>
              </a:rPr>
              <a:t>· 掌握 软件的分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软件是计算机系统中不可或缺的组成部分，它由一系列程序、数据及相关文档组成，用于指挥计算机硬件执行特定任务并实现特定功能。与硬件不同，软件是无形的，它以电子形式存储在各种介质中（如磁盘、ROM或云端），并通过计算机的运行体现其价值</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1.1.1 定义软件</a:t>
            </a:r>
          </a:p>
          <a:p>
            <a:pPr/>
            <a:r>
              <a:rPr sz="1600" b="0">
                <a:solidFill>
                  <a:srgbClr val="333333"/>
                </a:solidFill>
                <a:latin typeface="微软雅黑"/>
              </a:rPr>
              <a:t>· 1.1.2 软件的特</a:t>
            </a:r>
          </a:p>
          <a:p>
            <a:pPr/>
            <a:r>
              <a:rPr sz="1600" b="0">
                <a:solidFill>
                  <a:srgbClr val="333333"/>
                </a:solidFill>
                <a:latin typeface="微软雅黑"/>
              </a:rPr>
              <a:t>· 1.1.3软件的分</a:t>
            </a:r>
          </a:p>
          <a:p>
            <a:pPr/>
            <a:r>
              <a:rPr sz="1600" b="0">
                <a:solidFill>
                  <a:srgbClr val="333333"/>
                </a:solidFill>
                <a:latin typeface="微软雅黑"/>
              </a:rPr>
              <a:t>· 1.1.4 软件的发</a:t>
            </a:r>
          </a:p>
          <a:p>
            <a:pPr/>
            <a:r>
              <a:rPr sz="1600" b="0">
                <a:solidFill>
                  <a:srgbClr val="333333"/>
                </a:solidFill>
                <a:latin typeface="微软雅黑"/>
              </a:rPr>
              <a:t>· 1.1.5 软件危机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1.1.1 定义软件</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软件（Software）是计算机系统中与硬件（Hardware）相对应的逻辑实体，是指由专业人员设计、开发并维护的一系列程序、数据及相关文档的集合</a:t>
            </a:r>
          </a:p>
          <a:p>
            <a:pPr/>
            <a:r>
              <a:rPr sz="1500" b="0">
                <a:solidFill>
                  <a:srgbClr val="333333"/>
                </a:solidFill>
                <a:latin typeface="微软雅黑"/>
              </a:rPr>
              <a:t>· 软件通过指令和算法指挥计算机硬件执行特定任务，从而实现预定的功能 与硬件的有形性不同，软件是无形的，它以电子形式存储在各种介质中（如磁盘、ROM、固态硬盘或云端），并通过计算机的运行体现其价值</a:t>
            </a:r>
          </a:p>
          <a:p>
            <a:pPr/>
            <a:r>
              <a:rPr sz="1500" b="0">
                <a:solidFill>
                  <a:srgbClr val="333333"/>
                </a:solidFill>
                <a:latin typeface="微软雅黑"/>
              </a:rPr>
              <a:t>· 软件包括操作系统、应用程序、数据库、编译程序、文字编辑工具等，以及程序运行过程中产生的各种结果和描述信息 软件的核心组成部分是计算机程序，即由算法语言编写的指令或指令组合，能够使计算机执行信息处理并产生特定结果</a:t>
            </a:r>
          </a:p>
          <a:p>
            <a:pPr/>
            <a:r>
              <a:rPr sz="1500" b="0">
                <a:solidFill>
                  <a:srgbClr val="333333"/>
                </a:solidFill>
                <a:latin typeface="微软雅黑"/>
              </a:rPr>
              <a:t>· 程序分为源程序和目标程序：源程序是用高级语言或汇编语言编写的代码，目标程序是经过编译或解释后可由计算机直接执行的代码 此外，软件还包括文档，如设计说明书、流程图、用户手册等，用于描述程序的功能、设计、开发过程和使用方法</a:t>
            </a:r>
          </a:p>
          <a:p>
            <a:pPr/>
            <a:r>
              <a:rPr sz="1500" b="0">
                <a:solidFill>
                  <a:srgbClr val="333333"/>
                </a:solidFill>
                <a:latin typeface="微软雅黑"/>
              </a:rPr>
              <a:t>· 软件是计算机系统的重要组成部分，广泛应用于商业、文化和日常生活的各个方面，对现代社会的高效运行至关重要 **软件的核心组成部* **1.程序（Program）：** 程序是软件的核心，是由一系列指令或语句组成的集合，这些指令以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1.1.2 软件的特</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软件作为计算机系统的核心组成部分，具有一系列独特的特性，这些特性不仅决定了软件的开发、维护和使用方式，也深刻影响了软件工程的方法和实践 **1. 无形性（Intangibility?* 软件是一种逻辑实体，而非物理实体，通过代码、算法和数据</a:t>
            </a:r>
          </a:p>
          <a:p>
            <a:pPr/>
            <a:r>
              <a:rPr sz="1500" b="0">
                <a:solidFill>
                  <a:srgbClr val="333333"/>
                </a:solidFill>
                <a:latin typeface="微软雅黑"/>
              </a:rPr>
              <a:t>· 这种无形性使得开发过程中难以直观地衡量进度和质量，需要通过文档、测试和评审等手段进行管理 **2. 复杂性（Complexity?* 现代软件系统通常规模庞大、功能复杂，涉及多个模块、组件和子系统的协同工作</a:t>
            </a:r>
          </a:p>
          <a:p>
            <a:pPr/>
            <a:r>
              <a:rPr sz="1500" b="0">
                <a:solidFill>
                  <a:srgbClr val="333333"/>
                </a:solidFill>
                <a:latin typeface="微软雅黑"/>
              </a:rPr>
              <a:t>· 这种复杂性不仅体现在代码量上，还体现在逻辑结构、交互关系和动态行为上，因此需要采用模块化、分层设计等方法降低复杂性，并通过严格的测试和质量保证措施来减少错误和缺陷 **3. 可复制性（Reproducibility?* 软件可以轻松复制和分</a:t>
            </a:r>
          </a:p>
          <a:p>
            <a:pPr/>
            <a:r>
              <a:rPr sz="1500" b="0">
                <a:solidFill>
                  <a:srgbClr val="333333"/>
                </a:solidFill>
                <a:latin typeface="微软雅黑"/>
              </a:rPr>
              <a:t>· 这种特性使得软件的分发和传播效率极高，但也带来了版权保护和盗版问题</a:t>
            </a:r>
          </a:p>
          <a:p>
            <a:pPr/>
            <a:r>
              <a:rPr sz="1500" b="0">
                <a:solidFill>
                  <a:srgbClr val="333333"/>
                </a:solidFill>
                <a:latin typeface="微软雅黑"/>
              </a:rPr>
              <a:t>· 同时，可复制性使得软件的规模化应用成为可能，例如云计算和SaaS（软件即服务）模式 **4. 可维护性（Maintainability?* 软件在交付后需要不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1.1.3软件的分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**1.系统软件** 系统软件是计算机系统中不可或缺的基础性软件，其主要功能是为硬件和其他软件提供底层支持与资源管理，确保计算机系统的高效、稳定运行</a:t>
            </a:r>
          </a:p>
          <a:p>
            <a:pPr/>
            <a:r>
              <a:rPr sz="1500" b="0">
                <a:solidFill>
                  <a:srgbClr val="333333"/>
                </a:solidFill>
                <a:latin typeface="微软雅黑"/>
              </a:rPr>
              <a:t>· 系统软件不直接面向终端用户，而是作为应用软件与硬件之间的桥梁，为上层应用提供运行环境和基础服务</a:t>
            </a:r>
          </a:p>
          <a:p>
            <a:pPr/>
            <a:r>
              <a:rPr sz="1500" b="0">
                <a:solidFill>
                  <a:srgbClr val="333333"/>
                </a:solidFill>
                <a:latin typeface="微软雅黑"/>
              </a:rPr>
              <a:t>· 操作系统的核心作用在于管理硬件资源（如CPU调度、内存分配、存储设备控制），并通过用户接口（如命令行或图形界面）实现人与计算机的交互</a:t>
            </a:r>
          </a:p>
          <a:p>
            <a:pPr/>
            <a:r>
              <a:rPr sz="1500" b="0">
                <a:solidFill>
                  <a:srgbClr val="333333"/>
                </a:solidFill>
                <a:latin typeface="微软雅黑"/>
              </a:rPr>
              <a:t>· 常见的操作系统包括通用型的Windows、Linux和macOS，以及嵌入式操作系统（如Android、VxWorks），后者广泛应用于智能手机、工业控制等特定场景 设备驱动程序是系统软件的另一重要组成部分，它使操作系统能够与硬件设备（如打</a:t>
            </a:r>
          </a:p>
          <a:p>
            <a:pPr/>
            <a:r>
              <a:rPr sz="1500" b="0">
                <a:solidFill>
                  <a:srgbClr val="333333"/>
                </a:solidFill>
                <a:latin typeface="微软雅黑"/>
              </a:rPr>
              <a:t>· 例如，显卡驱动程序负责将图形指令转换为硬件可识别的信号，确保显示输出的正确性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1.1.4 软件的发</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软件的发展与计算机技术的演进密不可分，其历史可大致分为以下几个阶段： **1.早期阶段940s-1950s?* 机器语言与汇编语言：最初的软件通过二进制机器语言编写，编程效率极低0世纪50年代，汇编语言的出现简化了编程流程，但仍需直接操作硬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1.1.5 软件危机</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**1.定义** 软件危机是指在软件开发和维护过程中出现的一系列严重问题，这些问题导致项目无法按计划完成，甚至失败</a:t>
            </a:r>
          </a:p>
          <a:p>
            <a:pPr/>
            <a:r>
              <a:rPr sz="1500" b="0">
                <a:solidFill>
                  <a:srgbClr val="333333"/>
                </a:solidFill>
                <a:latin typeface="微软雅黑"/>
              </a:rPr>
              <a:t>· 软件危机的主要表现包括成本超支、进度延误和质量不达标</a:t>
            </a:r>
          </a:p>
          <a:p>
            <a:pPr/>
            <a:r>
              <a:rPr sz="1500" b="0">
                <a:solidFill>
                  <a:srgbClr val="333333"/>
                </a:solidFill>
                <a:latin typeface="微软雅黑"/>
              </a:rPr>
              <a:t>· 成本超支是指实际开发费用远超预算，导致项目经济压力巨大</a:t>
            </a:r>
          </a:p>
          <a:p>
            <a:pPr/>
            <a:r>
              <a:rPr sz="1500" b="0">
                <a:solidFill>
                  <a:srgbClr val="333333"/>
                </a:solidFill>
                <a:latin typeface="微软雅黑"/>
              </a:rPr>
              <a:t>· 进度延误是指项目无法按时交付，甚至无限期拖延，影响用户使用和市场竞争力</a:t>
            </a:r>
          </a:p>
          <a:p>
            <a:pPr/>
            <a:r>
              <a:rPr sz="1500" b="0">
                <a:solidFill>
                  <a:srgbClr val="333333"/>
                </a:solidFill>
                <a:latin typeface="微软雅黑"/>
              </a:rPr>
              <a:t>· 质量不达标是指软件功能不完善、性能低下或存在严重缺陷，无法满足用户需求，甚至导致系统崩溃或数据丢失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软件概述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软件概述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请简述软件的定义，并说明软件与硬件的区别和联系</a:t>
            </a:r>
          </a:p>
          <a:p>
            <a:pPr/>
            <a:r>
              <a:rPr sz="1400" b="0">
                <a:solidFill>
                  <a:srgbClr val="333333"/>
                </a:solidFill>
                <a:latin typeface="微软雅黑"/>
              </a:rPr>
              <a:t>· 软件由哪三个核心组成部分构成？请分别说明各部分的作用</a:t>
            </a:r>
          </a:p>
          <a:p>
            <a:pPr/>
            <a:r>
              <a:rPr sz="1400" b="0">
                <a:solidFill>
                  <a:srgbClr val="333333"/>
                </a:solidFill>
                <a:latin typeface="微软雅黑"/>
              </a:rPr>
              <a:t>· 比较系统软件和应用软件的特点，并举例说明两者在智慧水利系统中的应用</a:t>
            </a:r>
          </a:p>
          <a:p>
            <a:pPr/>
            <a:r>
              <a:rPr sz="800" b="0">
                <a:solidFill>
                  <a:srgbClr val="333333"/>
                </a:solidFill>
                <a:latin typeface="微软雅黑"/>
              </a:rPr>
              <a:t/>
            </a:r>
          </a:p>
          <a:p>
            <a:pPr/>
            <a:r>
              <a:rPr sz="1800" b="1">
                <a:solidFill>
                  <a:srgbClr val="2E75B6"/>
                </a:solidFill>
                <a:latin typeface="微软雅黑"/>
              </a:rPr>
              <a:t>提高题</a:t>
            </a:r>
          </a:p>
          <a:p>
            <a:pPr/>
            <a:r>
              <a:rPr sz="1400" b="0">
                <a:solidFill>
                  <a:srgbClr val="333333"/>
                </a:solidFill>
                <a:latin typeface="微软雅黑"/>
              </a:rPr>
              <a:t>· 分析软件危机产生的主要原因，并结合智慧水利平台开发的特点，讨论如何避免这些问题</a:t>
            </a:r>
          </a:p>
          <a:p>
            <a:pPr/>
            <a:r>
              <a:rPr sz="1400" b="0">
                <a:solidFill>
                  <a:srgbClr val="333333"/>
                </a:solidFill>
                <a:latin typeface="微软雅黑"/>
              </a:rPr>
              <a:t>· 软件发展经历了哪几个主要阶段？每个阶段的代表性特征是什么？这种发展对智慧水利信息化有何启示</a:t>
            </a:r>
          </a:p>
          <a:p>
            <a:pPr/>
            <a:r>
              <a:rPr sz="800" b="0">
                <a:solidFill>
                  <a:srgbClr val="333333"/>
                </a:solidFill>
                <a:latin typeface="微软雅黑"/>
              </a:rPr>
              <a:t/>
            </a:r>
          </a:p>
          <a:p>
            <a:pPr/>
            <a:r>
              <a:rPr sz="1800" b="1">
                <a:solidFill>
                  <a:srgbClr val="2E75B6"/>
                </a:solidFill>
                <a:latin typeface="微软雅黑"/>
              </a:rPr>
              <a:t>讨论题</a:t>
            </a:r>
          </a:p>
          <a:p>
            <a:pPr/>
            <a:r>
              <a:rPr sz="1400" b="0">
                <a:solidFill>
                  <a:srgbClr val="333333"/>
                </a:solidFill>
                <a:latin typeface="微软雅黑"/>
              </a:rPr>
              <a:t>· 在智慧水利平台开发中，系统软件与应用软件如何协调配合？请设计一个简单的技术架构图说明两者的关系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1.1  软件概述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从软件的基本概念出发，系统介绍了软件的定义、特点、分类和发展历程。软件作为计算机系统的重要组成部分，由程序、数据和文档三部分构成，具有逻辑性、复杂性和可维护性等特点。软件可分为系统软件和应用软件，两者相辅相成，共同为用户提供完整的计算环境。软件的发展经历了从机器语言到高级语言、从单机软件到分布式系统的演进过程，软件危机的出现促进了软件工程学科的建立和发展。理解这些基础概念对于智慧水利平台的设计和开发具有重要的指导意义</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