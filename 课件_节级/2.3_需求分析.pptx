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377440"/>
            <a:ext cx="10698480" cy="548640"/>
          </a:xfrm>
          <a:prstGeom prst="rect">
            <a:avLst/>
          </a:prstGeom>
          <a:noFill/>
        </p:spPr>
        <p:txBody>
          <a:bodyPr wrap="none">
            <a:spAutoFit/>
          </a:bodyPr>
          <a:lstStyle/>
          <a:p>
            <a:r>
              <a:rPr sz="2200" b="0">
                <a:solidFill>
                  <a:srgbClr val="DDEBF7"/>
                </a:solidFill>
                <a:latin typeface="微软雅黑"/>
              </a:rPr>
              <a:t>第 二 章   软件工程基础与需求分析</a:t>
            </a:r>
          </a:p>
        </p:txBody>
      </p:sp>
      <p:sp>
        <p:nvSpPr>
          <p:cNvPr id="6" name="TextBox 5"/>
          <p:cNvSpPr txBox="1"/>
          <p:nvPr/>
        </p:nvSpPr>
        <p:spPr>
          <a:xfrm>
            <a:off x="731520" y="2926080"/>
            <a:ext cx="10698480" cy="1097280"/>
          </a:xfrm>
          <a:prstGeom prst="rect">
            <a:avLst/>
          </a:prstGeom>
          <a:noFill/>
        </p:spPr>
        <p:txBody>
          <a:bodyPr wrap="none">
            <a:spAutoFit/>
          </a:bodyPr>
          <a:lstStyle/>
          <a:p>
            <a:r>
              <a:rPr sz="7200" b="1">
                <a:solidFill>
                  <a:srgbClr val="FFFFFF"/>
                </a:solidFill>
                <a:latin typeface="微软雅黑"/>
              </a:rPr>
              <a:t>2.3</a:t>
            </a:r>
          </a:p>
        </p:txBody>
      </p:sp>
      <p:sp>
        <p:nvSpPr>
          <p:cNvPr id="7" name="TextBox 6"/>
          <p:cNvSpPr txBox="1"/>
          <p:nvPr/>
        </p:nvSpPr>
        <p:spPr>
          <a:xfrm>
            <a:off x="731520" y="4297680"/>
            <a:ext cx="10698480" cy="914400"/>
          </a:xfrm>
          <a:prstGeom prst="rect">
            <a:avLst/>
          </a:prstGeom>
          <a:noFill/>
        </p:spPr>
        <p:txBody>
          <a:bodyPr wrap="none">
            <a:spAutoFit/>
          </a:bodyPr>
          <a:lstStyle/>
          <a:p>
            <a:r>
              <a:rPr sz="4400" b="1">
                <a:solidFill>
                  <a:srgbClr val="FFFFFF"/>
                </a:solidFill>
                <a:latin typeface="微软雅黑"/>
              </a:rPr>
              <a:t>需求分析</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2.3  需求分析</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pPr/>
            <a:r>
              <a:rPr sz="1800" b="0">
                <a:solidFill>
                  <a:srgbClr val="333333"/>
                </a:solidFill>
                <a:latin typeface="微软雅黑"/>
              </a:rPr>
              <a:t>· 掌握 需求分析的特点 的核心概念与方法</a:t>
            </a:r>
          </a:p>
          <a:p>
            <a:pPr/>
            <a:r>
              <a:rPr sz="1800" b="0">
                <a:solidFill>
                  <a:srgbClr val="333333"/>
                </a:solidFill>
                <a:latin typeface="微软雅黑"/>
              </a:rPr>
              <a:t>· 掌握 需求分析的原则 的核心概念与方法</a:t>
            </a:r>
          </a:p>
          <a:p>
            <a:pPr/>
            <a:r>
              <a:rPr sz="1800" b="0">
                <a:solidFill>
                  <a:srgbClr val="333333"/>
                </a:solidFill>
                <a:latin typeface="微软雅黑"/>
              </a:rPr>
              <a:t>· 掌握 需求分析的重要 的核心概念与方法</a:t>
            </a:r>
          </a:p>
          <a:p>
            <a:pPr/>
            <a:r>
              <a:rPr sz="1800" b="0">
                <a:solidFill>
                  <a:srgbClr val="333333"/>
                </a:solidFill>
                <a:latin typeface="微软雅黑"/>
              </a:rPr>
              <a:t>· 能够结合智慧水利平台需求，应用本节内容进行分析与设计</a:t>
            </a:r>
          </a:p>
        </p:txBody>
      </p:sp>
      <p:sp>
        <p:nvSpPr>
          <p:cNvPr id="9" name="TextBox 8"/>
          <p:cNvSpPr txBox="1"/>
          <p:nvPr/>
        </p:nvSpPr>
        <p:spPr>
          <a:xfrm>
            <a:off x="274320" y="6446520"/>
            <a:ext cx="11612880" cy="274320"/>
          </a:xfrm>
          <a:prstGeom prst="rect">
            <a:avLst/>
          </a:prstGeom>
          <a:noFill/>
        </p:spPr>
        <p:txBody>
          <a:bodyPr wrap="none" lIns="0" tIns="0">
            <a:spAutoFit/>
          </a:bodyPr>
          <a:lstStyle/>
          <a:p>
            <a:pPr algn="r"/>
            <a:r>
              <a:rPr sz="1000" b="0">
                <a:solidFill>
                  <a:srgbClr val="595959"/>
                </a:solidFill>
                <a:latin typeface="微软雅黑"/>
              </a:rPr>
              <a:t>河海大学 · 水利水电学院    第 2 / 0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2.3  需求分析</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本节知识图谱</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1463040"/>
          </a:xfrm>
          <a:prstGeom prst="rect">
            <a:avLst/>
          </a:prstGeom>
          <a:noFill/>
        </p:spPr>
        <p:txBody>
          <a:bodyPr wrap="square">
            <a:spAutoFit/>
          </a:bodyPr>
          <a:lstStyle/>
          <a:p>
            <a:r>
              <a:rPr sz="1400" b="0">
                <a:solidFill>
                  <a:srgbClr val="595959"/>
                </a:solidFill>
                <a:latin typeface="微软雅黑"/>
              </a:rPr>
              <a:t>需求分析是软件开发生命周期中的关键阶段，旨在通过系统化的方法准确捕捉和理解用户需求，为后续设计和开发奠定基础。这一阶段的核心任务是将用户的非正式需求陈述转化为完整、准确的需求定义，明确系统必须完成的功能和性能要求。需求分析不仅涉及功能的界定，还包括系统的性能、可靠性、用户体验等多方面要求。通过功能分解、结构化分析、信息建模和面向对象分析等方法，开发团队可以逐步细化需求，确保系统设计能够满足用户的实际需求。需求分析的结果通常以需求规格说明书、用户手册和测试计划等形式呈现，为后续的开发、测试和维护提供明确的指导</a:t>
            </a:r>
          </a:p>
        </p:txBody>
      </p:sp>
      <p:sp>
        <p:nvSpPr>
          <p:cNvPr id="9" name="TextBox 8"/>
          <p:cNvSpPr txBox="1"/>
          <p:nvPr/>
        </p:nvSpPr>
        <p:spPr>
          <a:xfrm>
            <a:off x="548640" y="3657600"/>
            <a:ext cx="11155680" cy="2560320"/>
          </a:xfrm>
          <a:prstGeom prst="rect">
            <a:avLst/>
          </a:prstGeom>
          <a:noFill/>
        </p:spPr>
        <p:txBody>
          <a:bodyPr wrap="square">
            <a:spAutoFit/>
          </a:bodyPr>
          <a:lstStyle/>
          <a:p>
            <a:r>
              <a:rPr sz="1800" b="1">
                <a:solidFill>
                  <a:srgbClr val="003C71"/>
                </a:solidFill>
                <a:latin typeface="微软雅黑"/>
              </a:rPr>
              <a:t>本节主要内容：</a:t>
            </a:r>
          </a:p>
          <a:p>
            <a:pPr/>
            <a:r>
              <a:rPr sz="1600" b="0">
                <a:solidFill>
                  <a:srgbClr val="333333"/>
                </a:solidFill>
                <a:latin typeface="微软雅黑"/>
              </a:rPr>
              <a:t>· 2.3.1 需求分析的特点</a:t>
            </a:r>
          </a:p>
          <a:p>
            <a:pPr/>
            <a:r>
              <a:rPr sz="1600" b="0">
                <a:solidFill>
                  <a:srgbClr val="333333"/>
                </a:solidFill>
                <a:latin typeface="微软雅黑"/>
              </a:rPr>
              <a:t>· 2.3.2 需求分析的原则</a:t>
            </a:r>
          </a:p>
          <a:p>
            <a:pPr/>
            <a:r>
              <a:rPr sz="1600" b="0">
                <a:solidFill>
                  <a:srgbClr val="333333"/>
                </a:solidFill>
                <a:latin typeface="微软雅黑"/>
              </a:rPr>
              <a:t>· 2.3.3 需求分析的重要</a:t>
            </a:r>
          </a:p>
          <a:p>
            <a:pPr/>
            <a:r>
              <a:rPr sz="1600" b="0">
                <a:solidFill>
                  <a:srgbClr val="333333"/>
                </a:solidFill>
                <a:latin typeface="微软雅黑"/>
              </a:rPr>
              <a:t>· 2.3.4 需求分析的任务</a:t>
            </a:r>
          </a:p>
          <a:p>
            <a:pPr/>
            <a:r>
              <a:rPr sz="1600" b="0">
                <a:solidFill>
                  <a:srgbClr val="333333"/>
                </a:solidFill>
                <a:latin typeface="微软雅黑"/>
              </a:rPr>
              <a:t>· 2.3.5 需求分析的方法</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2.3  需求分析</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2.3.1 需求分析的特点</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需求分析是软件开发生命周期中的关键阶段，标志着从可行性研究向实际开发工作的过渡</a:t>
            </a:r>
          </a:p>
          <a:p>
            <a:pPr/>
            <a:r>
              <a:rPr sz="1500" b="0">
                <a:solidFill>
                  <a:srgbClr val="333333"/>
                </a:solidFill>
                <a:latin typeface="微软雅黑"/>
              </a:rPr>
              <a:t>· 在这个阶段，开发团队的核心任务是明确系统必须完成的工作，准确理解和转化用户需求，将用户的非正式需求陈述转化为完整、准确的需求定义</a:t>
            </a:r>
          </a:p>
          <a:p>
            <a:pPr/>
            <a:r>
              <a:rPr sz="1500" b="0">
                <a:solidFill>
                  <a:srgbClr val="333333"/>
                </a:solidFill>
                <a:latin typeface="微软雅黑"/>
              </a:rPr>
              <a:t>· 这一过程不仅关乎功能的界定，更涉及到系统的性能、可靠性、用户体验等多方面要求</a:t>
            </a:r>
          </a:p>
          <a:p>
            <a:pPr/>
            <a:r>
              <a:rPr sz="1500" b="0">
                <a:solidFill>
                  <a:srgbClr val="333333"/>
                </a:solidFill>
                <a:latin typeface="微软雅黑"/>
              </a:rPr>
              <a:t>· 需求分析阶段为系统设计和实现奠定了基础，其质量直接影响到整个系统的开发进度、成本以及最终的成功与否 尽管在可行性研究阶段已经对用户需求有了初步了解，但需求分析阶段需要更加细致和全面地明确系统的具体功能和性能要求</a:t>
            </a:r>
          </a:p>
          <a:p>
            <a:pPr/>
            <a:r>
              <a:rPr sz="1500" b="0">
                <a:solidFill>
                  <a:srgbClr val="333333"/>
                </a:solidFill>
                <a:latin typeface="微软雅黑"/>
              </a:rPr>
              <a:t>· 此时，需求的变动和复杂性往往会带来挑战，且不同背景的团队成员之间的沟通障碍也是常见问题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2.3  需求分析</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2.3.2 需求分析的原则</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需求分析是软件开发过程中至关重要的阶段，其核心目标是通过系统化的方法准确捕捉和理解用户需求，为后续设计和开发奠定基础</a:t>
            </a:r>
          </a:p>
          <a:p>
            <a:pPr/>
            <a:r>
              <a:rPr sz="1500" b="0">
                <a:solidFill>
                  <a:srgbClr val="333333"/>
                </a:solidFill>
                <a:latin typeface="微软雅黑"/>
              </a:rPr>
              <a:t>· 以下是需求分析过程中需要遵循的几项基本原则 **?）分解与细化原则** 复杂问题通常难以直接理解和解决，因此需求分析的首要原则是将复杂系统分解为更小、更易管理的部分</a:t>
            </a:r>
          </a:p>
          <a:p>
            <a:pPr/>
            <a:r>
              <a:rPr sz="1500" b="0">
                <a:solidFill>
                  <a:srgbClr val="333333"/>
                </a:solidFill>
                <a:latin typeface="微软雅黑"/>
              </a:rPr>
              <a:t>· 通过功能分解和逐层细化，可以将系统的整体需求划分为多个模块或子功能，并明确它们之间的接口和交互关系</a:t>
            </a:r>
          </a:p>
          <a:p>
            <a:pPr/>
            <a:r>
              <a:rPr sz="1500" b="0">
                <a:solidFill>
                  <a:srgbClr val="333333"/>
                </a:solidFill>
                <a:latin typeface="微软雅黑"/>
              </a:rPr>
              <a:t>· 这种方法不仅降低了问题的复杂度，还便于团队分工协作，确保每个部分的功能清晰且可验证 **?）数据域与功能域分离原则** 需求分析需要同时关注系统的数据域和功能域</a:t>
            </a:r>
          </a:p>
          <a:p>
            <a:pPr/>
            <a:r>
              <a:rPr sz="1500" b="0">
                <a:solidFill>
                  <a:srgbClr val="333333"/>
                </a:solidFill>
                <a:latin typeface="微软雅黑"/>
              </a:rPr>
              <a:t>· 数据域包括数据流、数据内容和数据结构，描述了数据在系统中的流动方式和组织形式</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2.3  需求分析</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2.3.3 需求分析的重要</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软件需求是决定软件开发是否成功的一个关键因素 ?）需求分析可以帮助开发人员真正理解业务问 ?）需求分析是估算成本和进度的基础 ?）需求分析可以避免建造错误的系统，从而减少不必要的浪 ?）软件规格说明有助于开发人员与客户在“系统应该做什么”问</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2.3  需求分析</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2.3.4 需求分析的任务</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在软件工程中，需求分析的任务是确保开发的系统能够完全符合用户需求的关键步骤</a:t>
            </a:r>
          </a:p>
          <a:p>
            <a:pPr/>
            <a:r>
              <a:rPr sz="1500" b="0">
                <a:solidFill>
                  <a:srgbClr val="333333"/>
                </a:solidFill>
                <a:latin typeface="微软雅黑"/>
              </a:rPr>
              <a:t>· 其基本任务是准确理解现有系统，并定义新系统的目标，明确系统必须“做什么”，即识别和描述系统的基本功能和要求</a:t>
            </a:r>
          </a:p>
          <a:p>
            <a:pPr/>
            <a:r>
              <a:rPr sz="1500" b="0">
                <a:solidFill>
                  <a:srgbClr val="333333"/>
                </a:solidFill>
                <a:latin typeface="微软雅黑"/>
              </a:rPr>
              <a:t>· 在这一阶段，重点是理解用户的需求，而非技术实现</a:t>
            </a:r>
          </a:p>
          <a:p>
            <a:pPr/>
            <a:r>
              <a:rPr sz="1500" b="0">
                <a:solidFill>
                  <a:srgbClr val="333333"/>
                </a:solidFill>
                <a:latin typeface="微软雅黑"/>
              </a:rPr>
              <a:t>· 因此，需求分析不仅仅是对现有系统的总结，还涉及深入的沟通和交流，以便在可行性研究阶段的粗略基础上，进一步明确和细化系统需求 **1.问题明确定义** 需求分析的首要任务是确保对系统问题的明确定义</a:t>
            </a:r>
          </a:p>
          <a:p>
            <a:pPr/>
            <a:r>
              <a:rPr sz="1500" b="0">
                <a:solidFill>
                  <a:srgbClr val="333333"/>
                </a:solidFill>
                <a:latin typeface="微软雅黑"/>
              </a:rPr>
              <a:t>· 这包括识别和详细描述系统所必须具备的各种需求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2.3  需求分析</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2.3.5 需求分析的方法</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需求分析是软件开发的关键环节，旨在通过深入理解问题域，构建一个准确反映用户需求的系统模型</a:t>
            </a:r>
          </a:p>
          <a:p>
            <a:pPr/>
            <a:r>
              <a:rPr sz="1500" b="0">
                <a:solidFill>
                  <a:srgbClr val="333333"/>
                </a:solidFill>
                <a:latin typeface="微软雅黑"/>
              </a:rPr>
              <a:t>· 这一模型不仅需要清晰描述系统的功能和责任，还要为后续设计、开发和测试提供可靠的依据</a:t>
            </a:r>
          </a:p>
          <a:p>
            <a:pPr/>
            <a:r>
              <a:rPr sz="1500" b="0">
                <a:solidFill>
                  <a:srgbClr val="333333"/>
                </a:solidFill>
                <a:latin typeface="微软雅黑"/>
              </a:rPr>
              <a:t>· 在众多需求分析方法中，功能分解法、结构化分析法、信息建模法以及面向对象分析法是应用最为广泛的几种方法，每种方法都有其独特的视角和适用场景 **1.功能分解* 功能分解法以系统的功能为中心，将复杂系统逐步拆解为更小、更易管理的子功能</a:t>
            </a:r>
          </a:p>
          <a:p>
            <a:pPr/>
            <a:r>
              <a:rPr sz="1500" b="0">
                <a:solidFill>
                  <a:srgbClr val="333333"/>
                </a:solidFill>
                <a:latin typeface="微软雅黑"/>
              </a:rPr>
              <a:t>· 其核心思想是从系统的主要功能出发，逐层细化到具体的操作步骤</a:t>
            </a:r>
          </a:p>
          <a:p>
            <a:pPr/>
            <a:r>
              <a:rPr sz="1500" b="0">
                <a:solidFill>
                  <a:srgbClr val="333333"/>
                </a:solidFill>
                <a:latin typeface="微软雅黑"/>
              </a:rPr>
              <a:t>· 这种方法强调功能的层级结构和接口定义，便于开发团队理解系统的整体框架和功能模块之间的交互</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2.3  需求分析</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智慧水利应用案例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2000" b="1">
                <a:solidFill>
                  <a:srgbClr val="333333"/>
                </a:solidFill>
                <a:latin typeface="微软雅黑"/>
              </a:rPr>
              <a:t>案例：将 需求分析 应用到智慧水利平台</a:t>
            </a:r>
          </a:p>
          <a:p>
            <a:pPr/>
            <a:r>
              <a:rPr sz="1500" b="0">
                <a:solidFill>
                  <a:srgbClr val="333333"/>
                </a:solidFill>
                <a:latin typeface="微软雅黑"/>
              </a:rPr>
              <a:t>· 业务场景：水利监测数据采集、三维场景展示或工程安全评估等典型业务环节。</a:t>
            </a:r>
          </a:p>
          <a:p>
            <a:pPr/>
            <a:r>
              <a:rPr sz="1500" b="0">
                <a:solidFill>
                  <a:srgbClr val="333333"/>
                </a:solidFill>
                <a:latin typeface="微软雅黑"/>
              </a:rPr>
              <a:t>· 技术落点：本节 需求分析 的理论与方法如何映射到平台某个模块。</a:t>
            </a:r>
          </a:p>
          <a:p>
            <a:pPr/>
            <a:r>
              <a:rPr sz="1500" b="0">
                <a:solidFill>
                  <a:srgbClr val="333333"/>
                </a:solidFill>
                <a:latin typeface="微软雅黑"/>
              </a:rPr>
              <a:t>· 实施步骤：按照 需求 → 设计 → 实现 → 验证 的工程化流程逐步推进。</a:t>
            </a:r>
          </a:p>
          <a:p>
            <a:pPr/>
            <a:r>
              <a:rPr sz="1500" b="0">
                <a:solidFill>
                  <a:srgbClr val="333333"/>
                </a:solidFill>
                <a:latin typeface="微软雅黑"/>
              </a:rPr>
              <a:t>· 成效指标：从效率 / 准确率 / 可靠性 三个维度衡量应用效果。</a:t>
            </a:r>
          </a:p>
          <a:p>
            <a:pPr/>
            <a:r>
              <a:rPr sz="1200" b="0">
                <a:solidFill>
                  <a:srgbClr val="595959"/>
                </a:solidFill>
                <a:latin typeface="微软雅黑"/>
              </a:rPr>
              <a:t>（请教师结合具体水利工程实践，补充本节对应的真实案例细节）</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2.3  需求分析</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800" b="1">
                <a:solidFill>
                  <a:srgbClr val="2E75B6"/>
                </a:solidFill>
                <a:latin typeface="微软雅黑"/>
              </a:rPr>
              <a:t>基础题</a:t>
            </a:r>
          </a:p>
          <a:p>
            <a:pPr/>
            <a:r>
              <a:rPr sz="1400" b="0">
                <a:solidFill>
                  <a:srgbClr val="333333"/>
                </a:solidFill>
                <a:latin typeface="微软雅黑"/>
              </a:rPr>
              <a:t>· 简述 需求分析 的基本概念。</a:t>
            </a:r>
          </a:p>
          <a:p>
            <a:pPr/>
            <a:r>
              <a:rPr sz="1400" b="0">
                <a:solidFill>
                  <a:srgbClr val="333333"/>
                </a:solidFill>
                <a:latin typeface="微软雅黑"/>
              </a:rPr>
              <a:t>· 分析 需求分析 在智慧水利系统中的作用。</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2.3  需求分析</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600" b="0">
                <a:solidFill>
                  <a:srgbClr val="333333"/>
                </a:solidFill>
                <a:latin typeface="微软雅黑"/>
              </a:rPr>
              <a:t>本节系统介绍了 需求分析 的核心概念、关键技术与典型应用。学生应深入理解其原理，并能够结合智慧水利场景灵活运用，为后续章节学习与平台开发实践打下坚实基础。</a:t>
            </a:r>
          </a:p>
          <a:p>
            <a:pPr/>
            <a:r>
              <a:rPr sz="1000" b="0">
                <a:solidFill>
                  <a:srgbClr val="333333"/>
                </a:solidFill>
                <a:latin typeface="微软雅黑"/>
              </a:rPr>
              <a:t/>
            </a:r>
          </a:p>
          <a:p>
            <a:pPr/>
            <a:r>
              <a:rPr sz="1400" b="0">
                <a:solidFill>
                  <a:srgbClr val="595959"/>
                </a:solidFill>
                <a:latin typeface="微软雅黑"/>
              </a:rPr>
              <a:t>下一步：完成知识图谱上的任务点学习，并在题库中完成本节配套练习。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