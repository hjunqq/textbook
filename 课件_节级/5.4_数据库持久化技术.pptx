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五 章   后端开发技术</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5.4</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数据库持久化技术</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传统JDBC编程模式的局限性分 的核心概念与方法</a:t>
            </a:r>
          </a:p>
          <a:p>
            <a:pPr/>
            <a:r>
              <a:rPr sz="1800" b="0">
                <a:solidFill>
                  <a:srgbClr val="333333"/>
                </a:solidFill>
                <a:latin typeface="微软雅黑"/>
              </a:rPr>
              <a:t>· 掌握 ORM技术的设计理念与核心价 的核心概念与方法</a:t>
            </a:r>
          </a:p>
          <a:p>
            <a:pPr/>
            <a:r>
              <a:rPr sz="1800" b="0">
                <a:solidFill>
                  <a:srgbClr val="333333"/>
                </a:solidFill>
                <a:latin typeface="微软雅黑"/>
              </a:rPr>
              <a:t>· 掌握 Repository模式的架构意义与实现策略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数据库持久化技术是企业级应用系统的数据管理核心，承担着将内存中的业务对象持久化到存储系统以及从存储系统重新构建对象的关键使命。在现代软件架构中，数据持久化已经从简单的数据存储演进为包含对象关系映射、事务管理、查询优化、缓存策略等多个维度的综合技术体系。特别是在水利监测管理系统这样的数据密集型应用中，高效、可靠的数据持久化技术直接决定了系统的性能表现和业务价值实现 从技术发展的历程来看，数据持久化经历了从原始的JDBC手工编程到现代ORM框架自动化映射的重要转变。这种转变不仅体现在开发效率的显著提升，更重要的是它代表了软件设计思想面向数据库编面向对象编程"</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传统JDBC编程模式的局限性分</a:t>
            </a:r>
          </a:p>
          <a:p>
            <a:pPr/>
            <a:r>
              <a:rPr sz="1600" b="0">
                <a:solidFill>
                  <a:srgbClr val="333333"/>
                </a:solidFill>
                <a:latin typeface="微软雅黑"/>
              </a:rPr>
              <a:t>· ORM技术的设计理念与核心价</a:t>
            </a:r>
          </a:p>
          <a:p>
            <a:pPr/>
            <a:r>
              <a:rPr sz="1600" b="0">
                <a:solidFill>
                  <a:srgbClr val="333333"/>
                </a:solidFill>
                <a:latin typeface="微软雅黑"/>
              </a:rPr>
              <a:t>· Repository模式的架构意义与实现策略</a:t>
            </a:r>
          </a:p>
          <a:p>
            <a:pPr/>
            <a:r>
              <a:rPr sz="1600" b="0">
                <a:solidFill>
                  <a:srgbClr val="333333"/>
                </a:solidFill>
                <a:latin typeface="微软雅黑"/>
              </a:rPr>
              <a:t>· 实体映射机制的设计原理与高级特</a:t>
            </a:r>
          </a:p>
          <a:p>
            <a:pPr/>
            <a:r>
              <a:rPr sz="1600" b="0">
                <a:solidFill>
                  <a:srgbClr val="333333"/>
                </a:solidFill>
                <a:latin typeface="微软雅黑"/>
              </a:rPr>
              <a:t>· 查询构建机制与性能优化策略</a:t>
            </a:r>
          </a:p>
          <a:p>
            <a:pPr/>
            <a:r>
              <a:rPr sz="1600" b="0">
                <a:solidFill>
                  <a:srgbClr val="333333"/>
                </a:solidFill>
                <a:latin typeface="微软雅黑"/>
              </a:rPr>
              <a:t>· 实体生命周期管理与回调机</a:t>
            </a:r>
          </a:p>
          <a:p>
            <a:pPr/>
            <a:r>
              <a:rPr sz="1600" b="0">
                <a:solidFill>
                  <a:srgbClr val="333333"/>
                </a:solidFill>
                <a:latin typeface="微软雅黑"/>
              </a:rPr>
              <a:t>· 声明式事务管理的实现原理与配置策</a:t>
            </a:r>
          </a:p>
          <a:p>
            <a:pPr/>
            <a:r>
              <a:rPr sz="1600" b="0">
                <a:solidFill>
                  <a:srgbClr val="333333"/>
                </a:solidFill>
                <a:latin typeface="微软雅黑"/>
              </a:rPr>
              <a:t>· 事务传播行为的深度理解与应用场景</a:t>
            </a:r>
          </a:p>
          <a:p>
            <a:pPr/>
            <a:r>
              <a:rPr sz="1600" b="0">
                <a:solidFill>
                  <a:srgbClr val="333333"/>
                </a:solidFill>
                <a:latin typeface="微软雅黑"/>
              </a:rPr>
              <a:t>· 分布式事务处理与数据一致性策</a:t>
            </a:r>
          </a:p>
          <a:p>
            <a:pPr/>
            <a:r>
              <a:rPr sz="1600" b="0">
                <a:solidFill>
                  <a:srgbClr val="333333"/>
                </a:solidFill>
                <a:latin typeface="微软雅黑"/>
              </a:rPr>
              <a:t>· 领域驱动的实体设计原</a:t>
            </a:r>
          </a:p>
          <a:p>
            <a:pPr/>
            <a:r>
              <a:rPr sz="1600" b="0">
                <a:solidFill>
                  <a:srgbClr val="333333"/>
                </a:solidFill>
                <a:latin typeface="微软雅黑"/>
              </a:rPr>
              <a:t>· 复杂关联关系的设计与优化</a:t>
            </a:r>
          </a:p>
          <a:p>
            <a:pPr/>
            <a:r>
              <a:rPr sz="1600" b="0">
                <a:solidFill>
                  <a:srgbClr val="333333"/>
                </a:solidFill>
                <a:latin typeface="微软雅黑"/>
              </a:rPr>
              <a:t>· 数据一致性与性能优化的平衡策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传统JDBC编程模式的局限性分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在企业级应用开发的早期阶段*JDBC（Java Database Connectivity?*是Java应用访问数据库的标准方式</a:t>
            </a:r>
          </a:p>
          <a:p>
            <a:pPr/>
            <a:r>
              <a:rPr sz="1500" b="0">
                <a:solidFill>
                  <a:srgbClr val="333333"/>
                </a:solidFill>
                <a:latin typeface="微软雅黑"/>
              </a:rPr>
              <a:t>· JDBC提供了一套底层的API，允许Java程序直接执行SQL语句并处理结果集</a:t>
            </a:r>
          </a:p>
          <a:p>
            <a:pPr/>
            <a:r>
              <a:rPr sz="1500" b="0">
                <a:solidFill>
                  <a:srgbClr val="333333"/>
                </a:solidFill>
                <a:latin typeface="微软雅黑"/>
              </a:rPr>
              <a:t>· 虽然JDBC具有接近数据库底层、性能控制精确等优势，但在复杂的企业应用开发中，其固有的设计局限性逐渐暴露出来 **样板代码冗余**是JDBC编程最突出的问题</a:t>
            </a:r>
          </a:p>
          <a:p>
            <a:pPr/>
            <a:r>
              <a:rPr sz="1500" b="0">
                <a:solidFill>
                  <a:srgbClr val="333333"/>
                </a:solidFill>
                <a:latin typeface="微软雅黑"/>
              </a:rPr>
              <a:t>· 每个数据库操作都需要编写大量的重复代码，包括连接获取、预处理语句创建、参数设置、结果集处理、资源释放等步骤</a:t>
            </a:r>
          </a:p>
          <a:p>
            <a:pPr/>
            <a:r>
              <a:rPr sz="1500" b="0">
                <a:solidFill>
                  <a:srgbClr val="333333"/>
                </a:solidFill>
                <a:latin typeface="微软雅黑"/>
              </a:rPr>
              <a:t>· 这种重复性的样板代码不仅增加了开发工作量，更重要的是它容易引入错误，特别是资源泄漏问题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ORM技术的设计理念与核心价</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**对象关系映射（Object-Relational Mapping，简称ORM?*技术的出现从根本上改变了应用程序与数据库交互的方式</a:t>
            </a:r>
          </a:p>
          <a:p>
            <a:pPr/>
            <a:r>
              <a:rPr sz="1500" b="0">
                <a:solidFill>
                  <a:srgbClr val="333333"/>
                </a:solidFill>
                <a:latin typeface="微软雅黑"/>
              </a:rPr>
              <a:t>· ORM的核心理念是在面向对象的程序设计语言与关系数据库之间建立一种映射关系，使得开发者能够使用面向对象的方式来操作数据库，而无需直接编写SQL语句</a:t>
            </a:r>
          </a:p>
          <a:p>
            <a:pPr/>
            <a:r>
              <a:rPr sz="1500" b="0">
                <a:solidFill>
                  <a:srgbClr val="333333"/>
                </a:solidFill>
                <a:latin typeface="微软雅黑"/>
              </a:rPr>
              <a:t>· 这种设计理念体现了软件架构*抽象化封*的重要思想 ORM技术的**核心价*体现在多个方面</a:t>
            </a:r>
          </a:p>
          <a:p>
            <a:pPr/>
            <a:r>
              <a:rPr sz="1500" b="0">
                <a:solidFill>
                  <a:srgbClr val="333333"/>
                </a:solidFill>
                <a:latin typeface="微软雅黑"/>
              </a:rPr>
              <a:t>· 首先，**开发效率提*是最直观的好处，开发者不再需要编写大量的样板代码，可以专注于业务逻辑的实现</a:t>
            </a:r>
          </a:p>
          <a:p>
            <a:pPr/>
            <a:r>
              <a:rPr sz="1500" b="0">
                <a:solidFill>
                  <a:srgbClr val="333333"/>
                </a:solidFill>
                <a:latin typeface="微软雅黑"/>
              </a:rPr>
              <a:t>· 其次，**可移植性增*使得应用程序能够更容易地在不同的数据库系统之间移植，ORM框架屏蔽了不同数据库之间的方言差异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Repository模式的架构意义与实现策略</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**Repository模式**是领域驱动设计（Domain-Driven Design，DDD）中的一个重要模式，它将数据访问逻辑封装在专门的存储库接口中，为业务层提供面向对象的数据访问方式</a:t>
            </a:r>
          </a:p>
          <a:p>
            <a:pPr/>
            <a:r>
              <a:rPr sz="1500" b="0">
                <a:solidFill>
                  <a:srgbClr val="333333"/>
                </a:solidFill>
                <a:latin typeface="微软雅黑"/>
              </a:rPr>
              <a:t>· Repository模式的核心思想是将数据持久化的复杂性隐藏在抽象接口之后，使业务层代码不需要关心具体的数据存储实现 Repository模式*架构意义**非常深远</a:t>
            </a:r>
          </a:p>
          <a:p>
            <a:pPr/>
            <a:r>
              <a:rPr sz="1500" b="0">
                <a:solidFill>
                  <a:srgbClr val="333333"/>
                </a:solidFill>
                <a:latin typeface="微软雅黑"/>
              </a:rPr>
              <a:t>· 首先，它实现了**业务逻辑与数据访问的完全分离**，业务层通过Repository接口操作数据，而不直接依赖具体的数据访问技术</a:t>
            </a:r>
          </a:p>
          <a:p>
            <a:pPr/>
            <a:r>
              <a:rPr sz="1500" b="0">
                <a:solidFill>
                  <a:srgbClr val="333333"/>
                </a:solidFill>
                <a:latin typeface="微软雅黑"/>
              </a:rPr>
              <a:t>· 这种分离使得业务逻辑更加纯粹，也便于单元测试的编写</a:t>
            </a:r>
          </a:p>
          <a:p>
            <a:pPr/>
            <a:r>
              <a:rPr sz="1500" b="0">
                <a:solidFill>
                  <a:srgbClr val="333333"/>
                </a:solidFill>
                <a:latin typeface="微软雅黑"/>
              </a:rPr>
              <a:t>· 其次，**抽象化的数据访问接口**提供了良好的扩展性，可以在不修改业务代码的情况下更换不同的数据存储实现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实体映射机制的设计原理与高级特</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Spring Data JPA的实体映射机制建立在JPA规范的基础之上，通过注解驱动的方式将Java对象与数据库表结构进行映射</a:t>
            </a:r>
          </a:p>
          <a:p>
            <a:pPr/>
            <a:r>
              <a:rPr sz="1500" b="0">
                <a:solidFill>
                  <a:srgbClr val="333333"/>
                </a:solidFill>
                <a:latin typeface="微软雅黑"/>
              </a:rPr>
              <a:t>· 这种映射不仅包括基本的字段对应关系，还涵盖了复杂的关联关系、继承层次、生命周期回调等高级特性</a:t>
            </a:r>
          </a:p>
          <a:p>
            <a:pPr/>
            <a:r>
              <a:rPr sz="1500" b="0">
                <a:solidFill>
                  <a:srgbClr val="333333"/>
                </a:solidFill>
                <a:latin typeface="微软雅黑"/>
              </a:rPr>
              <a:t>· 理解实体映射的工作原理对于构建高效、可维护的数据访问层至关重要 **基础映射注解**构成了实体映射的核心框架</a:t>
            </a:r>
          </a:p>
          <a:p>
            <a:pPr/>
            <a:r>
              <a:rPr sz="1500" b="0">
                <a:solidFill>
                  <a:srgbClr val="333333"/>
                </a:solidFill>
                <a:latin typeface="微软雅黑"/>
              </a:rPr>
              <a:t>· @Entity注解将普通的Java类标记为JPA实体，使其能够被持久化框架管理</a:t>
            </a:r>
          </a:p>
          <a:p>
            <a:pPr/>
            <a:r>
              <a:rPr sz="1500" b="0">
                <a:solidFill>
                  <a:srgbClr val="333333"/>
                </a:solidFill>
                <a:latin typeface="微软雅黑"/>
              </a:rPr>
              <a:t>· @Table注解提供了更精细的表级别控制，包括表名、约束、索引等配置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查询构建机制与性能优化策略</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Spring Data JPA提供了多层次的查询构建机制，从简单的方法名称约定到复杂的Criteria API，能够满足不同复杂度和性能要求的查询需求</a:t>
            </a:r>
          </a:p>
          <a:p>
            <a:pPr/>
            <a:r>
              <a:rPr sz="1500" b="0">
                <a:solidFill>
                  <a:srgbClr val="333333"/>
                </a:solidFill>
                <a:latin typeface="微软雅黑"/>
              </a:rPr>
              <a:t>· 理解这些查询机制的特点和适用场景，对于构建高效的数据访问层至关重要 **方法名称约定查询**是Spring Data JPA最具特色的功能之一，它通过解析Repository接口中方法的名称来自动生成相应的查询逻辑</a:t>
            </a:r>
          </a:p>
          <a:p>
            <a:pPr/>
            <a:r>
              <a:rPr sz="1500" b="0">
                <a:solidFill>
                  <a:srgbClr val="333333"/>
                </a:solidFill>
                <a:latin typeface="微软雅黑"/>
              </a:rPr>
              <a:t>· 这种约定基于一套精心设计的命名规则，包括查询类型（find、get、query、count等）、条件连接符（And、Or）、比较操作符（Like、Between、In等）、排序规则（OrderBy）等</a:t>
            </a:r>
          </a:p>
          <a:p>
            <a:pPr/>
            <a:r>
              <a:rPr sz="1500" b="0">
                <a:solidFill>
                  <a:srgbClr val="333333"/>
                </a:solidFill>
                <a:latin typeface="微软雅黑"/>
              </a:rPr>
              <a:t>· 方法名称约定查询的最大优势是简洁直观，开发者无需编写任何实现代码就能获得完整的查询功能 然而，方法名称约定查询也有其局限性，当查询逻辑变得复杂时，方法名称会变得冗长且难以理解</a:t>
            </a:r>
          </a:p>
          <a:p>
            <a:pPr/>
            <a:r>
              <a:rPr sz="1500" b="0">
                <a:solidFill>
                  <a:srgbClr val="333333"/>
                </a:solidFill>
                <a:latin typeface="微软雅黑"/>
              </a:rPr>
              <a:t>· 此时，**@Query注解自定义查*成为更好的选择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实体生命周期管理与回调机</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JPA实体具有完整的生命周期，从实体的创建、持久化、更新到删除，每个阶段都提供了相应的回调机制，允许开发者在特定的时机执行自定义逻辑</a:t>
            </a:r>
          </a:p>
          <a:p>
            <a:pPr/>
            <a:r>
              <a:rPr sz="1500" b="0">
                <a:solidFill>
                  <a:srgbClr val="333333"/>
                </a:solidFill>
                <a:latin typeface="微软雅黑"/>
              </a:rPr>
              <a:t>· 这些生命周期回调为实现审计日志、数据验证、状态管理、事件发布等横切关注点提供了便利的扩展点 **实体生命周期状*包括New（新建）、Managed（托管）、Detached（分离）、Removed（删除）四种状态</a:t>
            </a:r>
          </a:p>
          <a:p>
            <a:pPr/>
            <a:r>
              <a:rPr sz="1500" b="0">
                <a:solidFill>
                  <a:srgbClr val="333333"/>
                </a:solidFill>
                <a:latin typeface="微软雅黑"/>
              </a:rPr>
              <a:t>· 新建状态的实体尚未被持久化上下文管理</a:t>
            </a:r>
          </a:p>
          <a:p>
            <a:pPr/>
            <a:r>
              <a:rPr sz="1500" b="0">
                <a:solidFill>
                  <a:srgbClr val="333333"/>
                </a:solidFill>
                <a:latin typeface="微软雅黑"/>
              </a:rPr>
              <a:t>· 托管状态的实体处于持久化上下文的管理之下，其状态变化会被自动检测并同步到数据库</a:t>
            </a:r>
          </a:p>
          <a:p>
            <a:pPr/>
            <a:r>
              <a:rPr sz="1500" b="0">
                <a:solidFill>
                  <a:srgbClr val="333333"/>
                </a:solidFill>
                <a:latin typeface="微软雅黑"/>
              </a:rPr>
              <a:t>· 分离状态的实体曾经被持久化上下文管理，但当前不在管理范围内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数据库持久化技术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数据库持久化技术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数据库持久化技术 的基本概念。</a:t>
            </a:r>
          </a:p>
          <a:p>
            <a:pPr/>
            <a:r>
              <a:rPr sz="1400" b="0">
                <a:solidFill>
                  <a:srgbClr val="333333"/>
                </a:solidFill>
                <a:latin typeface="微软雅黑"/>
              </a:rPr>
              <a:t>· 分析 数据库持久化技术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5.4  数据库持久化技术</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数据库持久化技术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