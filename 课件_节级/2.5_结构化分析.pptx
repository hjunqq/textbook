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二 章   软件工程基础与需求分析</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2.5</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结构化分析</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自顶向下逐层分解 的核心概念与方法</a:t>
            </a:r>
          </a:p>
          <a:p>
            <a:pPr/>
            <a:r>
              <a:rPr sz="1800" b="0">
                <a:solidFill>
                  <a:srgbClr val="333333"/>
                </a:solidFill>
                <a:latin typeface="微软雅黑"/>
              </a:rPr>
              <a:t>· 掌握 结构化分析步 的核心概念与方法</a:t>
            </a:r>
          </a:p>
          <a:p>
            <a:pPr/>
            <a:r>
              <a:rPr sz="1800" b="0">
                <a:solidFill>
                  <a:srgbClr val="333333"/>
                </a:solidFill>
                <a:latin typeface="微软雅黑"/>
              </a:rPr>
              <a:t>· 掌握 系统流程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结构化分析（Structured Analysis，SA）是软件工程中一种传统的需求分析与系统设计方法，兴起于20世纪70年代，主要应用于瀑布模型开发流程。它以数据流为核心，通过分层分解的方式描述系统功能 **1.结构化分析的优势** ?）需求可视化 通过图形化建模（如DFD层层分解）帮助非技术人员理解复杂业务流程 示例：医院挂号系统中，“患者提交请求→系统验证→生成挂号单”的流程清晰可见 ?）模块化设计 将系统分解为“订单处理”“支付验证”等独立模块，降低开发复杂度。适用于团队分工明确的瀑布模型，例如大型电信计费系统开发 ?）文档标准化 生成严格的需求</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2.5.1 自顶向下逐层分解</a:t>
            </a:r>
          </a:p>
          <a:p>
            <a:pPr/>
            <a:r>
              <a:rPr sz="1600" b="0">
                <a:solidFill>
                  <a:srgbClr val="333333"/>
                </a:solidFill>
                <a:latin typeface="微软雅黑"/>
              </a:rPr>
              <a:t>· 2.5.2 结构化分析步</a:t>
            </a:r>
          </a:p>
          <a:p>
            <a:pPr/>
            <a:r>
              <a:rPr sz="1600" b="0">
                <a:solidFill>
                  <a:srgbClr val="333333"/>
                </a:solidFill>
                <a:latin typeface="微软雅黑"/>
              </a:rPr>
              <a:t>· 2.5.3 系统流程</a:t>
            </a:r>
          </a:p>
          <a:p>
            <a:pPr/>
            <a:r>
              <a:rPr sz="1600" b="0">
                <a:solidFill>
                  <a:srgbClr val="333333"/>
                </a:solidFill>
                <a:latin typeface="微软雅黑"/>
              </a:rPr>
              <a:t>· 2.5.4 数据流图</a:t>
            </a:r>
          </a:p>
          <a:p>
            <a:pPr/>
            <a:r>
              <a:rPr sz="1600" b="0">
                <a:solidFill>
                  <a:srgbClr val="333333"/>
                </a:solidFill>
                <a:latin typeface="微软雅黑"/>
              </a:rPr>
              <a:t>· 2.5.5 数据字典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2.5.1 自顶向下逐层分解</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在面对复杂系统时，试图同时考虑所有细节往往会导致分析陷入混乱</a:t>
            </a:r>
          </a:p>
          <a:p>
            <a:pPr/>
            <a:r>
              <a:rPr sz="1500" b="0">
                <a:solidFill>
                  <a:srgbClr val="333333"/>
                </a:solidFill>
                <a:latin typeface="微软雅黑"/>
              </a:rPr>
              <a:t>· 为了有效管理复杂性，自顶向下逐层分解成为一种关键策略</a:t>
            </a:r>
          </a:p>
          <a:p>
            <a:pPr/>
            <a:r>
              <a:rPr sz="1500" b="0">
                <a:solidFill>
                  <a:srgbClr val="333333"/>
                </a:solidFill>
                <a:latin typeface="微软雅黑"/>
              </a:rPr>
              <a:t>· 这种方法通过将复杂问题分解为更小、更易管理的部分，逐步降低问题的复杂性，使其更易于理解和处理</a:t>
            </a:r>
          </a:p>
          <a:p>
            <a:pPr/>
            <a:r>
              <a:rPr sz="1500" b="0">
                <a:solidFill>
                  <a:srgbClr val="333333"/>
                </a:solidFill>
                <a:latin typeface="微软雅黑"/>
              </a:rPr>
              <a:t>· 如-10所示是对一个问题的逐层分解 ![?2.1](../images/chapter02/image10.png) ?-10 对一个问题的逐层分解 分解的基本原理：自顶向下逐层分解的核心思想是从系统的最高层次开始，逐步深入到更具体的层次</a:t>
            </a:r>
          </a:p>
          <a:p>
            <a:pPr/>
            <a:r>
              <a:rPr sz="1500" b="0">
                <a:solidFill>
                  <a:srgbClr val="333333"/>
                </a:solidFill>
                <a:latin typeface="微软雅黑"/>
              </a:rPr>
              <a:t>· 首先，分析人员关注系统的整体功能和主要组成部分，忽略细节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2.5.2 结构化分析步</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结构化分析（Structured Analysis, SA）是一种系统化的需求分析方法，旨在通过分解复杂系统、定义数据流和处理逻辑，帮助开发团队清晰地理解系统需求并设计出高效的解决方案</a:t>
            </a:r>
          </a:p>
          <a:p>
            <a:pPr/>
            <a:r>
              <a:rPr sz="1500" b="0">
                <a:solidFill>
                  <a:srgbClr val="333333"/>
                </a:solidFill>
                <a:latin typeface="微软雅黑"/>
              </a:rPr>
              <a:t>· 其核心思想是通过图形化工具（如数据流图、数据字典等）将系统的功能、数据流和处理过程逐步细化，最终形成完整的需求规格说明书</a:t>
            </a:r>
          </a:p>
          <a:p>
            <a:pPr/>
            <a:r>
              <a:rPr sz="1500" b="0">
                <a:solidFill>
                  <a:srgbClr val="333333"/>
                </a:solidFill>
                <a:latin typeface="微软雅黑"/>
              </a:rPr>
              <a:t>· 以下是结构化分析的具体步骤 **1.建立现行系统的物理模* 现行系统是指当前正在运行的系统，可能是基于计算机的软件系统，也可能是人工处理系统</a:t>
            </a:r>
          </a:p>
          <a:p>
            <a:pPr/>
            <a:r>
              <a:rPr sz="1500" b="0">
                <a:solidFill>
                  <a:srgbClr val="333333"/>
                </a:solidFill>
                <a:latin typeface="微软雅黑"/>
              </a:rPr>
              <a:t>· 首先，需要对现行系统进行详细调查，收集相关信息和数据</a:t>
            </a:r>
          </a:p>
          <a:p>
            <a:pPr/>
            <a:r>
              <a:rPr sz="1500" b="0">
                <a:solidFill>
                  <a:srgbClr val="333333"/>
                </a:solidFill>
                <a:latin typeface="微软雅黑"/>
              </a:rPr>
              <a:t>· 通过观察和记录现行系统的工作流程，将其以图形或文字的形式描述出来，形成一个物理模型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2.5.3 系统流程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系统流程图（System Flowchart）是描述系统处理流程的传统工具，用于表示系统中各个组成部分之间的数据流动和处理过程</a:t>
            </a:r>
          </a:p>
          <a:p>
            <a:pPr/>
            <a:r>
              <a:rPr sz="1500" b="0">
                <a:solidFill>
                  <a:srgbClr val="333333"/>
                </a:solidFill>
                <a:latin typeface="微软雅黑"/>
              </a:rPr>
              <a:t>· 它通过图形符号以黑盒方式描述系统的每个部件，表达系统各部件间的流动情况，而不是对信息进行加工处理的控制过程 **1.系统流程图的作用** 系统流程图主要用于描述物理系统，即具体实现的系统</a:t>
            </a:r>
          </a:p>
          <a:p>
            <a:pPr/>
            <a:r>
              <a:rPr sz="1500" b="0">
                <a:solidFill>
                  <a:srgbClr val="333333"/>
                </a:solidFill>
                <a:latin typeface="微软雅黑"/>
              </a:rPr>
              <a:t>· 它可以帮助开发人员在可行性研究和需求分析阶段理解现行系统的处理流程、范围和功能，并为新系统的设计提供概貌</a:t>
            </a:r>
          </a:p>
          <a:p>
            <a:pPr/>
            <a:r>
              <a:rPr sz="1500" b="0">
                <a:solidFill>
                  <a:srgbClr val="333333"/>
                </a:solidFill>
                <a:latin typeface="微软雅黑"/>
              </a:rPr>
              <a:t>· 系统流程图不仅能用于可行性研究，还能用于需求分析阶段 **2.系统流程图的符号** 系统流程图由一系列图形符号组成，这些符号在不同的文献中可能有所不同，但通常包括以下几种 ?-1 系统流程图的符号 ?2.1 数据统计 | | | | | -</a:t>
            </a:r>
          </a:p>
          <a:p>
            <a:pPr/>
            <a:r>
              <a:rPr sz="1500" b="0">
                <a:solidFill>
                  <a:srgbClr val="333333"/>
                </a:solidFill>
                <a:latin typeface="微软雅黑"/>
              </a:rPr>
              <a:t>· 例程序模块、处理机等都是处| | ![?2.3 符号](../images/chapter02/image12.png) | 输入/输出 | 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2.5.4 数据流图</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 基本图形符号** 数据流图（DFD，Data Flow Diagram）是用来描述系统或过程中数据流动、处理过程和存储方式的一种图形化工具</a:t>
            </a:r>
          </a:p>
          <a:p>
            <a:pPr/>
            <a:r>
              <a:rPr sz="1500" b="0">
                <a:solidFill>
                  <a:srgbClr val="333333"/>
                </a:solidFill>
                <a:latin typeface="微软雅黑"/>
              </a:rPr>
              <a:t>· 它使用标准化的符号来表示不同的元素，具体如下： ?）过程（Process）：表示系统或子系统中的一个功能或操作</a:t>
            </a:r>
          </a:p>
          <a:p>
            <a:pPr/>
            <a:r>
              <a:rPr sz="1500" b="0">
                <a:solidFill>
                  <a:srgbClr val="333333"/>
                </a:solidFill>
                <a:latin typeface="微软雅黑"/>
              </a:rPr>
              <a:t>· 通常用圆形或椭圆形表示，过程是数据流的转化点，它接受输入数据并生成输出数据</a:t>
            </a:r>
          </a:p>
          <a:p>
            <a:pPr/>
            <a:r>
              <a:rPr sz="1500" b="0">
                <a:solidFill>
                  <a:srgbClr val="333333"/>
                </a:solidFill>
                <a:latin typeface="微软雅黑"/>
              </a:rPr>
              <a:t>· 符号示例：或椭圆形 ?）数据流（Data Flow）：表示数据在系统中流动的路径</a:t>
            </a:r>
          </a:p>
          <a:p>
            <a:pPr/>
            <a:r>
              <a:rPr sz="1500" b="0">
                <a:solidFill>
                  <a:srgbClr val="333333"/>
                </a:solidFill>
                <a:latin typeface="微软雅黑"/>
              </a:rPr>
              <a:t>· 它通常用带箭头的直线表示，箭头指示数据流动的方向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2.5.5 数据字典</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数据字典（Data Dictionary, DD）是软件工程中用于定义和描述数据流图中所有元素的详细信息的工具</a:t>
            </a:r>
          </a:p>
          <a:p>
            <a:pPr/>
            <a:r>
              <a:rPr sz="1500" b="0">
                <a:solidFill>
                  <a:srgbClr val="333333"/>
                </a:solidFill>
                <a:latin typeface="微软雅黑"/>
              </a:rPr>
              <a:t>· 它是数据流图的重要组成部分，用于补充和细化数据流图中的数据流、数据存储、数据项和加工等元素的定义</a:t>
            </a:r>
          </a:p>
          <a:p>
            <a:pPr/>
            <a:r>
              <a:rPr sz="1500" b="0">
                <a:solidFill>
                  <a:srgbClr val="333333"/>
                </a:solidFill>
                <a:latin typeface="微软雅黑"/>
              </a:rPr>
              <a:t>· 数据字典的主要作用是为开发人员、用户和其他相关人员提供一个统一的、无二义性的数据定义和描述，确保系统中的数据元素能够被准确理解和一致使用 数据字典通常包含四类条目：数据流条目、数据项条目、数据存储条目和加工条目</a:t>
            </a:r>
          </a:p>
          <a:p>
            <a:pPr/>
            <a:r>
              <a:rPr sz="1500" b="0">
                <a:solidFill>
                  <a:srgbClr val="333333"/>
                </a:solidFill>
                <a:latin typeface="微软雅黑"/>
              </a:rPr>
              <a:t>· 数据流条目用于定义数据流图中流动的数据，描述其组成、来源和去向</a:t>
            </a:r>
          </a:p>
          <a:p>
            <a:pPr/>
            <a:r>
              <a:rPr sz="1500" b="0">
                <a:solidFill>
                  <a:srgbClr val="333333"/>
                </a:solidFill>
                <a:latin typeface="微软雅黑"/>
              </a:rPr>
              <a:t>· 数据项条目用于定义数据流或数据存储中的最小数据单元，描述其类型、长度、取值范围等</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结构化分析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结构化分析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结构化分析 的基本概念。</a:t>
            </a:r>
          </a:p>
          <a:p>
            <a:pPr/>
            <a:r>
              <a:rPr sz="1400" b="0">
                <a:solidFill>
                  <a:srgbClr val="333333"/>
                </a:solidFill>
                <a:latin typeface="微软雅黑"/>
              </a:rPr>
              <a:t>· 分析 结构化分析 在智慧水利系统中的作用。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2.5  结构化分析</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结构化分析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