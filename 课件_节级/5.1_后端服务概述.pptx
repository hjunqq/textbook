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五 章   后端开发技术</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5.1</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后端服务概述</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5.1  后端服务概述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水利系统中后端服务的特殊价 的核心概念与方法</a:t>
            </a:r>
          </a:p>
          <a:p>
            <a:pPr/>
            <a:r>
              <a:rPr sz="1800" b="0">
                <a:solidFill>
                  <a:srgbClr val="333333"/>
                </a:solidFill>
                <a:latin typeface="微软雅黑"/>
              </a:rPr>
              <a:t>· 掌握 后端服务的本质理 的核心概念与方法</a:t>
            </a:r>
          </a:p>
          <a:p>
            <a:pPr/>
            <a:r>
              <a:rPr sz="1800" b="0">
                <a:solidFill>
                  <a:srgbClr val="333333"/>
                </a:solidFill>
                <a:latin typeface="微软雅黑"/>
              </a:rPr>
              <a:t>· 掌握 分层架构的设计哲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5.1  后端服务概述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 学习目标 通过本节学习，学生应能够 1. 理解后端服务的基本概念和在水利系统中的重要作 2. 掌握后端架构的发展历程和分层设计思想 3. 了解HTTP协议的工作原理和在数据传输中的应 4. 具备选择合适Web框架的基本能 ## 引言 **后端服务（Backend Service?*是现代Web应用的核心引擎，负责处理业务逻辑、管理数据存储、提供API接口等关键功能。在水利监测系统中，后端服务承担着更为重要的使命——它不仅要实时处理来自水位计、流量计等传感器设备的海量监测数据，还要执行复杂的水文计算、支持多级用户权限管理，并与现有的水利信息系统实现无</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水利系统中后端服务的特殊价</a:t>
            </a:r>
          </a:p>
          <a:p>
            <a:pPr/>
            <a:r>
              <a:rPr sz="1600" b="0">
                <a:solidFill>
                  <a:srgbClr val="333333"/>
                </a:solidFill>
                <a:latin typeface="微软雅黑"/>
              </a:rPr>
              <a:t>· 后端服务的本质理</a:t>
            </a:r>
          </a:p>
          <a:p>
            <a:pPr/>
            <a:r>
              <a:rPr sz="1600" b="0">
                <a:solidFill>
                  <a:srgbClr val="333333"/>
                </a:solidFill>
                <a:latin typeface="微软雅黑"/>
              </a:rPr>
              <a:t>· 分层架构的设计哲</a:t>
            </a:r>
          </a:p>
          <a:p>
            <a:pPr/>
            <a:r>
              <a:rPr sz="1600" b="0">
                <a:solidFill>
                  <a:srgbClr val="333333"/>
                </a:solidFill>
                <a:latin typeface="微软雅黑"/>
              </a:rPr>
              <a:t>· 架构演进的历史脉</a:t>
            </a:r>
          </a:p>
          <a:p>
            <a:pPr/>
            <a:r>
              <a:rPr sz="1600" b="0">
                <a:solidFill>
                  <a:srgbClr val="333333"/>
                </a:solidFill>
                <a:latin typeface="微软雅黑"/>
              </a:rPr>
              <a:t>· 分层架构设计原理</a:t>
            </a:r>
          </a:p>
          <a:p>
            <a:pPr/>
            <a:r>
              <a:rPr sz="1600" b="0">
                <a:solidFill>
                  <a:srgbClr val="333333"/>
                </a:solidFill>
                <a:latin typeface="微软雅黑"/>
              </a:rPr>
              <a:t>· 软件架构的演进历</a:t>
            </a:r>
          </a:p>
          <a:p>
            <a:pPr/>
            <a:r>
              <a:rPr sz="1600" b="0">
                <a:solidFill>
                  <a:srgbClr val="333333"/>
                </a:solidFill>
                <a:latin typeface="微软雅黑"/>
              </a:rPr>
              <a:t>· Web框架在现代应用开发中的作</a:t>
            </a:r>
          </a:p>
          <a:p>
            <a:pPr/>
            <a:r>
              <a:rPr sz="1600" b="0">
                <a:solidFill>
                  <a:srgbClr val="333333"/>
                </a:solidFill>
                <a:latin typeface="微软雅黑"/>
              </a:rPr>
              <a:t>· 主流技术栈的特点与适用场景</a:t>
            </a:r>
          </a:p>
          <a:p>
            <a:pPr/>
            <a:r>
              <a:rPr sz="1600" b="0">
                <a:solidFill>
                  <a:srgbClr val="333333"/>
                </a:solidFill>
                <a:latin typeface="微软雅黑"/>
              </a:rPr>
              <a:t>· 技术选型的决策考量</a:t>
            </a:r>
          </a:p>
          <a:p>
            <a:pPr/>
            <a:r>
              <a:rPr sz="1600" b="0">
                <a:solidFill>
                  <a:srgbClr val="333333"/>
                </a:solidFill>
                <a:latin typeface="微软雅黑"/>
              </a:rPr>
              <a:t>· 混合技术架构的实践价</a:t>
            </a:r>
          </a:p>
          <a:p>
            <a:pPr/>
            <a:r>
              <a:rPr sz="1600" b="0">
                <a:solidFill>
                  <a:srgbClr val="333333"/>
                </a:solidFill>
                <a:latin typeface="微软雅黑"/>
              </a:rPr>
              <a:t>· HTTP协议的基础概念与重要</a:t>
            </a:r>
          </a:p>
          <a:p>
            <a:pPr/>
            <a:r>
              <a:rPr sz="1600" b="0">
                <a:solidFill>
                  <a:srgbClr val="333333"/>
                </a:solidFill>
                <a:latin typeface="微软雅黑"/>
              </a:rPr>
              <a:t>· HTTP方法在水利系统中的实际应</a:t>
            </a:r>
          </a:p>
          <a:p>
            <a:pPr/>
            <a:r>
              <a:rPr sz="1600" b="0">
                <a:solidFill>
                  <a:srgbClr val="333333"/>
                </a:solidFill>
                <a:latin typeface="微软雅黑"/>
              </a:rPr>
              <a:t>· 循序渐进的HTTP实践</a:t>
            </a:r>
          </a:p>
          <a:p>
            <a:pPr/>
            <a:r>
              <a:rPr sz="1600" b="0">
                <a:solidFill>
                  <a:srgbClr val="333333"/>
                </a:solidFill>
                <a:latin typeface="微软雅黑"/>
              </a:rPr>
              <a:t>· HTTP协议的基本原</a:t>
            </a:r>
          </a:p>
          <a:p>
            <a:pPr/>
            <a:r>
              <a:rPr sz="1600" b="0">
                <a:solidFill>
                  <a:srgbClr val="333333"/>
                </a:solidFill>
                <a:latin typeface="微软雅黑"/>
              </a:rPr>
              <a:t>· HTTP消息格式规范</a:t>
            </a:r>
          </a:p>
          <a:p>
            <a:pPr/>
            <a:r>
              <a:rPr sz="1600" b="0">
                <a:solidFill>
                  <a:srgbClr val="333333"/>
                </a:solidFill>
                <a:latin typeface="微软雅黑"/>
              </a:rPr>
              <a:t>· HTTP方法语义与应</a:t>
            </a:r>
          </a:p>
          <a:p>
            <a:pPr/>
            <a:r>
              <a:rPr sz="1600" b="0">
                <a:solidFill>
                  <a:srgbClr val="333333"/>
                </a:solidFill>
                <a:latin typeface="微软雅黑"/>
              </a:rPr>
              <a:t>· 静态网站的技术特点与应用场景</a:t>
            </a:r>
          </a:p>
          <a:p>
            <a:pPr/>
            <a:r>
              <a:rPr sz="1600" b="0">
                <a:solidFill>
                  <a:srgbClr val="333333"/>
                </a:solidFill>
                <a:latin typeface="微软雅黑"/>
              </a:rPr>
              <a:t>· 动态网站的实现机制与技术架</a:t>
            </a:r>
          </a:p>
          <a:p>
            <a:pPr/>
            <a:r>
              <a:rPr sz="1600" b="0">
                <a:solidFill>
                  <a:srgbClr val="333333"/>
                </a:solidFill>
                <a:latin typeface="微软雅黑"/>
              </a:rPr>
              <a:t>· 混合架构的现代实</a:t>
            </a:r>
          </a:p>
          <a:p>
            <a:pPr/>
            <a:r>
              <a:rPr sz="1600" b="0">
                <a:solidFill>
                  <a:srgbClr val="333333"/>
                </a:solidFill>
                <a:latin typeface="微软雅黑"/>
              </a:rPr>
              <a:t>· 框架的价值与作用机制</a:t>
            </a:r>
          </a:p>
          <a:p>
            <a:pPr/>
            <a:r>
              <a:rPr sz="1600" b="0">
                <a:solidFill>
                  <a:srgbClr val="333333"/>
                </a:solidFill>
                <a:latin typeface="微软雅黑"/>
              </a:rPr>
              <a:t>· Spring Boot框架深度解析</a:t>
            </a:r>
          </a:p>
          <a:p>
            <a:pPr/>
            <a:r>
              <a:rPr sz="1600" b="0">
                <a:solidFill>
                  <a:srgbClr val="333333"/>
                </a:solidFill>
                <a:latin typeface="微软雅黑"/>
              </a:rPr>
              <a:t>· Servlet技术基础与现代演</a:t>
            </a:r>
          </a:p>
          <a:p>
            <a:pPr/>
            <a:r>
              <a:rPr sz="1600" b="0">
                <a:solidFill>
                  <a:srgbClr val="333333"/>
                </a:solidFill>
                <a:latin typeface="微软雅黑"/>
              </a:rPr>
              <a:t>· 核心知识点回</a:t>
            </a:r>
          </a:p>
          <a:p>
            <a:pPr/>
            <a:r>
              <a:rPr sz="1600" b="0">
                <a:solidFill>
                  <a:srgbClr val="333333"/>
                </a:solidFill>
                <a:latin typeface="微软雅黑"/>
              </a:rPr>
              <a:t>· 学习路径建议</a:t>
            </a:r>
          </a:p>
          <a:p>
            <a:pPr/>
            <a:r>
              <a:rPr sz="1600" b="0">
                <a:solidFill>
                  <a:srgbClr val="333333"/>
                </a:solidFill>
                <a:latin typeface="微软雅黑"/>
              </a:rPr>
              <a:t>· 常见问题与解决方</a:t>
            </a:r>
          </a:p>
          <a:p>
            <a:pPr/>
            <a:r>
              <a:rPr sz="1600" b="0">
                <a:solidFill>
                  <a:srgbClr val="333333"/>
                </a:solidFill>
                <a:latin typeface="微软雅黑"/>
              </a:rPr>
              <a:t>· 下节预告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5.1  后端服务概述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水利系统中后端服务的特殊价</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在传统的企业级应用中，后端服务主要处理用户管理、订单处理等相对简单的业务逻辑</a:t>
            </a:r>
          </a:p>
          <a:p>
            <a:pPr/>
            <a:r>
              <a:rPr sz="1500" b="0">
                <a:solidFill>
                  <a:srgbClr val="333333"/>
                </a:solidFill>
                <a:latin typeface="微软雅黑"/>
              </a:rPr>
              <a:t>· 而在水利监测系统中，后端服务面临着更加复杂和苛刻的要求 **数据处理的复杂*：监测数据具有时序性强、精度要求高的特点，需要进行实时验证、异常检测和质量控制 **业务场景的多样*：系统需要同时支持实时监测、历史数据查询、预警分析、报表生成等多</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5.1  后端服务概述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后端服务的本质理</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在开始深入学习后端开发技术之前，我们需要从根本上理解什么是后端服务，以及它在整个应用系统中扮演什么样的角色</a:t>
            </a:r>
          </a:p>
          <a:p>
            <a:pPr/>
            <a:r>
              <a:rPr sz="1500" b="0">
                <a:solidFill>
                  <a:srgbClr val="333333"/>
                </a:solidFill>
                <a:latin typeface="微软雅黑"/>
              </a:rPr>
              <a:t>· 想象一下，如果把一个完整的Web应用比作一家餐厅，那么前端就像是餐厅的门面和服务员，负责与客人交互、展示菜品、接收订单</a:t>
            </a:r>
          </a:p>
          <a:p>
            <a:pPr/>
            <a:r>
              <a:rPr sz="1500" b="0">
                <a:solidFill>
                  <a:srgbClr val="333333"/>
                </a:solidFill>
                <a:latin typeface="微软雅黑"/>
              </a:rPr>
              <a:t>· 而后端则像是餐厅的厨房，负责处理订单、烹饪菜品、管理食材库存</a:t>
            </a:r>
          </a:p>
          <a:p>
            <a:pPr/>
            <a:r>
              <a:rPr sz="1500" b="0">
                <a:solidFill>
                  <a:srgbClr val="333333"/>
                </a:solidFill>
                <a:latin typeface="微软雅黑"/>
              </a:rPr>
              <a:t>· 虽然客人看不到厨房的运作，但厨房的工作质量直接决定了餐厅的服务水平 **后端服务**本质上是运行在服务器端的程序组件，它隐藏在用户界面的背后，专门负责处理复杂的业务逻辑、管理数据存储、提供API接口等核心功能</a:t>
            </a:r>
          </a:p>
          <a:p>
            <a:pPr/>
            <a:r>
              <a:rPr sz="1500" b="0">
                <a:solidFill>
                  <a:srgbClr val="333333"/>
                </a:solidFill>
                <a:latin typeface="微软雅黑"/>
              </a:rPr>
              <a:t>· 与前端注重用户体验和界面交互不同，后端更关注数据的准确性、处理的高效性和系统的稳定性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5.1  后端服务概述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分层架构的设计哲</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随着软件系统复杂度的不断增加，如何组织和管理代码变得越来越重要</a:t>
            </a:r>
          </a:p>
          <a:p>
            <a:pPr/>
            <a:r>
              <a:rPr sz="1500" b="0">
                <a:solidFill>
                  <a:srgbClr val="333333"/>
                </a:solidFill>
                <a:latin typeface="微软雅黑"/>
              </a:rPr>
              <a:t>· 想象一下建造一栋摩天大楼，我们不会把所有的功能都混在一起，而是会将不同的功能分配到不同的楼层：底层是基础设施，中间层是办公区域，顶层是休闲娱乐区</a:t>
            </a:r>
          </a:p>
          <a:p>
            <a:pPr/>
            <a:r>
              <a:rPr sz="1500" b="0">
                <a:solidFill>
                  <a:srgbClr val="333333"/>
                </a:solidFill>
                <a:latin typeface="微软雅黑"/>
              </a:rPr>
              <a:t>· 软件架构的分层设计也遵循同样的思路 **分层架构（Layered Architecture?*是现代软件系统设计的基础模式，它将复杂的系统功能按照职责进行垂直分层，每一层都有明确的职责和边界</a:t>
            </a:r>
          </a:p>
          <a:p>
            <a:pPr/>
            <a:r>
              <a:rPr sz="1500" b="0">
                <a:solidFill>
                  <a:srgbClr val="333333"/>
                </a:solidFill>
                <a:latin typeface="微软雅黑"/>
              </a:rPr>
              <a:t>· 这种设计方法的核心思想*关注点分离（Separation of Concerns?*，即每一层只关注特定的功能，不同层次之间通过明确的接口进行通信 在水利监测系统中，分层架构的价值更加明显</a:t>
            </a:r>
          </a:p>
          <a:p>
            <a:pPr/>
            <a:r>
              <a:rPr sz="1500" b="0">
                <a:solidFill>
                  <a:srgbClr val="333333"/>
                </a:solidFill>
                <a:latin typeface="微软雅黑"/>
              </a:rPr>
              <a:t>· 水利业务具有数据量大、业务逻辑复杂、安全要求高等特点，如果不采用合理的架构设计，系统很容易变得混乱和难以维护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5.1  后端服务概述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架构演进的历史脉</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理解现代后端架构的发展历程，有助于我们更好地把握架构设计的本质和趋势</a:t>
            </a:r>
          </a:p>
          <a:p>
            <a:pPr/>
            <a:r>
              <a:rPr sz="1500" b="0">
                <a:solidFill>
                  <a:srgbClr val="333333"/>
                </a:solidFill>
                <a:latin typeface="微软雅黑"/>
              </a:rPr>
              <a:t>· 软件架构的演进往往反映了业务复杂度增长和技术能力提升的双重驱动 在早期的Web开发中，应用通常采用**单体架构（Monolithic Architecture?*</a:t>
            </a:r>
          </a:p>
          <a:p>
            <a:pPr/>
            <a:r>
              <a:rPr sz="1500" b="0">
                <a:solidFill>
                  <a:srgbClr val="333333"/>
                </a:solidFill>
                <a:latin typeface="微软雅黑"/>
              </a:rPr>
              <a:t>· 想象一下传统的图书馆，所有的书籍都存放在一个大建筑里，读者、管理员、图书分类、借还系统都在同一个空间中运作</a:t>
            </a:r>
          </a:p>
          <a:p>
            <a:pPr/>
            <a:r>
              <a:rPr sz="1500" b="0">
                <a:solidFill>
                  <a:srgbClr val="333333"/>
                </a:solidFill>
                <a:latin typeface="微软雅黑"/>
              </a:rPr>
              <a:t>· 单体架构就是这样的模式：所有的功能模块都打包在一个应用程序中，共享同一个数据库，部署时作为一个整体进行发布 对于中小型的水利监测项目，单体架构仍然是一个不错的选择</a:t>
            </a:r>
          </a:p>
          <a:p>
            <a:pPr/>
            <a:r>
              <a:rPr sz="1500" b="0">
                <a:solidFill>
                  <a:srgbClr val="333333"/>
                </a:solidFill>
                <a:latin typeface="微软雅黑"/>
              </a:rPr>
              <a:t>· 它具有**开发简单、部署方便、调试容*等优点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5.1  后端服务概述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分层架构设计原理</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在软件系统的发展历程中，**分层架构（Layered Architecture?*逐渐成为现代软件设计的基础模式</a:t>
            </a:r>
          </a:p>
          <a:p>
            <a:pPr/>
            <a:r>
              <a:rPr sz="1500" b="0">
                <a:solidFill>
                  <a:srgbClr val="333333"/>
                </a:solidFill>
                <a:latin typeface="微软雅黑"/>
              </a:rPr>
              <a:t>· 这种设计思想并不是凭空产生的，而是在解决复杂软件系统开发和维护问题的过程中，逐步形成和完善的 想象我们要建造一座现代化的办公大楼，建筑师会按功能将不同楼层进行规划：地下一层是停车场和设备机房，一楼是大厅和接待区，二到五楼是办公区域，顶楼是会</a:t>
            </a:r>
          </a:p>
          <a:p>
            <a:pPr/>
            <a:r>
              <a:rPr sz="1500" b="0">
                <a:solidFill>
                  <a:srgbClr val="333333"/>
                </a:solidFill>
                <a:latin typeface="微软雅黑"/>
              </a:rPr>
              <a:t>· 每层都有明确的功能定位，层与层之间通过电梯和楼梯连接</a:t>
            </a:r>
          </a:p>
          <a:p>
            <a:pPr/>
            <a:r>
              <a:rPr sz="1500" b="0">
                <a:solidFill>
                  <a:srgbClr val="333333"/>
                </a:solidFill>
                <a:latin typeface="微软雅黑"/>
              </a:rPr>
              <a:t>· 这种垂直分层的设计思想，正是软件分层架构的核心理念 **分层架构将复杂的系统功能按照职责进行垂直分层，每层只关注特定的技术领域和业务职责*这种设计方式的根本价值在于将复杂问题分解为多个相对简单的子问题，使得开发人员可以专注于某一层的技术细节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5.1  后端服务概述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软件架构的演进历</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理解软件架构的发展历程，有助于我们更好地把握现代后端系统设计的本质</a:t>
            </a:r>
          </a:p>
          <a:p>
            <a:pPr/>
            <a:r>
              <a:rPr sz="1500" b="0">
                <a:solidFill>
                  <a:srgbClr val="333333"/>
                </a:solidFill>
                <a:latin typeface="微软雅黑"/>
              </a:rPr>
              <a:t>· 软件架构的每一次重大变革，都反映了业务复杂度增长和技术能力提升的双重推动 #### 单体架构时代的兴起与局 在Web应用发展的早期，**单体架构（Monolithic Architecture?*是最自然和直观的选择</a:t>
            </a:r>
          </a:p>
          <a:p>
            <a:pPr/>
            <a:r>
              <a:rPr sz="1500" b="0">
                <a:solidFill>
                  <a:srgbClr val="333333"/>
                </a:solidFill>
                <a:latin typeface="微软雅黑"/>
              </a:rPr>
              <a:t>· 就像传统的家庭作坊，所有的生产活动都在一个地方完成：原材料进来，产品出去，所有的工序都在同一个车间里进行 单体架构将所有的功能模块打包在一个应用程序中，共享同一个数据库，部署时作为一个整体进行发布</a:t>
            </a:r>
          </a:p>
          <a:p>
            <a:pPr/>
            <a:r>
              <a:rPr sz="1500" b="0">
                <a:solidFill>
                  <a:srgbClr val="333333"/>
                </a:solidFill>
                <a:latin typeface="微软雅黑"/>
              </a:rPr>
              <a:t>· 对于中小型的水利监测项目，这种架构模式具有显著的优势：**开发简*，因为所有代码都在一个项目中，开发人员无需处理复杂的服务间通信*部署方便**，只需要部署一个应用包，运维复杂度较低*调试容易**，所有的日志和错误信息都集中在一个应用中，问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5.1  后端服务概述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后端服务概述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后端服务概述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5.1  后端服务概述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**基础练习**：创建一个简单的水位查询API</a:t>
            </a:r>
          </a:p>
          <a:p>
            <a:pPr/>
            <a:r>
              <a:rPr sz="1400" b="0">
                <a:solidFill>
                  <a:srgbClr val="333333"/>
                </a:solidFill>
                <a:latin typeface="微软雅黑"/>
              </a:rPr>
              <a:t>· **进阶练习**：实现监测站管理功能（增删改查）</a:t>
            </a:r>
          </a:p>
          <a:p>
            <a:pPr/>
            <a:r>
              <a:rPr sz="1400" b="0">
                <a:solidFill>
                  <a:srgbClr val="333333"/>
                </a:solidFill>
                <a:latin typeface="微软雅黑"/>
              </a:rPr>
              <a:t>· **高级练习**：集成数据库和缓存，实现完整的后端服</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5.1  后端服务概述</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后端服务概述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