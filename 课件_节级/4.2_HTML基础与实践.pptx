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0"/>
            <a:ext cx="12191695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7744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DDEBF7"/>
                </a:solidFill>
                <a:latin typeface="微软雅黑"/>
              </a:rPr>
              <a:t>第 四 章   前端开发技术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92608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200" b="1">
                <a:solidFill>
                  <a:srgbClr val="FFFFFF"/>
                </a:solidFill>
                <a:latin typeface="微软雅黑"/>
              </a:rPr>
              <a:t>4.2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29768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微软雅黑"/>
              </a:rPr>
              <a:t>HTML基础与实践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DDEBF7"/>
                </a:solidFill>
                <a:latin typeface="微软雅黑"/>
              </a:rPr>
              <a:t>河海大学 · 水利水电学院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4.2  HTML基础与实践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学习目标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333333"/>
                </a:solidFill>
                <a:latin typeface="微软雅黑"/>
              </a:rPr>
              <a:t>通过本节学习，学生应能够：</a:t>
            </a:r>
          </a:p>
          <a:p>
            <a:pPr/>
            <a:r>
              <a:rPr sz="1800" b="0">
                <a:solidFill>
                  <a:srgbClr val="333333"/>
                </a:solidFill>
                <a:latin typeface="微软雅黑"/>
              </a:rPr>
              <a:t>· 掌握 什么是HTML 的核心概念与方法</a:t>
            </a:r>
          </a:p>
          <a:p>
            <a:pPr/>
            <a:r>
              <a:rPr sz="1800" b="0">
                <a:solidFill>
                  <a:srgbClr val="333333"/>
                </a:solidFill>
                <a:latin typeface="微软雅黑"/>
              </a:rPr>
              <a:t>· 掌握 HTML文档的基本结 的核心概念与方法</a:t>
            </a:r>
          </a:p>
          <a:p>
            <a:pPr/>
            <a:r>
              <a:rPr sz="1800" b="0">
                <a:solidFill>
                  <a:srgbClr val="333333"/>
                </a:solidFill>
                <a:latin typeface="微软雅黑"/>
              </a:rPr>
              <a:t>· 掌握 HTML元素和标 的核心概念与方法</a:t>
            </a:r>
          </a:p>
          <a:p>
            <a:pPr/>
            <a:r>
              <a:rPr sz="1800" b="0">
                <a:solidFill>
                  <a:srgbClr val="333333"/>
                </a:solidFill>
                <a:latin typeface="微软雅黑"/>
              </a:rPr>
              <a:t>· 能够结合智慧水利平台需求，应用本节内容进行分析与设计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446520"/>
            <a:ext cx="1161288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微软雅黑"/>
              </a:rPr>
              <a:t>河海大学 · 水利水电学院    第 2 / 0 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4.2  HTML基础与实践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本节知识图谱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95959"/>
                </a:solidFill>
                <a:latin typeface="微软雅黑"/>
              </a:rPr>
              <a:t>HTML（HyperText Markup Language，超文本标记语言）是构建Web页面内容结构的基础技术。作为Web技术三要素之一，HTML负责定义网页的内容组织方式和语义结构，为CSS样式设计和JavaScript交互功能提供基础框架。在智慧水利平台开发中，掌握HTML技术不仅能够帮助我们构建清晰的页面结构，更能通过语义化标签提升应用的可访问性、搜索引擎友好性和代码维护性 HTML5作为HTML的最新标准，引入了许多新特性和改进，特别是在语义化标签、表单功能、多媒体支持和图形处理方面的增强，为现代Web应用开发提供了更强大的基础能力。本节将系统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657600"/>
            <a:ext cx="111556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03C71"/>
                </a:solidFill>
                <a:latin typeface="微软雅黑"/>
              </a:rPr>
              <a:t>本节主要内容：</a:t>
            </a:r>
          </a:p>
          <a:p>
            <a:pPr/>
            <a:r>
              <a:rPr sz="1600" b="0">
                <a:solidFill>
                  <a:srgbClr val="333333"/>
                </a:solidFill>
                <a:latin typeface="微软雅黑"/>
              </a:rPr>
              <a:t>· 什么是HTML</a:t>
            </a:r>
          </a:p>
          <a:p>
            <a:pPr/>
            <a:r>
              <a:rPr sz="1600" b="0">
                <a:solidFill>
                  <a:srgbClr val="333333"/>
                </a:solidFill>
                <a:latin typeface="微软雅黑"/>
              </a:rPr>
              <a:t>· HTML文档的基本结</a:t>
            </a:r>
          </a:p>
          <a:p>
            <a:pPr/>
            <a:r>
              <a:rPr sz="1600" b="0">
                <a:solidFill>
                  <a:srgbClr val="333333"/>
                </a:solidFill>
                <a:latin typeface="微软雅黑"/>
              </a:rPr>
              <a:t>· HTML元素和标</a:t>
            </a:r>
          </a:p>
          <a:p>
            <a:pPr/>
            <a:r>
              <a:rPr sz="1600" b="0">
                <a:solidFill>
                  <a:srgbClr val="333333"/>
                </a:solidFill>
                <a:latin typeface="微软雅黑"/>
              </a:rPr>
              <a:t>· HTML属</a:t>
            </a:r>
          </a:p>
          <a:p>
            <a:pPr/>
            <a:r>
              <a:rPr sz="1600" b="0">
                <a:solidFill>
                  <a:srgbClr val="333333"/>
                </a:solidFill>
                <a:latin typeface="微软雅黑"/>
              </a:rPr>
              <a:t>· HTML语法规则</a:t>
            </a:r>
          </a:p>
          <a:p>
            <a:pPr/>
            <a:r>
              <a:rPr sz="1600" b="0">
                <a:solidFill>
                  <a:srgbClr val="333333"/>
                </a:solidFill>
                <a:latin typeface="微软雅黑"/>
              </a:rPr>
              <a:t>· 语义化标签详细讲</a:t>
            </a:r>
          </a:p>
          <a:p>
            <a:pPr/>
            <a:r>
              <a:rPr sz="1600" b="0">
                <a:solidFill>
                  <a:srgbClr val="333333"/>
                </a:solidFill>
                <a:latin typeface="微软雅黑"/>
              </a:rPr>
              <a:t>· HTML5表单输入类型详细讲解</a:t>
            </a:r>
          </a:p>
          <a:p>
            <a:pPr/>
            <a:r>
              <a:rPr sz="1600" b="0">
                <a:solidFill>
                  <a:srgbClr val="333333"/>
                </a:solidFill>
                <a:latin typeface="微软雅黑"/>
              </a:rPr>
              <a:t>· 表单分组和验证示</a:t>
            </a:r>
          </a:p>
          <a:p>
            <a:pPr/>
            <a:r>
              <a:rPr sz="1600" b="0">
                <a:solidFill>
                  <a:srgbClr val="333333"/>
                </a:solidFill>
                <a:latin typeface="微软雅黑"/>
              </a:rPr>
              <a:t>· HTML5多媒体标签详</a:t>
            </a:r>
          </a:p>
          <a:p>
            <a:pPr/>
            <a:r>
              <a:rPr sz="1600" b="0">
                <a:solidFill>
                  <a:srgbClr val="333333"/>
                </a:solidFill>
                <a:latin typeface="微软雅黑"/>
              </a:rPr>
              <a:t>· HTML5多媒体标签详细讲</a:t>
            </a:r>
          </a:p>
          <a:p>
            <a:pPr/>
            <a:r>
              <a:rPr sz="1600" b="0">
                <a:solidFill>
                  <a:srgbClr val="333333"/>
                </a:solidFill>
                <a:latin typeface="微软雅黑"/>
              </a:rPr>
              <a:t>· 多媒体控制脚本示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4.2  HTML基础与实践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什么是HTML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E75B6"/>
                </a:solidFill>
                <a:latin typeface="微软雅黑"/>
              </a:rPr>
              <a:t>核心要点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HTML（HyperText Markup Language，超文本标记语言）是用来创建网页内容结构的标记语言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它不是编程语言，而是一*标记语言**，通过使用一系列**元素（elements?*来标记不同类型的内容，告诉浏览器如何显示这些内容 HTML的核心概念包括： - **超文本（HyperText?*：指文档之间可以通过链接相互连接，形成网状的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4.2  HTML基础与实践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HTML文档的基本结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E75B6"/>
                </a:solidFill>
                <a:latin typeface="微软雅黑"/>
              </a:rPr>
              <a:t>核心要点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每个HTML文档都必须包含以下基本结构元素： ```html &lt;!DOCTYPE html&gt; &lt;html lang="zh-CN"&gt; &lt;head&gt; &lt;meta charset="UTF-8"&gt; &lt;meta name="viewport" 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4.2  HTML基础与实践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HTML元素和标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E75B6"/>
                </a:solidFill>
                <a:latin typeface="微软雅黑"/>
              </a:rPr>
              <a:t>核心要点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HTML**元素**?*开始标*?*内容**?*结束标签**组成 ``` &lt;tagname&gt;内容&lt;/tagname&gt; ``` 例如 ```html &lt;h1&gt;这是一级标/h1&gt; &lt;p&gt;这是一个段落/p&gt; ``` **元素的分类：** 1. *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4.2  HTML基础与实践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HTML属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E75B6"/>
                </a:solidFill>
                <a:latin typeface="微软雅黑"/>
              </a:rPr>
              <a:t>核心要点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HTML元素可以包含**属性（attributes?*，用来提供元素的额外信息 ```html &lt;img src="water-level.jpg" alt="水位监测 width="300" height="200"&gt; &lt;a href="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4.2  HTML基础与实践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HTML语法规则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E75B6"/>
                </a:solidFill>
                <a:latin typeface="微软雅黑"/>
              </a:rPr>
              <a:t>核心要点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1. **大小写不敏感**：但推荐使用小写 ```html &lt;P&gt;这样写也可以&lt;/P&gt; &lt;!-- 不推--&gt; &lt;p&gt;推荐这样/p&gt; &lt;!-- 推荐 --&gt; ``` 2. **属性值使用引*：推荐使用双引号 ```html &lt;img src=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接下来我们将学习HTML5的语义化特性和在智慧水利平台中的具体应用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4.2  HTML基础与实践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语义化标签详细讲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E75B6"/>
                </a:solidFill>
                <a:latin typeface="微软雅黑"/>
              </a:rPr>
              <a:t>核心要点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下面我们逐一介绍每个语义化标签的具体用法 #### 1. `&lt;header&gt;` 标签 - 头部区域 `&lt;header&gt;`标签是HTML5中专门用于标识头部内容的语义化标签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它不仅可以作为整个页面的头部，也可以作为页面中某个区域或文章的头部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与传统的`&lt;div&gt;`标签相比，`&lt;header&gt;`标签具有明确的语义含义，能够让浏览器、搜索引擎和辅助技术更好地理解页面结构 页面级的`&lt;header&gt;`通常包含网站标识、主导航菜单、搜索框等全局性内容，这些内容在整个网站中保持相对稳定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区域级的`&lt;header&gt;`则用于标识特定内容区域的头部信息，如文章标题、发布时间、作者信息等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需要注意的是，`&lt;header&gt;`标签不能嵌套在`&lt;address&gt;`、`&lt;footer&gt;`或另一个`&lt;header&gt;`标签内部 在实际应用中，`&lt;header&gt;`标签经常与其他语义化标签配合使用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4.2  HTML基础与实践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智慧水利应用案例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333333"/>
                </a:solidFill>
                <a:latin typeface="微软雅黑"/>
              </a:rPr>
              <a:t>案例：将 HTML基础与实践 应用到智慧水利平台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业务场景：水利监测数据采集、三维场景展示或工程安全评估等典型业务环节。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技术落点：本节 HTML基础与实践 的理论与方法如何映射到平台某个模块。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实施步骤：按照 需求 → 设计 → 实现 → 验证 的工程化流程逐步推进。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成效指标：从效率 / 准确率 / 可靠性 三个维度衡量应用效果。</a:t>
            </a:r>
          </a:p>
          <a:p>
            <a:pPr/>
            <a:r>
              <a:rPr sz="1200" b="0">
                <a:solidFill>
                  <a:srgbClr val="595959"/>
                </a:solidFill>
                <a:latin typeface="微软雅黑"/>
              </a:rPr>
              <a:t>（请教师结合具体水利工程实践，补充本节对应的真实案例细节）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4.2  HTML基础与实践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思考题与练习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E75B6"/>
                </a:solidFill>
                <a:latin typeface="微软雅黑"/>
              </a:rPr>
              <a:t>基础题</a:t>
            </a:r>
          </a:p>
          <a:p>
            <a:pPr/>
            <a:r>
              <a:rPr sz="1400" b="0">
                <a:solidFill>
                  <a:srgbClr val="333333"/>
                </a:solidFill>
                <a:latin typeface="微软雅黑"/>
              </a:rPr>
              <a:t>· 简述 HTML基础与实践 的基本概念。</a:t>
            </a:r>
          </a:p>
          <a:p>
            <a:pPr/>
            <a:r>
              <a:rPr sz="1400" b="0">
                <a:solidFill>
                  <a:srgbClr val="333333"/>
                </a:solidFill>
                <a:latin typeface="微软雅黑"/>
              </a:rPr>
              <a:t>· 分析 HTML基础与实践 在智慧水利系统中的作用。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4.2  HTML基础与实践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本节小结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3333"/>
                </a:solidFill>
                <a:latin typeface="微软雅黑"/>
              </a:rPr>
              <a:t>本节系统介绍了 HTML基础与实践 的核心概念、关键技术与典型应用。学生应深入理解其原理，并能够结合智慧水利场景灵活运用，为后续章节学习与平台开发实践打下坚实基础。</a:t>
            </a:r>
          </a:p>
          <a:p>
            <a:pPr/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pPr/>
            <a:r>
              <a:rPr sz="1400" b="0">
                <a:solidFill>
                  <a:srgbClr val="595959"/>
                </a:solidFill>
                <a:latin typeface="微软雅黑"/>
              </a:rPr>
              <a:t>下一步：完成知识图谱上的任务点学习，并在题库中完成本节配套练习。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