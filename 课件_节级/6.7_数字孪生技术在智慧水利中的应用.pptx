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DDEBF7"/>
                </a:solidFill>
                <a:latin typeface="微软雅黑"/>
              </a:rPr>
              <a:t>第 六 章   智慧水利三维场景构建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FFFFFF"/>
                </a:solidFill>
                <a:latin typeface="微软雅黑"/>
              </a:rPr>
              <a:t>6.7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微软雅黑"/>
              </a:rPr>
              <a:t>数字孪生技术在智慧水利中的应用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DDEBF7"/>
                </a:solidFill>
                <a:latin typeface="微软雅黑"/>
              </a:rPr>
              <a:t>河海大学 · 水利水电学院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6.7  数字孪生技术在智慧水利中的应用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学习目标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微软雅黑"/>
              </a:rPr>
              <a:t>通过本节学习，学生应能够：</a:t>
            </a:r>
          </a:p>
          <a:p>
            <a:pPr/>
            <a:r>
              <a:rPr sz="1800" b="0">
                <a:solidFill>
                  <a:srgbClr val="333333"/>
                </a:solidFill>
                <a:latin typeface="微软雅黑"/>
              </a:rPr>
              <a:t>· 掌握 数字孪生概述 的核心概念与方法</a:t>
            </a:r>
          </a:p>
          <a:p>
            <a:pPr/>
            <a:r>
              <a:rPr sz="1800" b="0">
                <a:solidFill>
                  <a:srgbClr val="333333"/>
                </a:solidFill>
                <a:latin typeface="微软雅黑"/>
              </a:rPr>
              <a:t>· 掌握 水利工程数字孪生架构 的核心概念与方法</a:t>
            </a:r>
          </a:p>
          <a:p>
            <a:pPr/>
            <a:r>
              <a:rPr sz="1800" b="0">
                <a:solidFill>
                  <a:srgbClr val="333333"/>
                </a:solidFill>
                <a:latin typeface="微软雅黑"/>
              </a:rPr>
              <a:t>· 掌握 典型应用案例 的核心概念与方法</a:t>
            </a:r>
          </a:p>
          <a:p>
            <a:pPr/>
            <a:r>
              <a:rPr sz="1800" b="0">
                <a:solidFill>
                  <a:srgbClr val="333333"/>
                </a:solidFill>
                <a:latin typeface="微软雅黑"/>
              </a:rPr>
              <a:t>· 能够结合智慧水利平台需求，应用本节内容进行分析与设计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446520"/>
            <a:ext cx="1161288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微软雅黑"/>
              </a:rPr>
              <a:t>河海大学 · 水利水电学院    第 2 / 0 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6.7  数字孪生技术在智慧水利中的应用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本节知识图谱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657600"/>
            <a:ext cx="11155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03C71"/>
                </a:solidFill>
                <a:latin typeface="微软雅黑"/>
              </a:rPr>
              <a:t>本节主要内容：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6.7.1 数字孪生概述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6.7.2 水利工程数字孪生架构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6.7.3 典型应用案例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6.7.4 关键技术挑战与解决方案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6.7.5 发展趋势与展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基础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提高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讨论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6.7  数字孪生技术在智慧水利中的应用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6.7.1 数字孪生概述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核心要点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数字孪生（Digital Twin）是充分利用物理模型、传感器更新、运行历史等数据，集成多学科、多物理量、多尺度、多概率的仿真过程，在虚拟空间中完成映射，从而反映相对应的实体装备的全生命周期过程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在智慧水利领域，数字孪生技术通过构建水利设施的高保真数字模型，实现物理水利工程与数字模型的实时同步和交互 #### 数字孪生的核心特 **1. 高保真度建模** - 几何保真：精确再现水利设施的几何形状和空间关 - 物理保真：准确模拟水力学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6.7  数字孪生技术在智慧水利中的应用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6.7.2 水利工程数字孪生架构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核心要点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#### 数字孪生五维模型 根据数字孪生理论，水利工程数字孪生包含五个维度： **1. 物理实体（Physical Entity?* - 水利基础设施：大坝、闸站、渠道、管网等 - 水文要素：河流、湖泊、地下水、降雨等 - 设备装置：监测仪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6.7  数字孪生技术在智慧水利中的应用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6.7.3 典型应用案例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核心要点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#### 大坝安全监测数字孪生 以某重力坝为例，构建大坝安全监测数字孪生系统 **物理实体组成**? - 大坝本体：混凝土重力坝，坝高185m，坝顶长309m - 监测设备：变形监测点412个，渗压监测56个，应力应变监测9? - 环境要素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6.7  数字孪生技术在智慧水利中的应用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6.7.4 关键技术挑战与解决方案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核心要点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#### 技术挑 **1. 模型保真度与计算效率的平* - 高保真模型计算复杂度高，难以实现实时计算 - 简化模型精度不足，影响分析结果可靠 **解决方案**? - 多分辨率建模：根据应用需求采用不同精度的模型 - 代理模型技术：使用机器学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6.7  数字孪生技术在智慧水利中的应用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6.7.5 发展趋势与展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核心要点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#### 技术发展趋 **1. 人工智能深度融合** - 深度学习赋能模型构建和参数识 - 强化学习优化控制策略 - 知识图谱增强领域知识表达 **2. 边缘计算与云边协* - 边缘侧实现低延迟响应 - 云端提供强大计算能力 - 云边协同优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6.7  数字孪生技术在智慧水利中的应用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基础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核心要点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1. 解释数字孪生的基本概念，分析其在智慧水利中的应用价值 2. 描述数字孪生五维模型的组成要素，说明各要素之间的关系 3. 对比数字孪生技术与传统仿真技术的区别与优势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6.7  数字孪生技术在智慧水利中的应用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智慧水利应用案例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微软雅黑"/>
              </a:rPr>
              <a:t>案例：将 数字孪生技术在智慧水利中的应用 应用到智慧水利平台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业务场景：水利监测数据采集、三维场景展示或工程安全评估等典型业务环节。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技术落点：本节 数字孪生技术在智慧水利中的应用 的理论与方法如何映射到平台某个模块。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实施步骤：按照 需求 → 设计 → 实现 → 验证 的工程化流程逐步推进。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成效指标：从效率 / 准确率 / 可靠性 三个维度衡量应用效果。</a:t>
            </a:r>
          </a:p>
          <a:p>
            <a:pPr/>
            <a:r>
              <a:rPr sz="1200" b="0">
                <a:solidFill>
                  <a:srgbClr val="595959"/>
                </a:solidFill>
                <a:latin typeface="微软雅黑"/>
              </a:rPr>
              <a:t>（请教师结合具体水利工程实践，补充本节对应的真实案例细节）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6.7  数字孪生技术在智慧水利中的应用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思考题与练习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5B6"/>
                </a:solidFill>
                <a:latin typeface="微软雅黑"/>
              </a:rPr>
              <a:t>基础题</a:t>
            </a:r>
          </a:p>
          <a:p>
            <a:pPr/>
            <a:r>
              <a:rPr sz="1400" b="0">
                <a:solidFill>
                  <a:srgbClr val="333333"/>
                </a:solidFill>
                <a:latin typeface="微软雅黑"/>
              </a:rPr>
              <a:t>· 简述 数字孪生技术在智慧水利中的应用 的基本概念。</a:t>
            </a:r>
          </a:p>
          <a:p>
            <a:pPr/>
            <a:r>
              <a:rPr sz="1400" b="0">
                <a:solidFill>
                  <a:srgbClr val="333333"/>
                </a:solidFill>
                <a:latin typeface="微软雅黑"/>
              </a:rPr>
              <a:t>· 分析 数字孪生技术在智慧水利中的应用 在智慧水利系统中的作用。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6.7  数字孪生技术在智慧水利中的应用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本节小结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3333"/>
                </a:solidFill>
                <a:latin typeface="微软雅黑"/>
              </a:rPr>
              <a:t>本节系统介绍了 数字孪生技术在智慧水利中的应用 的核心概念、关键技术与典型应用。学生应深入理解其原理，并能够结合智慧水利场景灵活运用，为后续章节学习与平台开发实践打下坚实基础。</a:t>
            </a:r>
          </a:p>
          <a:p>
            <a:pPr/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pPr/>
            <a:r>
              <a:rPr sz="1400" b="0">
                <a:solidFill>
                  <a:srgbClr val="595959"/>
                </a:solidFill>
                <a:latin typeface="微软雅黑"/>
              </a:rPr>
              <a:t>下一步：完成知识图谱上的任务点学习，并在题库中完成本节配套练习。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