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一 章   智慧水利概述与平台架构基础</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1.2</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软件工程概述</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软件工程的目 的核心概念与方法</a:t>
            </a:r>
          </a:p>
          <a:p>
            <a:pPr/>
            <a:r>
              <a:rPr sz="1800" b="0">
                <a:solidFill>
                  <a:srgbClr val="333333"/>
                </a:solidFill>
                <a:latin typeface="微软雅黑"/>
              </a:rPr>
              <a:t>· 掌握 软件工程的基本原 的核心概念与方法</a:t>
            </a:r>
          </a:p>
          <a:p>
            <a:pPr/>
            <a:r>
              <a:rPr sz="1800" b="0">
                <a:solidFill>
                  <a:srgbClr val="333333"/>
                </a:solidFill>
                <a:latin typeface="微软雅黑"/>
              </a:rPr>
              <a:t>· 掌握 软件工程的内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软件工程是一门应用计算机科学、数学和工程原则来设计、开发、维护和测试软件的学科。它旨在通过系统化、规范化和量化的方法，确保软件产品的高质量、可靠性和可维护性。软件工程不仅关注技术层面的实现，还涉及管理、过程、工具和方法，以应对复杂软件系统的开发挑战? 软件工程的产生源0世纪60年代软件危机"，当时硬件技术快速发展，但软件开发技术相对滞后，导致大量软件项目失败。为了解决这些问题，软件工程作为一个独立学科应运而生，致力于将工程化的方法应用于软件开发过程，提高软件质量和开发效率?</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1.2.1 软件工程的目</a:t>
            </a:r>
          </a:p>
          <a:p>
            <a:pPr/>
            <a:r>
              <a:rPr sz="1600" b="0">
                <a:solidFill>
                  <a:srgbClr val="333333"/>
                </a:solidFill>
                <a:latin typeface="微软雅黑"/>
              </a:rPr>
              <a:t>· 1.2.2 软件工程的基本原</a:t>
            </a:r>
          </a:p>
          <a:p>
            <a:pPr/>
            <a:r>
              <a:rPr sz="1600" b="0">
                <a:solidFill>
                  <a:srgbClr val="333333"/>
                </a:solidFill>
                <a:latin typeface="微软雅黑"/>
              </a:rPr>
              <a:t>· 1.2.3 软件工程的内</a:t>
            </a:r>
          </a:p>
          <a:p>
            <a:pPr/>
            <a:r>
              <a:rPr sz="1600" b="0">
                <a:solidFill>
                  <a:srgbClr val="333333"/>
                </a:solidFill>
                <a:latin typeface="微软雅黑"/>
              </a:rPr>
              <a:t>· 1.2.4 软件工程的原</a:t>
            </a:r>
          </a:p>
          <a:p>
            <a:pPr/>
            <a:r>
              <a:rPr sz="1600" b="0">
                <a:solidFill>
                  <a:srgbClr val="333333"/>
                </a:solidFill>
                <a:latin typeface="微软雅黑"/>
              </a:rPr>
              <a:t>· 1.2.5 软件工程面临的问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1.2.1 软件工程的目</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软件工程的目标是确保软件开发过程更加高效、可靠和可控，以开发出符合需求、具有高质量、低成本且易于维护的软件系统</a:t>
            </a:r>
          </a:p>
          <a:p>
            <a:pPr/>
            <a:r>
              <a:rPr sz="1500" b="0">
                <a:solidFill>
                  <a:srgbClr val="333333"/>
                </a:solidFill>
                <a:latin typeface="微软雅黑"/>
              </a:rPr>
              <a:t>· 具体来说，软件工程的目标包括： **1. 需求精准实* 通过需求工程方法（如用户故事映射和领域驱动设计）精准捕捉用户期望，采用原型验证技术将需求转化为具体技术规格</a:t>
            </a:r>
          </a:p>
          <a:p>
            <a:pPr/>
            <a:r>
              <a:rPr sz="1500" b="0">
                <a:solidFill>
                  <a:srgbClr val="333333"/>
                </a:solidFill>
                <a:latin typeface="微软雅黑"/>
              </a:rPr>
              <a:t>· 确保软件功能与业务目标紧密对齐，减少需求变更和用户期望差距 **2. 复杂性系统控* 采用模块化设计策略，如微服务架构和插件化系统，降低系统各部分耦合度，提高可维护性</a:t>
            </a:r>
          </a:p>
          <a:p>
            <a:pPr/>
            <a:r>
              <a:rPr sz="1500" b="0">
                <a:solidFill>
                  <a:srgbClr val="333333"/>
                </a:solidFill>
                <a:latin typeface="微软雅黑"/>
              </a:rPr>
              <a:t>· 利用分层抽象（如清晰架构和六边形架构），提升代码可理解性，有效应对系统规模扩大带来的非线性复杂性 **3. 质量全面保障** 建立多层次质量防护网络，包括静态代码分析工具（如SonarQube）、全面自动化测试（单元测试和端到端测试）、性能</a:t>
            </a:r>
          </a:p>
          <a:p>
            <a:pPr/>
            <a:r>
              <a:rPr sz="1500" b="0">
                <a:solidFill>
                  <a:srgbClr val="333333"/>
                </a:solidFill>
                <a:latin typeface="微软雅黑"/>
              </a:rPr>
              <a:t>· 通过持续集成/持续交付（CI/CD）流程，实现"质量内建"理念 **4. 资源高效配置** 采用科学管理方法（如关键路径法和敏捷估算），实施资源优化策略（如DevOps资源弹性伸缩），实现时间、成本与人力投入平衡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1.2.2 软件工程的基本原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软件工程的基本原理旨在解决软件开发过程中的各种问题，确保开发出高质量、可维护、可扩展的软件系统</a:t>
            </a:r>
          </a:p>
          <a:p>
            <a:pPr/>
            <a:r>
              <a:rPr sz="1500" b="0">
                <a:solidFill>
                  <a:srgbClr val="333333"/>
                </a:solidFill>
                <a:latin typeface="微软雅黑"/>
              </a:rPr>
              <a:t>· 其核心是通过系统化、规范化、工程化的方法，结合理论和实践经验，管理和控制软件开发的全过程 **1. 需求工程原* 需求工程是软件工程的基础，要求在项目初期通过与客户、用户及相关利益方深入沟通，明确软件的功能需求、性能需求、安全性需求等</a:t>
            </a:r>
          </a:p>
          <a:p>
            <a:pPr/>
            <a:r>
              <a:rPr sz="1500" b="0">
                <a:solidFill>
                  <a:srgbClr val="333333"/>
                </a:solidFill>
                <a:latin typeface="微软雅黑"/>
              </a:rPr>
              <a:t>· 需求工程包括需求获取、分析、定义和验证四个核心活动，确保开发团队对需求有清晰、准确的理解，避免因需求不清晰或误解而导致的返工和错误 **2. 软件设计原理** 软件设计是将需求转化为具体架构和实现方案的过程</a:t>
            </a:r>
          </a:p>
          <a:p>
            <a:pPr/>
            <a:r>
              <a:rPr sz="1500" b="0">
                <a:solidFill>
                  <a:srgbClr val="333333"/>
                </a:solidFill>
                <a:latin typeface="微软雅黑"/>
              </a:rPr>
              <a:t>· 设计过程需要关注系统的整体架构设计、模块划分、数据结构设计、算法设计等</a:t>
            </a:r>
          </a:p>
          <a:p>
            <a:pPr/>
            <a:r>
              <a:rPr sz="1500" b="0">
                <a:solidFill>
                  <a:srgbClr val="333333"/>
                </a:solidFill>
                <a:latin typeface="微软雅黑"/>
              </a:rPr>
              <a:t>· 设计原则要求系统具备良好的可扩展性、可重用性、可维护性等特点，通常采用分层结构、微服务架构、面向对象设计等方式，确保系统各部分之间的低耦合和高内聚 **3. 编码与实现原* 编码实现阶段是软件工程的核心环节，开发人员根据软件设计文档进行实际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1.2.3 软件工程的内</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软件工程涵盖软件开发和维护的全过程，包括多个相互关联的阶段和活动</a:t>
            </a:r>
          </a:p>
          <a:p>
            <a:pPr/>
            <a:r>
              <a:rPr sz="1500" b="0">
                <a:solidFill>
                  <a:srgbClr val="333333"/>
                </a:solidFill>
                <a:latin typeface="微软雅黑"/>
              </a:rPr>
              <a:t>· 每个阶段都有其特定的任务、方法和交付物，共同构成了完整的软件工程体系 **1. 需求分* 需求分析是软件开发的起始阶段，其核心任务是理解和明确客户或用户的需求，并转化为详细的功能要求和技术需求</a:t>
            </a:r>
          </a:p>
          <a:p>
            <a:pPr/>
            <a:r>
              <a:rPr sz="1500" b="0">
                <a:solidFill>
                  <a:srgbClr val="333333"/>
                </a:solidFill>
                <a:latin typeface="微软雅黑"/>
              </a:rPr>
              <a:t>· 这一阶段包括需求收集、需求分析、需求验证与确认，确保开发团队和客户之间对项目期望和功能有一致理解</a:t>
            </a:r>
          </a:p>
          <a:p>
            <a:pPr/>
            <a:r>
              <a:rPr sz="1500" b="0">
                <a:solidFill>
                  <a:srgbClr val="333333"/>
                </a:solidFill>
                <a:latin typeface="微软雅黑"/>
              </a:rPr>
              <a:t>· 需求分析过程中通常使用用例图、数据流图、实体关系图等工具来帮助表达和澄清需求</a:t>
            </a:r>
          </a:p>
          <a:p>
            <a:pPr/>
            <a:r>
              <a:rPr sz="1500" b="0">
                <a:solidFill>
                  <a:srgbClr val="333333"/>
                </a:solidFill>
                <a:latin typeface="微软雅黑"/>
              </a:rPr>
              <a:t>· 需求文档的质量直接影响后续开发工作的顺利进行 **2. 软件设计** 软件设计是将需求转化为具体实现方案的过程，目标是构建高效、可扩展且易于维护的系统架构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1.2.4 软件工程的原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软件工程的原则是指导软件系统设计、开发与维护的核心方法论，旨在通过规范化手段解决复杂度控制、质量保障与资源优化等核心问题 **1. 用户中心原则** 用户中心原则强调从需求捕获阶段到产品交付后的全周期用户参与</a:t>
            </a:r>
          </a:p>
          <a:p>
            <a:pPr/>
            <a:r>
              <a:rPr sz="1500" b="0">
                <a:solidFill>
                  <a:srgbClr val="333333"/>
                </a:solidFill>
                <a:latin typeface="微软雅黑"/>
              </a:rPr>
              <a:t>· 通过用户故事映射（User Story Mapping）、行为驱动开发（BDD）和用户体验旅程（UX Journey）等工具实现需求精准映射</a:t>
            </a:r>
          </a:p>
          <a:p>
            <a:pPr/>
            <a:r>
              <a:rPr sz="1500" b="0">
                <a:solidFill>
                  <a:srgbClr val="333333"/>
                </a:solidFill>
                <a:latin typeface="微软雅黑"/>
              </a:rPr>
              <a:t>· 结合A/B测试、可用性测试等技术验证交互逻辑与功能可用性，确保软件在功能价值、操作效率及用户体验维度满足用户需求 **2. 模块化原* 模块化原则要求基于信息隐藏（Information Hiding）和关注点分离（Separation o</a:t>
            </a:r>
          </a:p>
          <a:p>
            <a:pPr/>
            <a:r>
              <a:rPr sz="1500" b="0">
                <a:solidFill>
                  <a:srgbClr val="333333"/>
                </a:solidFill>
                <a:latin typeface="微软雅黑"/>
              </a:rPr>
              <a:t>· 采用接口隔离原则（ISP）定义模块间的通信契约，通过分层架构和组件化设计实现物理与逻辑解耦</a:t>
            </a:r>
          </a:p>
          <a:p>
            <a:pPr/>
            <a:r>
              <a:rPr sz="1500" b="0">
                <a:solidFill>
                  <a:srgbClr val="333333"/>
                </a:solidFill>
                <a:latin typeface="微软雅黑"/>
              </a:rPr>
              <a:t>· 利用依赖注入（DI）、服务网格（Service Mesh）等技术降低耦合度，确保模块的独立演化能力与系统的动态扩展性 **3. 可重用性原* 可重用性原则的核心是通过抽象层次化设计和领域驱动设计（DDD）提炼可复用的业务资产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1.2.5 软件工程面临的问</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软件工程在实践过程中面临多重系统性挑战，这些挑战贯穿软件生命周期的各个阶段，深刻影响最终交付成果的技术可行性与商业价值 **1. 软件复杂* 软件复杂性作为核心难题，源于系统规模的非线性增长与功能耦合度的叠加效应</a:t>
            </a:r>
          </a:p>
          <a:p>
            <a:pPr/>
            <a:r>
              <a:rPr sz="1500" b="0">
                <a:solidFill>
                  <a:srgbClr val="333333"/>
                </a:solidFill>
                <a:latin typeface="微软雅黑"/>
              </a:rPr>
              <a:t>· 具体表现为代码库熵增（如圈复杂度上升、继承层次过深）、分布式架构下的通信时延与一致性保障难题（如CAP定理约束下的设计权衡），以及多技术栈集成带来的异构环境适配问题</a:t>
            </a:r>
          </a:p>
          <a:p>
            <a:pPr/>
            <a:r>
              <a:rPr sz="1500" b="0">
                <a:solidFill>
                  <a:srgbClr val="333333"/>
                </a:solidFill>
                <a:latin typeface="微软雅黑"/>
              </a:rPr>
              <a:t>· 这类复杂性不仅加剧开发过程中的认知负荷，还可能导致技术债务积累，进而降低系统的可维护性与演进能力 **2. 需求变* 需求变化作为动态性挑战，根植于业务环境的不确定性（如市场策略调整、法规更新）与用户认知的渐进性（如MVP验证后的功能迭代）</a:t>
            </a:r>
          </a:p>
          <a:p>
            <a:pPr/>
            <a:r>
              <a:rPr sz="1500" b="0">
                <a:solidFill>
                  <a:srgbClr val="333333"/>
                </a:solidFill>
                <a:latin typeface="微软雅黑"/>
              </a:rPr>
              <a:t>· 其引发需求漂现象常导致开发团队陷入范围蔓延（Scope Creep）困境，具体表现为需求基线频繁变更、功能优先级动态调整以及技术方案的中途重构</a:t>
            </a:r>
          </a:p>
          <a:p>
            <a:pPr/>
            <a:r>
              <a:rPr sz="1500" b="0">
                <a:solidFill>
                  <a:srgbClr val="333333"/>
                </a:solidFill>
                <a:latin typeface="微软雅黑"/>
              </a:rPr>
              <a:t>· 若缺乏有效的变更控制机制和需求追溯工具链，将显著增加项目延期与成本超支风险 **3. 质量保证** 质量保证作为系统性工程目标，需在多维约束下达成功能正确性、性能鲁棒性及安全合规性的平衡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软件工程概述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软件工程概述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请简述本节的核心概念，并说明其在智慧水利平台开发中的重要性</a:t>
            </a:r>
          </a:p>
          <a:p>
            <a:pPr/>
            <a:r>
              <a:rPr sz="1400" b="0">
                <a:solidFill>
                  <a:srgbClr val="333333"/>
                </a:solidFill>
                <a:latin typeface="微软雅黑"/>
              </a:rPr>
              <a:t>· 总结本节介绍的主要技术方法，并分析各方法的适用场景</a:t>
            </a:r>
          </a:p>
          <a:p>
            <a:pPr/>
            <a:r>
              <a:rPr sz="1400" b="0">
                <a:solidFill>
                  <a:srgbClr val="333333"/>
                </a:solidFill>
                <a:latin typeface="微软雅黑"/>
              </a:rPr>
              <a:t>· 结合智慧水利的实际需求，解释本节内容如何应用于实际项目中</a:t>
            </a:r>
          </a:p>
          <a:p>
            <a:pPr/>
            <a:r>
              <a:rPr sz="800" b="0">
                <a:solidFill>
                  <a:srgbClr val="333333"/>
                </a:solidFill>
                <a:latin typeface="微软雅黑"/>
              </a:rPr>
              <a:t/>
            </a:r>
          </a:p>
          <a:p>
            <a:pPr/>
            <a:r>
              <a:rPr sz="1800" b="1">
                <a:solidFill>
                  <a:srgbClr val="2E75B6"/>
                </a:solidFill>
                <a:latin typeface="微软雅黑"/>
              </a:rPr>
              <a:t>提高题</a:t>
            </a:r>
          </a:p>
          <a:p>
            <a:pPr/>
            <a:r>
              <a:rPr sz="1400" b="0">
                <a:solidFill>
                  <a:srgbClr val="333333"/>
                </a:solidFill>
                <a:latin typeface="微软雅黑"/>
              </a:rPr>
              <a:t>· 分析本节涉及的技术难点，并提出可能的解决方案</a:t>
            </a:r>
          </a:p>
          <a:p>
            <a:pPr/>
            <a:r>
              <a:rPr sz="1400" b="0">
                <a:solidFill>
                  <a:srgbClr val="333333"/>
                </a:solidFill>
                <a:latin typeface="微软雅黑"/>
              </a:rPr>
              <a:t>· 比较本节介绍的不同方法的优缺点，并给出选择建议</a:t>
            </a:r>
          </a:p>
          <a:p>
            <a:pPr/>
            <a:r>
              <a:rPr sz="800" b="0">
                <a:solidFill>
                  <a:srgbClr val="333333"/>
                </a:solidFill>
                <a:latin typeface="微软雅黑"/>
              </a:rPr>
              <a:t/>
            </a:r>
          </a:p>
          <a:p>
            <a:pPr/>
            <a:r>
              <a:rPr sz="1800" b="1">
                <a:solidFill>
                  <a:srgbClr val="2E75B6"/>
                </a:solidFill>
                <a:latin typeface="微软雅黑"/>
              </a:rPr>
              <a:t>讨论题</a:t>
            </a:r>
          </a:p>
          <a:p>
            <a:pPr/>
            <a:r>
              <a:rPr sz="1400" b="0">
                <a:solidFill>
                  <a:srgbClr val="333333"/>
                </a:solidFill>
                <a:latin typeface="微软雅黑"/>
              </a:rPr>
              <a:t>· 讨论本节内容与其他相关技术的集成方案，分析可能遇到的挑战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1.2  软件工程概述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内容为智慧水利平台的设计和开发提供了重要的理论基础和技术指导。通过学习本节内容，学生应能够理解相关概念的内涵和应用价值，掌握基本的分析方法和设计原则，为后续章节的学习和实际项目的开展奠定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