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91695"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10698480" cy="457200"/>
          </a:xfrm>
          <a:prstGeom prst="rect">
            <a:avLst/>
          </a:prstGeom>
          <a:noFill/>
        </p:spPr>
        <p:txBody>
          <a:bodyPr wrap="none">
            <a:spAutoFit/>
          </a:bodyPr>
          <a:lstStyle/>
          <a:p>
            <a:r>
              <a:rPr sz="1800" b="0">
                <a:solidFill>
                  <a:srgbClr val="DDEBF7"/>
                </a:solidFill>
                <a:latin typeface="微软雅黑"/>
              </a:rPr>
              <a:t>智慧水利平台架构与开发</a:t>
            </a:r>
          </a:p>
        </p:txBody>
      </p:sp>
      <p:sp>
        <p:nvSpPr>
          <p:cNvPr id="5" name="TextBox 4"/>
          <p:cNvSpPr txBox="1"/>
          <p:nvPr/>
        </p:nvSpPr>
        <p:spPr>
          <a:xfrm>
            <a:off x="731520" y="2377440"/>
            <a:ext cx="10698480" cy="548640"/>
          </a:xfrm>
          <a:prstGeom prst="rect">
            <a:avLst/>
          </a:prstGeom>
          <a:noFill/>
        </p:spPr>
        <p:txBody>
          <a:bodyPr wrap="none">
            <a:spAutoFit/>
          </a:bodyPr>
          <a:lstStyle/>
          <a:p>
            <a:r>
              <a:rPr sz="2200" b="0">
                <a:solidFill>
                  <a:srgbClr val="DDEBF7"/>
                </a:solidFill>
                <a:latin typeface="微软雅黑"/>
              </a:rPr>
              <a:t>第 五 章   后端开发技术</a:t>
            </a:r>
          </a:p>
        </p:txBody>
      </p:sp>
      <p:sp>
        <p:nvSpPr>
          <p:cNvPr id="6" name="TextBox 5"/>
          <p:cNvSpPr txBox="1"/>
          <p:nvPr/>
        </p:nvSpPr>
        <p:spPr>
          <a:xfrm>
            <a:off x="731520" y="2926080"/>
            <a:ext cx="10698480" cy="1097280"/>
          </a:xfrm>
          <a:prstGeom prst="rect">
            <a:avLst/>
          </a:prstGeom>
          <a:noFill/>
        </p:spPr>
        <p:txBody>
          <a:bodyPr wrap="none">
            <a:spAutoFit/>
          </a:bodyPr>
          <a:lstStyle/>
          <a:p>
            <a:r>
              <a:rPr sz="7200" b="1">
                <a:solidFill>
                  <a:srgbClr val="FFFFFF"/>
                </a:solidFill>
                <a:latin typeface="微软雅黑"/>
              </a:rPr>
              <a:t>5.5</a:t>
            </a:r>
          </a:p>
        </p:txBody>
      </p:sp>
      <p:sp>
        <p:nvSpPr>
          <p:cNvPr id="7" name="TextBox 6"/>
          <p:cNvSpPr txBox="1"/>
          <p:nvPr/>
        </p:nvSpPr>
        <p:spPr>
          <a:xfrm>
            <a:off x="731520" y="4297680"/>
            <a:ext cx="10698480" cy="914400"/>
          </a:xfrm>
          <a:prstGeom prst="rect">
            <a:avLst/>
          </a:prstGeom>
          <a:noFill/>
        </p:spPr>
        <p:txBody>
          <a:bodyPr wrap="none">
            <a:spAutoFit/>
          </a:bodyPr>
          <a:lstStyle/>
          <a:p>
            <a:r>
              <a:rPr sz="4400" b="1">
                <a:solidFill>
                  <a:srgbClr val="FFFFFF"/>
                </a:solidFill>
                <a:latin typeface="微软雅黑"/>
              </a:rPr>
              <a:t>后台服务设计</a:t>
            </a:r>
          </a:p>
        </p:txBody>
      </p:sp>
      <p:sp>
        <p:nvSpPr>
          <p:cNvPr id="8" name="TextBox 7"/>
          <p:cNvSpPr txBox="1"/>
          <p:nvPr/>
        </p:nvSpPr>
        <p:spPr>
          <a:xfrm>
            <a:off x="731520" y="6035040"/>
            <a:ext cx="10698480" cy="365760"/>
          </a:xfrm>
          <a:prstGeom prst="rect">
            <a:avLst/>
          </a:prstGeom>
          <a:noFill/>
        </p:spPr>
        <p:txBody>
          <a:bodyPr wrap="none">
            <a:spAutoFit/>
          </a:bodyPr>
          <a:lstStyle/>
          <a:p>
            <a:r>
              <a:rPr sz="1400" b="0">
                <a:solidFill>
                  <a:srgbClr val="DDEBF7"/>
                </a:solidFill>
                <a:latin typeface="微软雅黑"/>
              </a:rPr>
              <a:t>河海大学 · 水利水电学院</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5.5  后台服务设计</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学习目标</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333333"/>
                </a:solidFill>
                <a:latin typeface="微软雅黑"/>
              </a:rPr>
              <a:t>通过本节学习，学生应能够：</a:t>
            </a:r>
          </a:p>
          <a:p>
            <a:pPr/>
            <a:r>
              <a:rPr sz="1800" b="0">
                <a:solidFill>
                  <a:srgbClr val="333333"/>
                </a:solidFill>
                <a:latin typeface="微软雅黑"/>
              </a:rPr>
              <a:t>· 掌握 REST架构风格的核心理 的核心概念与方法</a:t>
            </a:r>
          </a:p>
          <a:p>
            <a:pPr/>
            <a:r>
              <a:rPr sz="1800" b="0">
                <a:solidFill>
                  <a:srgbClr val="333333"/>
                </a:solidFill>
                <a:latin typeface="微软雅黑"/>
              </a:rPr>
              <a:t>· 掌握 统一响应格式设计 的核心概念与方法</a:t>
            </a:r>
          </a:p>
          <a:p>
            <a:pPr/>
            <a:r>
              <a:rPr sz="1800" b="0">
                <a:solidFill>
                  <a:srgbClr val="333333"/>
                </a:solidFill>
                <a:latin typeface="微软雅黑"/>
              </a:rPr>
              <a:t>· 掌握 版本管理和向后兼 的核心概念与方法</a:t>
            </a:r>
          </a:p>
          <a:p>
            <a:pPr/>
            <a:r>
              <a:rPr sz="1800" b="0">
                <a:solidFill>
                  <a:srgbClr val="333333"/>
                </a:solidFill>
                <a:latin typeface="微软雅黑"/>
              </a:rPr>
              <a:t>· 能够结合智慧水利平台需求，应用本节内容进行分析与设计</a:t>
            </a:r>
          </a:p>
        </p:txBody>
      </p:sp>
      <p:sp>
        <p:nvSpPr>
          <p:cNvPr id="9" name="TextBox 8"/>
          <p:cNvSpPr txBox="1"/>
          <p:nvPr/>
        </p:nvSpPr>
        <p:spPr>
          <a:xfrm>
            <a:off x="274320" y="6446520"/>
            <a:ext cx="11612880" cy="274320"/>
          </a:xfrm>
          <a:prstGeom prst="rect">
            <a:avLst/>
          </a:prstGeom>
          <a:noFill/>
        </p:spPr>
        <p:txBody>
          <a:bodyPr wrap="none" lIns="0" tIns="0">
            <a:spAutoFit/>
          </a:bodyPr>
          <a:lstStyle/>
          <a:p>
            <a:pPr algn="r"/>
            <a:r>
              <a:rPr sz="1000" b="0">
                <a:solidFill>
                  <a:srgbClr val="595959"/>
                </a:solidFill>
                <a:latin typeface="微软雅黑"/>
              </a:rPr>
              <a:t>河海大学 · 水利水电学院    第 2 / 0 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5.5  后台服务设计</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本节知识图谱</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1463040"/>
          </a:xfrm>
          <a:prstGeom prst="rect">
            <a:avLst/>
          </a:prstGeom>
          <a:noFill/>
        </p:spPr>
        <p:txBody>
          <a:bodyPr wrap="square">
            <a:spAutoFit/>
          </a:bodyPr>
          <a:lstStyle/>
          <a:p>
            <a:r>
              <a:rPr sz="1400" b="0">
                <a:solidFill>
                  <a:srgbClr val="595959"/>
                </a:solidFill>
                <a:latin typeface="微软雅黑"/>
              </a:rPr>
              <a:t>后台服务设计是现代企业级应用架构的核心环节，它承载着业务逻辑处理、数据管理、安全控制和系统集成等关键职责。在企业级应用的开发实践中，后台服务的设计质量直接决定了整个系统的可扩展性、可维护性和安全性。本节将深入探讨后台服务设计的核心理念、实现技术和最佳实践，帮助读者掌握构建高质量企业级后台服务的关键技能 从软件架构发展的历程来看，后台服务设计经历了从简单的三层架构到复杂的微服务架构的重要演进。传统的后台服务往往采用单体架构，所有功能模块紧密耦合在一起，虽然开发简单但扩展困难。现代后台服务设计则更加注重**松耦合、高内聚**的设计原则，通过合理的分层架构、清</a:t>
            </a:r>
          </a:p>
        </p:txBody>
      </p:sp>
      <p:sp>
        <p:nvSpPr>
          <p:cNvPr id="9" name="TextBox 8"/>
          <p:cNvSpPr txBox="1"/>
          <p:nvPr/>
        </p:nvSpPr>
        <p:spPr>
          <a:xfrm>
            <a:off x="548640" y="3657600"/>
            <a:ext cx="11155680" cy="2560320"/>
          </a:xfrm>
          <a:prstGeom prst="rect">
            <a:avLst/>
          </a:prstGeom>
          <a:noFill/>
        </p:spPr>
        <p:txBody>
          <a:bodyPr wrap="square">
            <a:spAutoFit/>
          </a:bodyPr>
          <a:lstStyle/>
          <a:p>
            <a:r>
              <a:rPr sz="1800" b="1">
                <a:solidFill>
                  <a:srgbClr val="003C71"/>
                </a:solidFill>
                <a:latin typeface="微软雅黑"/>
              </a:rPr>
              <a:t>本节主要内容：</a:t>
            </a:r>
          </a:p>
          <a:p>
            <a:pPr/>
            <a:r>
              <a:rPr sz="1600" b="0">
                <a:solidFill>
                  <a:srgbClr val="333333"/>
                </a:solidFill>
                <a:latin typeface="微软雅黑"/>
              </a:rPr>
              <a:t>· REST架构风格的核心理</a:t>
            </a:r>
          </a:p>
          <a:p>
            <a:pPr/>
            <a:r>
              <a:rPr sz="1600" b="0">
                <a:solidFill>
                  <a:srgbClr val="333333"/>
                </a:solidFill>
                <a:latin typeface="微软雅黑"/>
              </a:rPr>
              <a:t>· 统一响应格式设计</a:t>
            </a:r>
          </a:p>
          <a:p>
            <a:pPr/>
            <a:r>
              <a:rPr sz="1600" b="0">
                <a:solidFill>
                  <a:srgbClr val="333333"/>
                </a:solidFill>
                <a:latin typeface="微软雅黑"/>
              </a:rPr>
              <a:t>· 版本管理和向后兼</a:t>
            </a:r>
          </a:p>
          <a:p>
            <a:pPr/>
            <a:r>
              <a:rPr sz="1600" b="0">
                <a:solidFill>
                  <a:srgbClr val="333333"/>
                </a:solidFill>
                <a:latin typeface="微软雅黑"/>
              </a:rPr>
              <a:t>· 分层架构模式</a:t>
            </a:r>
          </a:p>
          <a:p>
            <a:pPr/>
            <a:r>
              <a:rPr sz="1600" b="0">
                <a:solidFill>
                  <a:srgbClr val="333333"/>
                </a:solidFill>
                <a:latin typeface="微软雅黑"/>
              </a:rPr>
              <a:t>· 领域驱动设计的应</a:t>
            </a:r>
          </a:p>
          <a:p>
            <a:pPr/>
            <a:r>
              <a:rPr sz="1600" b="0">
                <a:solidFill>
                  <a:srgbClr val="333333"/>
                </a:solidFill>
                <a:latin typeface="微软雅黑"/>
              </a:rPr>
              <a:t>· 微服务架构考虑</a:t>
            </a:r>
          </a:p>
          <a:p>
            <a:pPr/>
            <a:r>
              <a:rPr sz="1600" b="0">
                <a:solidFill>
                  <a:srgbClr val="333333"/>
                </a:solidFill>
                <a:latin typeface="微软雅黑"/>
              </a:rPr>
              <a:t>· 身份认证机制</a:t>
            </a:r>
          </a:p>
          <a:p>
            <a:pPr/>
            <a:r>
              <a:rPr sz="1600" b="0">
                <a:solidFill>
                  <a:srgbClr val="333333"/>
                </a:solidFill>
                <a:latin typeface="微软雅黑"/>
              </a:rPr>
              <a:t>· 细粒度权限控</a:t>
            </a:r>
          </a:p>
          <a:p>
            <a:pPr/>
            <a:r>
              <a:rPr sz="1600" b="0">
                <a:solidFill>
                  <a:srgbClr val="333333"/>
                </a:solidFill>
                <a:latin typeface="微软雅黑"/>
              </a:rPr>
              <a:t>· 统一异常处理机制</a:t>
            </a:r>
          </a:p>
          <a:p>
            <a:pPr/>
            <a:r>
              <a:rPr sz="1600" b="0">
                <a:solidFill>
                  <a:srgbClr val="333333"/>
                </a:solidFill>
                <a:latin typeface="微软雅黑"/>
              </a:rPr>
              <a:t>· 结构化日志记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5.5  后台服务设计</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REST架构风格的核心理</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REST（Representational State Transfer）作为一种软件架构风格，强调系统组件之间的统一接口、无状态通信和资源的明确表示</a:t>
            </a:r>
          </a:p>
          <a:p>
            <a:pPr/>
            <a:r>
              <a:rPr sz="1500" b="0">
                <a:solidFill>
                  <a:srgbClr val="333333"/>
                </a:solidFill>
                <a:latin typeface="微软雅黑"/>
              </a:rPr>
              <a:t>· 在企业管理系统的API设计中，REST原则的应用能够显著提高接口的一致性和可理解性</a:t>
            </a:r>
          </a:p>
          <a:p>
            <a:pPr/>
            <a:r>
              <a:rPr sz="1500" b="0">
                <a:solidFill>
                  <a:srgbClr val="333333"/>
                </a:solidFill>
                <a:latin typeface="微软雅黑"/>
              </a:rPr>
              <a:t>· REST的核心思想是将系统中的所有内容都视为资源，每个资源都有唯一的标识符，通过标准的HTTP方法来操作这些资源 在企业管理平台中，用户信息、订单数据、产品信息等都可以被抽象为REST资源</a:t>
            </a:r>
          </a:p>
          <a:p>
            <a:pPr/>
            <a:r>
              <a:rPr sz="1500" b="0">
                <a:solidFill>
                  <a:srgbClr val="333333"/>
                </a:solidFill>
                <a:latin typeface="微软雅黑"/>
              </a:rPr>
              <a:t>· 一个良好设计的企业数据API应该遵循以下原则 // RESTful API设计的完整示- 用户管理控制 // 演示企业级应用中标准的REST API设计模式 @RestController // Spring注解：标识这是一个REST控制器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5.5  后台服务设计</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统一响应格式设计</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为了确保API响应的一致性，需要设计统一的响应格式</a:t>
            </a:r>
          </a:p>
          <a:p>
            <a:pPr/>
            <a:r>
              <a:rPr sz="1500" b="0">
                <a:solidFill>
                  <a:srgbClr val="333333"/>
                </a:solidFill>
                <a:latin typeface="微软雅黑"/>
              </a:rPr>
              <a:t>· 在企业应用中，所有API响应都应该遵循相同的数据结构，便于前端统一处理和错误处理： // 统一API响应格式设计 - 企业级应用的标准响应包装 // 这个类确保所有API接口都返回一致的数据格式，便于前端统一处理 @JsonInclude(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5.5  后台服务设计</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版本管理和向后兼</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API版本管理是长期维护系统的重要考虑因素</a:t>
            </a:r>
          </a:p>
          <a:p>
            <a:pPr/>
            <a:r>
              <a:rPr sz="1500" b="0">
                <a:solidFill>
                  <a:srgbClr val="333333"/>
                </a:solidFill>
                <a:latin typeface="微软雅黑"/>
              </a:rPr>
              <a:t>· 在企业应用这种生命周期较长的系统中，API的演进必须谨慎处理，确保既能满足新需求又不破坏现有功能： ```java @RestController @RequestMapping("/api/v1/order-data") public 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5.5  后台服务设计</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分层架构模式</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现代企业级应用通常采用分层架构模式来组织代码结构</a:t>
            </a:r>
          </a:p>
          <a:p>
            <a:pPr/>
            <a:r>
              <a:rPr sz="1500" b="0">
                <a:solidFill>
                  <a:srgbClr val="333333"/>
                </a:solidFill>
                <a:latin typeface="微软雅黑"/>
              </a:rPr>
              <a:t>· 在企业管理平台中，清晰的分层设计有助于实现关注点分离，提高代码的可维护性和可测试性</a:t>
            </a:r>
          </a:p>
          <a:p>
            <a:pPr/>
            <a:r>
              <a:rPr sz="1500" b="0">
                <a:solidFill>
                  <a:srgbClr val="333333"/>
                </a:solidFill>
                <a:latin typeface="微软雅黑"/>
              </a:rPr>
              <a:t>· 典型的分层结构包括控制器层、服务层、数据访问层和基础设施层 ```java // 服务层接口定 public interface OrderAnalysisService { /** * 分析指定时间段内的订单趋 */ OrderTrend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5.5  后台服务设计</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领域驱动设计的应</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在复杂的企业业务场景中，采用领域驱动设计（DDD）的方法可以更好地组织业务逻辑，提高代码的表达力和可维护性</a:t>
            </a:r>
          </a:p>
          <a:p>
            <a:pPr/>
            <a:r>
              <a:rPr sz="1500" b="0">
                <a:solidFill>
                  <a:srgbClr val="333333"/>
                </a:solidFill>
                <a:latin typeface="微软雅黑"/>
              </a:rPr>
              <a:t>· 通过识别核心领域概念，建立领域模型，可以让代码结构更贴近业务需求： ```java // 领域实体：水资源调度计划 @Entity public class WaterAllocationPlan { @Id private WaterAl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5.5  后台服务设计</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微服务架构考虑</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随着企业应用规模的扩大，单体架构可能无法满足性能和扩展性要求</a:t>
            </a:r>
          </a:p>
          <a:p>
            <a:pPr/>
            <a:r>
              <a:rPr sz="1500" b="0">
                <a:solidFill>
                  <a:srgbClr val="333333"/>
                </a:solidFill>
                <a:latin typeface="微软雅黑"/>
              </a:rPr>
              <a:t>· 微服务架构通过将大型应用拆分为多个独立的小型服务，可以提高系统的可扩展性和容错性： ```java // 监测数据服务 @RestController @RequestMapping("/api/monitoring") public cl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5.5  后台服务设计</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智慧水利应用案例</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2000" b="1">
                <a:solidFill>
                  <a:srgbClr val="333333"/>
                </a:solidFill>
                <a:latin typeface="微软雅黑"/>
              </a:rPr>
              <a:t>案例：将 后台服务设计 应用到智慧水利平台</a:t>
            </a:r>
          </a:p>
          <a:p>
            <a:pPr/>
            <a:r>
              <a:rPr sz="1500" b="0">
                <a:solidFill>
                  <a:srgbClr val="333333"/>
                </a:solidFill>
                <a:latin typeface="微软雅黑"/>
              </a:rPr>
              <a:t>· 业务场景：水利监测数据采集、三维场景展示或工程安全评估等典型业务环节。</a:t>
            </a:r>
          </a:p>
          <a:p>
            <a:pPr/>
            <a:r>
              <a:rPr sz="1500" b="0">
                <a:solidFill>
                  <a:srgbClr val="333333"/>
                </a:solidFill>
                <a:latin typeface="微软雅黑"/>
              </a:rPr>
              <a:t>· 技术落点：本节 后台服务设计 的理论与方法如何映射到平台某个模块。</a:t>
            </a:r>
          </a:p>
          <a:p>
            <a:pPr/>
            <a:r>
              <a:rPr sz="1500" b="0">
                <a:solidFill>
                  <a:srgbClr val="333333"/>
                </a:solidFill>
                <a:latin typeface="微软雅黑"/>
              </a:rPr>
              <a:t>· 实施步骤：按照 需求 → 设计 → 实现 → 验证 的工程化流程逐步推进。</a:t>
            </a:r>
          </a:p>
          <a:p>
            <a:pPr/>
            <a:r>
              <a:rPr sz="1500" b="0">
                <a:solidFill>
                  <a:srgbClr val="333333"/>
                </a:solidFill>
                <a:latin typeface="微软雅黑"/>
              </a:rPr>
              <a:t>· 成效指标：从效率 / 准确率 / 可靠性 三个维度衡量应用效果。</a:t>
            </a:r>
          </a:p>
          <a:p>
            <a:pPr/>
            <a:r>
              <a:rPr sz="1200" b="0">
                <a:solidFill>
                  <a:srgbClr val="595959"/>
                </a:solidFill>
                <a:latin typeface="微软雅黑"/>
              </a:rPr>
              <a:t>（请教师结合具体水利工程实践，补充本节对应的真实案例细节）</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5.5  后台服务设计</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思考题与练习</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800" b="1">
                <a:solidFill>
                  <a:srgbClr val="2E75B6"/>
                </a:solidFill>
                <a:latin typeface="微软雅黑"/>
              </a:rPr>
              <a:t>基础题</a:t>
            </a:r>
          </a:p>
          <a:p>
            <a:pPr/>
            <a:r>
              <a:rPr sz="1400" b="0">
                <a:solidFill>
                  <a:srgbClr val="333333"/>
                </a:solidFill>
                <a:latin typeface="微软雅黑"/>
              </a:rPr>
              <a:t>· 简述 后台服务设计 的基本概念。</a:t>
            </a:r>
          </a:p>
          <a:p>
            <a:pPr/>
            <a:r>
              <a:rPr sz="1400" b="0">
                <a:solidFill>
                  <a:srgbClr val="333333"/>
                </a:solidFill>
                <a:latin typeface="微软雅黑"/>
              </a:rPr>
              <a:t>· 分析 后台服务设计 在智慧水利系统中的作用。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5.5  后台服务设计</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本节小结</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600" b="0">
                <a:solidFill>
                  <a:srgbClr val="333333"/>
                </a:solidFill>
                <a:latin typeface="微软雅黑"/>
              </a:rPr>
              <a:t>本节系统介绍了 后台服务设计 的核心概念、关键技术与典型应用。学生应深入理解其原理，并能够结合智慧水利场景灵活运用，为后续章节学习与平台开发实践打下坚实基础。</a:t>
            </a:r>
          </a:p>
          <a:p>
            <a:pPr/>
            <a:r>
              <a:rPr sz="1000" b="0">
                <a:solidFill>
                  <a:srgbClr val="333333"/>
                </a:solidFill>
                <a:latin typeface="微软雅黑"/>
              </a:rPr>
              <a:t/>
            </a:r>
          </a:p>
          <a:p>
            <a:pPr/>
            <a:r>
              <a:rPr sz="1400" b="0">
                <a:solidFill>
                  <a:srgbClr val="595959"/>
                </a:solidFill>
                <a:latin typeface="微软雅黑"/>
              </a:rPr>
              <a:t>下一步：完成知识图谱上的任务点学习，并在题库中完成本节配套练习。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