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0"/>
            <a:ext cx="12191695"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48640"/>
            <a:ext cx="10698480" cy="457200"/>
          </a:xfrm>
          <a:prstGeom prst="rect">
            <a:avLst/>
          </a:prstGeom>
          <a:noFill/>
        </p:spPr>
        <p:txBody>
          <a:bodyPr wrap="none">
            <a:spAutoFit/>
          </a:bodyPr>
          <a:lstStyle/>
          <a:p>
            <a:r>
              <a:rPr sz="1800" b="0">
                <a:solidFill>
                  <a:srgbClr val="DDEBF7"/>
                </a:solidFill>
                <a:latin typeface="微软雅黑"/>
              </a:rPr>
              <a:t>智慧水利平台架构与开发</a:t>
            </a:r>
          </a:p>
        </p:txBody>
      </p:sp>
      <p:sp>
        <p:nvSpPr>
          <p:cNvPr id="5" name="TextBox 4"/>
          <p:cNvSpPr txBox="1"/>
          <p:nvPr/>
        </p:nvSpPr>
        <p:spPr>
          <a:xfrm>
            <a:off x="731520" y="2377440"/>
            <a:ext cx="10698480" cy="548640"/>
          </a:xfrm>
          <a:prstGeom prst="rect">
            <a:avLst/>
          </a:prstGeom>
          <a:noFill/>
        </p:spPr>
        <p:txBody>
          <a:bodyPr wrap="none">
            <a:spAutoFit/>
          </a:bodyPr>
          <a:lstStyle/>
          <a:p>
            <a:r>
              <a:rPr sz="2200" b="0">
                <a:solidFill>
                  <a:srgbClr val="DDEBF7"/>
                </a:solidFill>
                <a:latin typeface="微软雅黑"/>
              </a:rPr>
              <a:t>第 七 章   三维场景的观测数据展示</a:t>
            </a:r>
          </a:p>
        </p:txBody>
      </p:sp>
      <p:sp>
        <p:nvSpPr>
          <p:cNvPr id="6" name="TextBox 5"/>
          <p:cNvSpPr txBox="1"/>
          <p:nvPr/>
        </p:nvSpPr>
        <p:spPr>
          <a:xfrm>
            <a:off x="731520" y="2926080"/>
            <a:ext cx="10698480" cy="1097280"/>
          </a:xfrm>
          <a:prstGeom prst="rect">
            <a:avLst/>
          </a:prstGeom>
          <a:noFill/>
        </p:spPr>
        <p:txBody>
          <a:bodyPr wrap="none">
            <a:spAutoFit/>
          </a:bodyPr>
          <a:lstStyle/>
          <a:p>
            <a:r>
              <a:rPr sz="7200" b="1">
                <a:solidFill>
                  <a:srgbClr val="FFFFFF"/>
                </a:solidFill>
                <a:latin typeface="微软雅黑"/>
              </a:rPr>
              <a:t>7.4</a:t>
            </a:r>
          </a:p>
        </p:txBody>
      </p:sp>
      <p:sp>
        <p:nvSpPr>
          <p:cNvPr id="7" name="TextBox 6"/>
          <p:cNvSpPr txBox="1"/>
          <p:nvPr/>
        </p:nvSpPr>
        <p:spPr>
          <a:xfrm>
            <a:off x="731520" y="4297680"/>
            <a:ext cx="10698480" cy="914400"/>
          </a:xfrm>
          <a:prstGeom prst="rect">
            <a:avLst/>
          </a:prstGeom>
          <a:noFill/>
        </p:spPr>
        <p:txBody>
          <a:bodyPr wrap="none">
            <a:spAutoFit/>
          </a:bodyPr>
          <a:lstStyle/>
          <a:p>
            <a:r>
              <a:rPr sz="4400" b="1">
                <a:solidFill>
                  <a:srgbClr val="FFFFFF"/>
                </a:solidFill>
                <a:latin typeface="微软雅黑"/>
              </a:rPr>
              <a:t>监测点互动与拾取技术</a:t>
            </a:r>
          </a:p>
        </p:txBody>
      </p:sp>
      <p:sp>
        <p:nvSpPr>
          <p:cNvPr id="8" name="TextBox 7"/>
          <p:cNvSpPr txBox="1"/>
          <p:nvPr/>
        </p:nvSpPr>
        <p:spPr>
          <a:xfrm>
            <a:off x="731520" y="6035040"/>
            <a:ext cx="10698480" cy="365760"/>
          </a:xfrm>
          <a:prstGeom prst="rect">
            <a:avLst/>
          </a:prstGeom>
          <a:noFill/>
        </p:spPr>
        <p:txBody>
          <a:bodyPr wrap="none">
            <a:spAutoFit/>
          </a:bodyPr>
          <a:lstStyle/>
          <a:p>
            <a:r>
              <a:rPr sz="1400" b="0">
                <a:solidFill>
                  <a:srgbClr val="DDEBF7"/>
                </a:solidFill>
                <a:latin typeface="微软雅黑"/>
              </a:rPr>
              <a:t>河海大学 · 水利水电学院</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7.4  监测点互动与拾取技术</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学习目标</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333333"/>
                </a:solidFill>
                <a:latin typeface="微软雅黑"/>
              </a:rPr>
              <a:t>通过本节学习，学生应能够：</a:t>
            </a:r>
          </a:p>
          <a:p>
            <a:pPr/>
            <a:r>
              <a:rPr sz="1800" b="0">
                <a:solidFill>
                  <a:srgbClr val="333333"/>
                </a:solidFill>
                <a:latin typeface="微软雅黑"/>
              </a:rPr>
              <a:t>· 掌握 射线投射基本原理 的核心概念与方法</a:t>
            </a:r>
          </a:p>
          <a:p>
            <a:pPr/>
            <a:r>
              <a:rPr sz="1800" b="0">
                <a:solidFill>
                  <a:srgbClr val="333333"/>
                </a:solidFill>
                <a:latin typeface="微软雅黑"/>
              </a:rPr>
              <a:t>· 掌握 信息面板架构设计 的核心概念与方法</a:t>
            </a:r>
          </a:p>
          <a:p>
            <a:pPr/>
            <a:r>
              <a:rPr sz="1800" b="0">
                <a:solidFill>
                  <a:srgbClr val="333333"/>
                </a:solidFill>
                <a:latin typeface="微软雅黑"/>
              </a:rPr>
              <a:t>· 掌握 渐进式信息披 的核心概念与方法</a:t>
            </a:r>
          </a:p>
          <a:p>
            <a:pPr/>
            <a:r>
              <a:rPr sz="1800" b="0">
                <a:solidFill>
                  <a:srgbClr val="333333"/>
                </a:solidFill>
                <a:latin typeface="微软雅黑"/>
              </a:rPr>
              <a:t>· 能够结合智慧水利平台需求，应用本节内容进行分析与设计</a:t>
            </a:r>
          </a:p>
        </p:txBody>
      </p:sp>
      <p:sp>
        <p:nvSpPr>
          <p:cNvPr id="9" name="TextBox 8"/>
          <p:cNvSpPr txBox="1"/>
          <p:nvPr/>
        </p:nvSpPr>
        <p:spPr>
          <a:xfrm>
            <a:off x="274320" y="6446520"/>
            <a:ext cx="11612880" cy="274320"/>
          </a:xfrm>
          <a:prstGeom prst="rect">
            <a:avLst/>
          </a:prstGeom>
          <a:noFill/>
        </p:spPr>
        <p:txBody>
          <a:bodyPr wrap="none" lIns="0" tIns="0">
            <a:spAutoFit/>
          </a:bodyPr>
          <a:lstStyle/>
          <a:p>
            <a:pPr algn="r"/>
            <a:r>
              <a:rPr sz="1000" b="0">
                <a:solidFill>
                  <a:srgbClr val="595959"/>
                </a:solidFill>
                <a:latin typeface="微软雅黑"/>
              </a:rPr>
              <a:t>河海大学 · 水利水电学院    第 2 / 0 页</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7.4  监测点互动与拾取技术</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本节知识图谱</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1463040"/>
          </a:xfrm>
          <a:prstGeom prst="rect">
            <a:avLst/>
          </a:prstGeom>
          <a:noFill/>
        </p:spPr>
        <p:txBody>
          <a:bodyPr wrap="square">
            <a:spAutoFit/>
          </a:bodyPr>
          <a:lstStyle/>
          <a:p>
            <a:r>
              <a:rPr sz="1400" b="0">
                <a:solidFill>
                  <a:srgbClr val="595959"/>
                </a:solidFill>
                <a:latin typeface="微软雅黑"/>
              </a:rPr>
              <a:t>## 学习目标 通过本节学习，学生应能够 1. **掌握三维射线检测与对象拾取原理**：理解射线投射算法的数学原理和实现方法，掌握三维空间中的精确拾取技 2. **理解用户交互的设计模*：掌握不同交互模式的设计原则，实现直观的用户操作体验 3. **能够实现流畅的交互体*：掌握交互性能优化技术，确保用户操作的实时响 4. **掌握触控设备的交互优*：理解移动端和触控设备的特殊交互需求，实现跨平台的一致体 ## 7.4.1 射线投射算法与碰撞检</a:t>
            </a:r>
          </a:p>
        </p:txBody>
      </p:sp>
      <p:sp>
        <p:nvSpPr>
          <p:cNvPr id="9" name="TextBox 8"/>
          <p:cNvSpPr txBox="1"/>
          <p:nvPr/>
        </p:nvSpPr>
        <p:spPr>
          <a:xfrm>
            <a:off x="548640" y="3657600"/>
            <a:ext cx="11155680" cy="2560320"/>
          </a:xfrm>
          <a:prstGeom prst="rect">
            <a:avLst/>
          </a:prstGeom>
          <a:noFill/>
        </p:spPr>
        <p:txBody>
          <a:bodyPr wrap="square">
            <a:spAutoFit/>
          </a:bodyPr>
          <a:lstStyle/>
          <a:p>
            <a:r>
              <a:rPr sz="1800" b="1">
                <a:solidFill>
                  <a:srgbClr val="003C71"/>
                </a:solidFill>
                <a:latin typeface="微软雅黑"/>
              </a:rPr>
              <a:t>本节主要内容：</a:t>
            </a:r>
          </a:p>
          <a:p>
            <a:pPr/>
            <a:r>
              <a:rPr sz="1600" b="0">
                <a:solidFill>
                  <a:srgbClr val="333333"/>
                </a:solidFill>
                <a:latin typeface="微软雅黑"/>
              </a:rPr>
              <a:t>· 射线投射基本原理</a:t>
            </a:r>
          </a:p>
          <a:p>
            <a:pPr/>
            <a:r>
              <a:rPr sz="1600" b="0">
                <a:solidFill>
                  <a:srgbClr val="333333"/>
                </a:solidFill>
                <a:latin typeface="微软雅黑"/>
              </a:rPr>
              <a:t>· 信息面板架构设计</a:t>
            </a:r>
          </a:p>
          <a:p>
            <a:pPr/>
            <a:r>
              <a:rPr sz="1600" b="0">
                <a:solidFill>
                  <a:srgbClr val="333333"/>
                </a:solidFill>
                <a:latin typeface="微软雅黑"/>
              </a:rPr>
              <a:t>· 渐进式信息披</a:t>
            </a:r>
          </a:p>
          <a:p>
            <a:pPr/>
            <a:r>
              <a:rPr sz="1600" b="0">
                <a:solidFill>
                  <a:srgbClr val="333333"/>
                </a:solidFill>
                <a:latin typeface="微软雅黑"/>
              </a:rPr>
              <a:t>· 触控交互设计原则</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7.4  监测点互动与拾取技术</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射线投射基本原理</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**射线投射算法数学基础** 射线投射是三维图形学中用于检测用户点击或选择三维对象的核心技术</a:t>
            </a:r>
          </a:p>
          <a:p>
            <a:pPr/>
            <a:r>
              <a:rPr sz="1500" b="0">
                <a:solidFill>
                  <a:srgbClr val="333333"/>
                </a:solidFill>
                <a:latin typeface="微软雅黑"/>
              </a:rPr>
              <a:t>· 在水利监测系统中，准确的射线投射算法是实现监测点交互的关键 ```javascript // 高精度射线投射拾取管理器核心实现 class RaycastPickingManager { constructor(camera, scene,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7.4  监测点互动与拾取技术</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信息面板架构设计</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**动态信息面板系* 设计灵活的信息面板系统，能够根据不同设备类型和数据特征动态调整内容布局 ```javascript // 监测点信息面板管理器核心实现 class MonitoringPointInfoPanel { construc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7.4  监测点互动与拾取技术</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渐进式信息披</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**分层信息展示架构** 实现渐进式信息披露，根据用户交互深度逐步展示详细信息 ```javascript // 多层级信息展示管理器核心实现 class MultiLevelInfoDisplay { constructor(scene,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7.4  监测点互动与拾取技术</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触控交互设计原则</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**移动端适配策略** 针对触控设备的特殊需求，设计适合触摸操作的交互模式： ```javascript // 触控设备交互优化管理器核心实 class TouchInteractionOptimizer { constructor(ren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7.4  监测点互动与拾取技术</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智慧水利应用案例</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206240"/>
          </a:xfrm>
          <a:prstGeom prst="rect">
            <a:avLst/>
          </a:prstGeom>
          <a:noFill/>
        </p:spPr>
        <p:txBody>
          <a:bodyPr wrap="square">
            <a:spAutoFit/>
          </a:bodyPr>
          <a:lstStyle/>
          <a:p>
            <a:r>
              <a:rPr sz="2000" b="1">
                <a:solidFill>
                  <a:srgbClr val="333333"/>
                </a:solidFill>
                <a:latin typeface="微软雅黑"/>
              </a:rPr>
              <a:t>案例：将 监测点互动与拾取技术 应用到智慧水利平台</a:t>
            </a:r>
          </a:p>
          <a:p>
            <a:pPr/>
            <a:r>
              <a:rPr sz="1500" b="0">
                <a:solidFill>
                  <a:srgbClr val="333333"/>
                </a:solidFill>
                <a:latin typeface="微软雅黑"/>
              </a:rPr>
              <a:t>· 业务场景：水利监测数据采集、三维场景展示或工程安全评估等典型业务环节。</a:t>
            </a:r>
          </a:p>
          <a:p>
            <a:pPr/>
            <a:r>
              <a:rPr sz="1500" b="0">
                <a:solidFill>
                  <a:srgbClr val="333333"/>
                </a:solidFill>
                <a:latin typeface="微软雅黑"/>
              </a:rPr>
              <a:t>· 技术落点：本节 监测点互动与拾取技术 的理论与方法如何映射到平台某个模块。</a:t>
            </a:r>
          </a:p>
          <a:p>
            <a:pPr/>
            <a:r>
              <a:rPr sz="1500" b="0">
                <a:solidFill>
                  <a:srgbClr val="333333"/>
                </a:solidFill>
                <a:latin typeface="微软雅黑"/>
              </a:rPr>
              <a:t>· 实施步骤：按照 需求 → 设计 → 实现 → 验证 的工程化流程逐步推进。</a:t>
            </a:r>
          </a:p>
          <a:p>
            <a:pPr/>
            <a:r>
              <a:rPr sz="1500" b="0">
                <a:solidFill>
                  <a:srgbClr val="333333"/>
                </a:solidFill>
                <a:latin typeface="微软雅黑"/>
              </a:rPr>
              <a:t>· 成效指标：从效率 / 准确率 / 可靠性 三个维度衡量应用效果。</a:t>
            </a:r>
          </a:p>
          <a:p>
            <a:pPr/>
            <a:r>
              <a:rPr sz="1200" b="0">
                <a:solidFill>
                  <a:srgbClr val="595959"/>
                </a:solidFill>
                <a:latin typeface="微软雅黑"/>
              </a:rPr>
              <a:t>（请教师结合具体水利工程实践，补充本节对应的真实案例细节）</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7.4  监测点互动与拾取技术</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思考题与练习</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206240"/>
          </a:xfrm>
          <a:prstGeom prst="rect">
            <a:avLst/>
          </a:prstGeom>
          <a:noFill/>
        </p:spPr>
        <p:txBody>
          <a:bodyPr wrap="square">
            <a:spAutoFit/>
          </a:bodyPr>
          <a:lstStyle/>
          <a:p>
            <a:r>
              <a:rPr sz="1800" b="1">
                <a:solidFill>
                  <a:srgbClr val="2E75B6"/>
                </a:solidFill>
                <a:latin typeface="微软雅黑"/>
              </a:rPr>
              <a:t>基础题</a:t>
            </a:r>
          </a:p>
          <a:p>
            <a:pPr/>
            <a:r>
              <a:rPr sz="1400" b="0">
                <a:solidFill>
                  <a:srgbClr val="333333"/>
                </a:solidFill>
                <a:latin typeface="微软雅黑"/>
              </a:rPr>
              <a:t>· 简述 监测点互动与拾取技术 的基本概念。</a:t>
            </a:r>
          </a:p>
          <a:p>
            <a:pPr/>
            <a:r>
              <a:rPr sz="1400" b="0">
                <a:solidFill>
                  <a:srgbClr val="333333"/>
                </a:solidFill>
                <a:latin typeface="微软雅黑"/>
              </a:rPr>
              <a:t>· 分析 监测点互动与拾取技术 在智慧水利系统中的作用。</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7.4  监测点互动与拾取技术</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本节小结</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206240"/>
          </a:xfrm>
          <a:prstGeom prst="rect">
            <a:avLst/>
          </a:prstGeom>
          <a:noFill/>
        </p:spPr>
        <p:txBody>
          <a:bodyPr wrap="square">
            <a:spAutoFit/>
          </a:bodyPr>
          <a:lstStyle/>
          <a:p>
            <a:r>
              <a:rPr sz="1600" b="0">
                <a:solidFill>
                  <a:srgbClr val="333333"/>
                </a:solidFill>
                <a:latin typeface="微软雅黑"/>
              </a:rPr>
              <a:t>本节系统介绍了 监测点互动与拾取技术 的核心概念、关键技术与典型应用。学生应深入理解其原理，并能够结合智慧水利场景灵活运用，为后续章节学习与平台开发实践打下坚实基础。</a:t>
            </a:r>
          </a:p>
          <a:p>
            <a:pPr/>
            <a:r>
              <a:rPr sz="1000" b="0">
                <a:solidFill>
                  <a:srgbClr val="333333"/>
                </a:solidFill>
                <a:latin typeface="微软雅黑"/>
              </a:rPr>
              <a:t/>
            </a:r>
          </a:p>
          <a:p>
            <a:pPr/>
            <a:r>
              <a:rPr sz="1400" b="0">
                <a:solidFill>
                  <a:srgbClr val="595959"/>
                </a:solidFill>
                <a:latin typeface="微软雅黑"/>
              </a:rPr>
              <a:t>下一步：完成知识图谱上的任务点学习，并在题库中完成本节配套练习。</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