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377440"/>
            <a:ext cx="10698480" cy="548640"/>
          </a:xfrm>
          <a:prstGeom prst="rect">
            <a:avLst/>
          </a:prstGeom>
          <a:noFill/>
        </p:spPr>
        <p:txBody>
          <a:bodyPr wrap="none">
            <a:spAutoFit/>
          </a:bodyPr>
          <a:lstStyle/>
          <a:p>
            <a:r>
              <a:rPr sz="2200" b="0">
                <a:solidFill>
                  <a:srgbClr val="DDEBF7"/>
                </a:solidFill>
                <a:latin typeface="微软雅黑"/>
              </a:rPr>
              <a:t>第 六 章   智慧水利三维场景构建</a:t>
            </a:r>
          </a:p>
        </p:txBody>
      </p:sp>
      <p:sp>
        <p:nvSpPr>
          <p:cNvPr id="6" name="TextBox 5"/>
          <p:cNvSpPr txBox="1"/>
          <p:nvPr/>
        </p:nvSpPr>
        <p:spPr>
          <a:xfrm>
            <a:off x="731520" y="2926080"/>
            <a:ext cx="10698480" cy="1097280"/>
          </a:xfrm>
          <a:prstGeom prst="rect">
            <a:avLst/>
          </a:prstGeom>
          <a:noFill/>
        </p:spPr>
        <p:txBody>
          <a:bodyPr wrap="none">
            <a:spAutoFit/>
          </a:bodyPr>
          <a:lstStyle/>
          <a:p>
            <a:r>
              <a:rPr sz="7200" b="1">
                <a:solidFill>
                  <a:srgbClr val="FFFFFF"/>
                </a:solidFill>
                <a:latin typeface="微软雅黑"/>
              </a:rPr>
              <a:t>6.6</a:t>
            </a:r>
          </a:p>
        </p:txBody>
      </p:sp>
      <p:sp>
        <p:nvSpPr>
          <p:cNvPr id="7" name="TextBox 6"/>
          <p:cNvSpPr txBox="1"/>
          <p:nvPr/>
        </p:nvSpPr>
        <p:spPr>
          <a:xfrm>
            <a:off x="731520" y="4297680"/>
            <a:ext cx="10698480" cy="914400"/>
          </a:xfrm>
          <a:prstGeom prst="rect">
            <a:avLst/>
          </a:prstGeom>
          <a:noFill/>
        </p:spPr>
        <p:txBody>
          <a:bodyPr wrap="none">
            <a:spAutoFit/>
          </a:bodyPr>
          <a:lstStyle/>
          <a:p>
            <a:r>
              <a:rPr sz="4400" b="1">
                <a:solidFill>
                  <a:srgbClr val="FFFFFF"/>
                </a:solidFill>
                <a:latin typeface="微软雅黑"/>
              </a:rPr>
              <a:t>水利场景渲染方法</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6.6  水利场景渲染方法</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pPr/>
            <a:r>
              <a:rPr sz="1800" b="0">
                <a:solidFill>
                  <a:srgbClr val="333333"/>
                </a:solidFill>
                <a:latin typeface="微软雅黑"/>
              </a:rPr>
              <a:t>· 掌握 基础图形渲染技 的核心概念与方法</a:t>
            </a:r>
          </a:p>
          <a:p>
            <a:pPr/>
            <a:r>
              <a:rPr sz="1800" b="0">
                <a:solidFill>
                  <a:srgbClr val="333333"/>
                </a:solidFill>
                <a:latin typeface="微软雅黑"/>
              </a:rPr>
              <a:t>· 掌握 真实感渲染技 的核心概念与方法</a:t>
            </a:r>
          </a:p>
          <a:p>
            <a:pPr/>
            <a:r>
              <a:rPr sz="1800" b="0">
                <a:solidFill>
                  <a:srgbClr val="333333"/>
                </a:solidFill>
                <a:latin typeface="微软雅黑"/>
              </a:rPr>
              <a:t>· 掌握 水体渲染技 的核心概念与方法</a:t>
            </a:r>
          </a:p>
          <a:p>
            <a:pPr/>
            <a:r>
              <a:rPr sz="1800" b="0">
                <a:solidFill>
                  <a:srgbClr val="333333"/>
                </a:solidFill>
                <a:latin typeface="微软雅黑"/>
              </a:rPr>
              <a:t>· 能够结合智慧水利平台需求，应用本节内容进行分析与设计</a:t>
            </a:r>
          </a:p>
        </p:txBody>
      </p:sp>
      <p:sp>
        <p:nvSpPr>
          <p:cNvPr id="9" name="TextBox 8"/>
          <p:cNvSpPr txBox="1"/>
          <p:nvPr/>
        </p:nvSpPr>
        <p:spPr>
          <a:xfrm>
            <a:off x="274320" y="6446520"/>
            <a:ext cx="11612880" cy="274320"/>
          </a:xfrm>
          <a:prstGeom prst="rect">
            <a:avLst/>
          </a:prstGeom>
          <a:noFill/>
        </p:spPr>
        <p:txBody>
          <a:bodyPr wrap="none" lIns="0" tIns="0">
            <a:spAutoFit/>
          </a:bodyPr>
          <a:lstStyle/>
          <a:p>
            <a:pPr algn="r"/>
            <a:r>
              <a:rPr sz="1000" b="0">
                <a:solidFill>
                  <a:srgbClr val="595959"/>
                </a:solidFill>
                <a:latin typeface="微软雅黑"/>
              </a:rPr>
              <a:t>河海大学 · 水利水电学院    第 2 / 0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6.6  水利场景渲染方法</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本节知识图谱</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657600"/>
            <a:ext cx="11155680" cy="2560320"/>
          </a:xfrm>
          <a:prstGeom prst="rect">
            <a:avLst/>
          </a:prstGeom>
          <a:noFill/>
        </p:spPr>
        <p:txBody>
          <a:bodyPr wrap="square">
            <a:spAutoFit/>
          </a:bodyPr>
          <a:lstStyle/>
          <a:p>
            <a:r>
              <a:rPr sz="1800" b="1">
                <a:solidFill>
                  <a:srgbClr val="003C71"/>
                </a:solidFill>
                <a:latin typeface="微软雅黑"/>
              </a:rPr>
              <a:t>本节主要内容：</a:t>
            </a:r>
          </a:p>
          <a:p>
            <a:pPr/>
            <a:r>
              <a:rPr sz="1600" b="0">
                <a:solidFill>
                  <a:srgbClr val="333333"/>
                </a:solidFill>
                <a:latin typeface="微软雅黑"/>
              </a:rPr>
              <a:t>· 6.5.1 基础图形渲染技</a:t>
            </a:r>
          </a:p>
          <a:p>
            <a:pPr/>
            <a:r>
              <a:rPr sz="1600" b="0">
                <a:solidFill>
                  <a:srgbClr val="333333"/>
                </a:solidFill>
                <a:latin typeface="微软雅黑"/>
              </a:rPr>
              <a:t>· 6.5.2 真实感渲染技</a:t>
            </a:r>
          </a:p>
          <a:p>
            <a:pPr/>
            <a:r>
              <a:rPr sz="1600" b="0">
                <a:solidFill>
                  <a:srgbClr val="333333"/>
                </a:solidFill>
                <a:latin typeface="微软雅黑"/>
              </a:rPr>
              <a:t>· 6.5.3 水体渲染技</a:t>
            </a:r>
          </a:p>
          <a:p>
            <a:pPr/>
            <a:r>
              <a:rPr sz="1600" b="0">
                <a:solidFill>
                  <a:srgbClr val="333333"/>
                </a:solidFill>
                <a:latin typeface="微软雅黑"/>
              </a:rPr>
              <a:t>· 6.5.4 大气与环境渲染技</a:t>
            </a:r>
          </a:p>
          <a:p>
            <a:pPr/>
            <a:r>
              <a:rPr sz="1600" b="0">
                <a:solidFill>
                  <a:srgbClr val="333333"/>
                </a:solidFill>
                <a:latin typeface="微软雅黑"/>
              </a:rPr>
              <a:t>· 6.5.5 三维引擎支撑的高级渲染方</a:t>
            </a:r>
          </a:p>
          <a:p>
            <a:pPr/>
            <a:r>
              <a:rPr sz="1600" b="0">
                <a:solidFill>
                  <a:srgbClr val="333333"/>
                </a:solidFill>
                <a:latin typeface="微软雅黑"/>
              </a:rPr>
              <a:t>· 6.5.6 可视化增强与交互</a:t>
            </a:r>
          </a:p>
          <a:p>
            <a:pPr/>
            <a:r>
              <a:rPr sz="1600" b="0">
                <a:solidFill>
                  <a:srgbClr val="333333"/>
                </a:solidFill>
                <a:latin typeface="微软雅黑"/>
              </a:rPr>
              <a:t>· 基础</a:t>
            </a:r>
          </a:p>
          <a:p>
            <a:pPr/>
            <a:r>
              <a:rPr sz="1600" b="0">
                <a:solidFill>
                  <a:srgbClr val="333333"/>
                </a:solidFill>
                <a:latin typeface="微软雅黑"/>
              </a:rPr>
              <a:t>· 提高</a:t>
            </a:r>
          </a:p>
          <a:p>
            <a:pPr/>
            <a:r>
              <a:rPr sz="1600" b="0">
                <a:solidFill>
                  <a:srgbClr val="333333"/>
                </a:solidFill>
                <a:latin typeface="微软雅黑"/>
              </a:rPr>
              <a:t>· 讨论</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6.6  水利场景渲染方法</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6.5.1 基础图形渲染技</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基础图形渲染技术是构建水利工程三维可视化系统中不可或缺的组成部分，特别是在展示如大坝、水渠、泵站等基础设施的三维模型时，承担着赋予模型真实感和空间表现力的关键任务</a:t>
            </a:r>
          </a:p>
          <a:p>
            <a:pPr/>
            <a:r>
              <a:rPr sz="1500" b="0">
                <a:solidFill>
                  <a:srgbClr val="333333"/>
                </a:solidFill>
                <a:latin typeface="微软雅黑"/>
              </a:rPr>
              <a:t>· 通过对纹理贴图、光照渲染、阴影渲染等基础图形技术的综合应用，能够显著提升水利工程场景的可视化质量，为决策支持、工程模拟、公众展示等多方面提供技术保障 #### 6.5.1.1 纹理贴图（Texture Mapping? 纹理贴图是基础图形渲</a:t>
            </a:r>
          </a:p>
          <a:p>
            <a:pPr/>
            <a:r>
              <a:rPr sz="1500" b="0">
                <a:solidFill>
                  <a:srgbClr val="333333"/>
                </a:solidFill>
                <a:latin typeface="微软雅黑"/>
              </a:rPr>
              <a:t>· 它的核心思想是将二维图像映射到三维模型表面，从而为模型提供视觉上的细节表现</a:t>
            </a:r>
          </a:p>
          <a:p>
            <a:pPr/>
            <a:r>
              <a:rPr sz="1500" b="0">
                <a:solidFill>
                  <a:srgbClr val="333333"/>
                </a:solidFill>
                <a:latin typeface="微软雅黑"/>
              </a:rPr>
              <a:t>· 对于水利工程而言，不同结构（如混凝土大坝、土壤堤坝、钢结构泵站）所需表现的表面质感不同，纹理贴图通过模拟这些材质的表面特性，使得三维模型更具现实感 纹理类型与应用：漫反射贴图（Diffuse Map）：用于定义物体的基本颜色和图案，是最常用</a:t>
            </a:r>
          </a:p>
          <a:p>
            <a:pPr/>
            <a:r>
              <a:rPr sz="1500" b="0">
                <a:solidFill>
                  <a:srgbClr val="333333"/>
                </a:solidFill>
                <a:latin typeface="微软雅黑"/>
              </a:rPr>
              <a:t>· 法线贴图（Normal Map）：模拟表面的细微凸凹，提升模型的光照响应，表现细节而不增加几何复杂度</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6.6  水利场景渲染方法</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6.5.2 真实感渲染技</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PBR渲染技术是一种基于物理的渲染技术，其目的在于运用一种更符合物理学规律的方式来模拟光线，直接以物理参数为依据编写表面材质，让模型材质在任何光照条件下都能看上去更加真实 PBR渲染技术主要基于三种理论：微平面理论、能量守恒定理以及反射率方</a:t>
            </a:r>
          </a:p>
          <a:p>
            <a:pPr/>
            <a:r>
              <a:rPr sz="1500" b="0">
                <a:solidFill>
                  <a:srgbClr val="333333"/>
                </a:solidFill>
                <a:latin typeface="微软雅黑"/>
              </a:rPr>
              <a:t>· *v*为视线向量 2）能量守恒定理认为出射光线的能量永远不可以超过入射光线的能量（发光面除外），且无论何种光线，其被材质表面所反射的能量将难以再被材质吸收，在遵守能量守恒定律的前提下，折射与反射所占的光线比例都不可能超过1.0? 3）反射率</a:t>
            </a:r>
          </a:p>
          <a:p>
            <a:pPr/>
            <a:r>
              <a:rPr sz="1500" b="0">
                <a:solidFill>
                  <a:srgbClr val="333333"/>
                </a:solidFill>
                <a:latin typeface="微软雅黑"/>
              </a:rPr>
              <a:t>· PBR渲染技术基于渲染方程与双向反射分布函数BxDF，某一p*的渲染方程可以表示为 ${L_0}\left( {p,{w_0}}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6.6  水利场景渲染方法</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6.5.3 水体渲染技</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水体渲染技术是水利工程三维可视化中的关键组成部分，旨在逼真地再现水体的动态特性和与环境的交互效果</a:t>
            </a:r>
          </a:p>
          <a:p>
            <a:pPr/>
            <a:r>
              <a:rPr sz="1500" b="0">
                <a:solidFill>
                  <a:srgbClr val="333333"/>
                </a:solidFill>
                <a:latin typeface="微软雅黑"/>
              </a:rPr>
              <a:t>· 以下将详细介绍四种核心技术：动态水面模拟、反射与折射、透明度与深度混合、以及粒子系统模拟水花与雨滴</a:t>
            </a:r>
          </a:p>
          <a:p>
            <a:pPr/>
            <a:r>
              <a:rPr sz="1500" b="0">
                <a:solidFill>
                  <a:srgbClr val="333333"/>
                </a:solidFill>
                <a:latin typeface="微软雅黑"/>
              </a:rPr>
              <a:t>· 每项技术在提升水体渲染真实感方面发挥着重要作用 #### 6.5.3.1 动态水面模 动态水面模拟是实现水体自然波动和流动效果的基础</a:t>
            </a:r>
          </a:p>
          <a:p>
            <a:pPr/>
            <a:r>
              <a:rPr sz="1500" b="0">
                <a:solidFill>
                  <a:srgbClr val="333333"/>
                </a:solidFill>
                <a:latin typeface="微软雅黑"/>
              </a:rPr>
              <a:t>· 常见的方法包括基于正弦函数的简化波动模拟和基于流体动力学的复杂模拟 一、正弦函数模 通过叠加多个正弦波函数，可以模拟水面的基本波动效果</a:t>
            </a:r>
          </a:p>
          <a:p>
            <a:pPr/>
            <a:r>
              <a:rPr sz="1500" b="0">
                <a:solidFill>
                  <a:srgbClr val="333333"/>
                </a:solidFill>
                <a:latin typeface="微软雅黑"/>
              </a:rPr>
              <a:t>· 这种方法计算效率高，适用于对真实感要求不高的场景 二、基于流体动力学的模 采用Navier-Stokes方程或其简化形式（如浅水方程）进行水体模拟，能够更真实地再现水流的动态行为</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6.6  水利场景渲染方法</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6.5.4 大气与环境渲染技</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在水利工程三维可视化中，大气与环境渲染技术对于提升整体场景的沉浸感和真实感具有重要意义</a:t>
            </a:r>
          </a:p>
          <a:p>
            <a:pPr/>
            <a:r>
              <a:rPr sz="1500" b="0">
                <a:solidFill>
                  <a:srgbClr val="333333"/>
                </a:solidFill>
                <a:latin typeface="微软雅黑"/>
              </a:rPr>
              <a:t>· 以下将详细介绍三种核心技术：雾效（Fog Effect）、天空盒（Skybox）与HDR环境贴图，以及天气系统模拟</a:t>
            </a:r>
          </a:p>
          <a:p>
            <a:pPr/>
            <a:r>
              <a:rPr sz="1500" b="0">
                <a:solidFill>
                  <a:srgbClr val="333333"/>
                </a:solidFill>
                <a:latin typeface="微软雅黑"/>
              </a:rPr>
              <a:t>· 每项技术在增强视觉效果和模拟自然环境方面发挥着关键作用 #### 6.5.4.1 雾效（Fog Effect? 雾效是模拟空气中水汽、尘埃等粒子对光线散射的现象，能够增强场景的深度感和真实感</a:t>
            </a:r>
          </a:p>
          <a:p>
            <a:pPr/>
            <a:r>
              <a:rPr sz="1500" b="0">
                <a:solidFill>
                  <a:srgbClr val="333333"/>
                </a:solidFill>
                <a:latin typeface="微软雅黑"/>
              </a:rPr>
              <a:t>· 在水利工程中，雾效常用于模拟洪水、泄洪等场景中的水汽弥漫效果 一、雾效类 线性雾（Linear Fog）：雾的密度随距离线性增加，适用于简单的场景</a:t>
            </a:r>
          </a:p>
          <a:p>
            <a:pPr/>
            <a:r>
              <a:rPr sz="1500" b="0">
                <a:solidFill>
                  <a:srgbClr val="333333"/>
                </a:solidFill>
                <a:latin typeface="微软雅黑"/>
              </a:rPr>
              <a:t>· 指数雾（Exponential Fog）：雾的密度随距离指数增加，能够更真实地模拟自然雾效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6.6  水利场景渲染方法</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6.5.5 三维引擎支撑的高级渲染方</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 6.5.5.1 实时渲染（Real-time Rendering? 实时渲染是指在用户交互过程中，以尽可能高的帧率即时生成图像的渲染方式，广泛应用于虚拟现实（VR）、增强现实（AR）、数字孪生和互动水利展示系统中</a:t>
            </a:r>
          </a:p>
          <a:p>
            <a:pPr/>
            <a:r>
              <a:rPr sz="1500" b="0">
                <a:solidFill>
                  <a:srgbClr val="333333"/>
                </a:solidFill>
                <a:latin typeface="微软雅黑"/>
              </a:rPr>
              <a:t>· 在水利工程场景中，实时渲染主要用于三维模型的交互浏览、动态展示、运行仿真等 技术原理：实时渲染依赖图形处理器（GPU）进行并行计算，通常使用着色器语言（如HLSL、GLSL）编写顶点和像素处理逻辑</a:t>
            </a:r>
          </a:p>
          <a:p>
            <a:pPr/>
            <a:r>
              <a:rPr sz="1500" b="0">
                <a:solidFill>
                  <a:srgbClr val="333333"/>
                </a:solidFill>
                <a:latin typeface="微软雅黑"/>
              </a:rPr>
              <a:t>· 通过减少渲染通道、简化光照计算、使用GPU缓存等手段，能够在不牺牲太多画质的前提下，提升渲染速度</a:t>
            </a:r>
          </a:p>
          <a:p>
            <a:pPr/>
            <a:r>
              <a:rPr sz="1500" b="0">
                <a:solidFill>
                  <a:srgbClr val="333333"/>
                </a:solidFill>
                <a:latin typeface="微软雅黑"/>
              </a:rPr>
              <a:t>· 应用于水利场景：实时洪水模拟浏览：用户可通过交互式界面调整降雨强度、水位变化等参数，实时看到三维洪水淹没演化过程 水库调度演示系统：动态显示水库闸门开启情况、水位升降与下游流量反馈，便于进行应急演练与培训</a:t>
            </a:r>
          </a:p>
          <a:p>
            <a:pPr/>
            <a:r>
              <a:rPr sz="1500" b="0">
                <a:solidFill>
                  <a:srgbClr val="333333"/>
                </a:solidFill>
                <a:latin typeface="微软雅黑"/>
              </a:rPr>
              <a:t>· VR体验：在虚拟现实中，实时渲染支持用户以第一人称视角漫游大坝、渠道、取水口等设施，增强沉浸感和理解深度 优势：高帧率保证用户交互流畅</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6.6  水利场景渲染方法</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6.5.6 可视化增强与交互</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 6.5.6.1 热力图与流向箭头叠加 在三维水利场景中，通过在水体表面或特定区域叠加热力图和流向箭头，可直观表达水流速度、流向、水位差异、泥沙浓度、污染扩散趋势等多种动态物理量</a:t>
            </a:r>
          </a:p>
          <a:p>
            <a:pPr/>
            <a:r>
              <a:rPr sz="1500" b="0">
                <a:solidFill>
                  <a:srgbClr val="333333"/>
                </a:solidFill>
                <a:latin typeface="微软雅黑"/>
              </a:rPr>
              <a:t>· 这种可视化方式广泛应用于河流分析、水库调度、防洪预测、科研教学等场景 技术原理：热力图（Heatmap）渲染：基于水动力模拟或实时监测数据，将物理量（如流速、浓度）映射为颜色梯度</a:t>
            </a:r>
          </a:p>
          <a:p>
            <a:pPr/>
            <a:r>
              <a:rPr sz="1500" b="0">
                <a:solidFill>
                  <a:srgbClr val="333333"/>
                </a:solidFill>
                <a:latin typeface="微软雅黑"/>
              </a:rPr>
              <a:t>· 常用颜色方案为红，分别代表低到高的数值区间</a:t>
            </a:r>
          </a:p>
          <a:p>
            <a:pPr/>
            <a:r>
              <a:rPr sz="1500" b="0">
                <a:solidFill>
                  <a:srgbClr val="333333"/>
                </a:solidFill>
                <a:latin typeface="微软雅黑"/>
              </a:rPr>
              <a:t>· 渲染时采用顶点颜色插值、纹理混合或后处理效果进行颜色叠加</a:t>
            </a:r>
          </a:p>
          <a:p>
            <a:pPr/>
            <a:r>
              <a:rPr sz="1500" b="0">
                <a:solidFill>
                  <a:srgbClr val="333333"/>
                </a:solidFill>
                <a:latin typeface="微软雅黑"/>
              </a:rPr>
              <a:t>· 流向箭头（Vector Field Overlay）：将水动力数据（如二维流速场）转化为矢量场</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6.6  水利场景渲染方法</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智慧水利应用案例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2000" b="1">
                <a:solidFill>
                  <a:srgbClr val="333333"/>
                </a:solidFill>
                <a:latin typeface="微软雅黑"/>
              </a:rPr>
              <a:t>案例：将 水利场景渲染方法 应用到智慧水利平台</a:t>
            </a:r>
          </a:p>
          <a:p>
            <a:pPr/>
            <a:r>
              <a:rPr sz="1500" b="0">
                <a:solidFill>
                  <a:srgbClr val="333333"/>
                </a:solidFill>
                <a:latin typeface="微软雅黑"/>
              </a:rPr>
              <a:t>· 业务场景：水利监测数据采集、三维场景展示或工程安全评估等典型业务环节。</a:t>
            </a:r>
          </a:p>
          <a:p>
            <a:pPr/>
            <a:r>
              <a:rPr sz="1500" b="0">
                <a:solidFill>
                  <a:srgbClr val="333333"/>
                </a:solidFill>
                <a:latin typeface="微软雅黑"/>
              </a:rPr>
              <a:t>· 技术落点：本节 水利场景渲染方法 的理论与方法如何映射到平台某个模块。</a:t>
            </a:r>
          </a:p>
          <a:p>
            <a:pPr/>
            <a:r>
              <a:rPr sz="1500" b="0">
                <a:solidFill>
                  <a:srgbClr val="333333"/>
                </a:solidFill>
                <a:latin typeface="微软雅黑"/>
              </a:rPr>
              <a:t>· 实施步骤：按照 需求 → 设计 → 实现 → 验证 的工程化流程逐步推进。</a:t>
            </a:r>
          </a:p>
          <a:p>
            <a:pPr/>
            <a:r>
              <a:rPr sz="1500" b="0">
                <a:solidFill>
                  <a:srgbClr val="333333"/>
                </a:solidFill>
                <a:latin typeface="微软雅黑"/>
              </a:rPr>
              <a:t>· 成效指标：从效率 / 准确率 / 可靠性 三个维度衡量应用效果。</a:t>
            </a:r>
          </a:p>
          <a:p>
            <a:pPr/>
            <a:r>
              <a:rPr sz="1200" b="0">
                <a:solidFill>
                  <a:srgbClr val="595959"/>
                </a:solidFill>
                <a:latin typeface="微软雅黑"/>
              </a:rPr>
              <a:t>（请教师结合具体水利工程实践，补充本节对应的真实案例细节）</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6.6  水利场景渲染方法</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800" b="1">
                <a:solidFill>
                  <a:srgbClr val="2E75B6"/>
                </a:solidFill>
                <a:latin typeface="微软雅黑"/>
              </a:rPr>
              <a:t>基础题</a:t>
            </a:r>
          </a:p>
          <a:p>
            <a:pPr/>
            <a:r>
              <a:rPr sz="1400" b="0">
                <a:solidFill>
                  <a:srgbClr val="333333"/>
                </a:solidFill>
                <a:latin typeface="微软雅黑"/>
              </a:rPr>
              <a:t>· 简述 水利场景渲染方法 的基本概念。</a:t>
            </a:r>
          </a:p>
          <a:p>
            <a:pPr/>
            <a:r>
              <a:rPr sz="1400" b="0">
                <a:solidFill>
                  <a:srgbClr val="333333"/>
                </a:solidFill>
                <a:latin typeface="微软雅黑"/>
              </a:rPr>
              <a:t>· 分析 水利场景渲染方法 在智慧水利系统中的作用。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6.6  水利场景渲染方法</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600" b="0">
                <a:solidFill>
                  <a:srgbClr val="333333"/>
                </a:solidFill>
                <a:latin typeface="微软雅黑"/>
              </a:rPr>
              <a:t>本节围绕水利三维场景的可视化呈现与真实再现，系统梳理并详细介绍了当前主流的水利场景渲染方法，从多个维度出发，构建了一个覆盖基础技术、真实物理模拟、交互体验和平台支撑的完整渲染体系。内容涵盖六大方面，既注重技术深度，也强调实际应用，为水利工程的三维建模与仿真展示提供了坚实基础 在基础图形渲染技术方面，介绍了纹理贴图、光照模型、阴影渲染等核心方法，这些技术是构建水利三维模型外观的基础，使大坝、水渠、泵站等工程设施能够在视觉上具备结构合理、层次清晰、材质真实的表现力。通过贴图与光影的结合，即使是基本几何形体，也能展现出丰富的细节质感和空间深度 在真实感渲染技术（PBR）中，强调了对物理属性的精准模拟，例如金属度、粗糙度、法线贴图等，为桥梁钢构件、混凝土表面、水体反光等复杂材质提供了更具说服力的真实效果。PBR技术不仅提升了场景的整体可信度，更使渲染结果在不同光照条件下保持一致性，为后续动态变化场</a:t>
            </a:r>
          </a:p>
          <a:p>
            <a:pPr/>
            <a:r>
              <a:rPr sz="1000" b="0">
                <a:solidFill>
                  <a:srgbClr val="333333"/>
                </a:solidFill>
                <a:latin typeface="微软雅黑"/>
              </a:rPr>
              <a:t/>
            </a:r>
          </a:p>
          <a:p>
            <a:pPr/>
            <a:r>
              <a:rPr sz="1400" b="0">
                <a:solidFill>
                  <a:srgbClr val="595959"/>
                </a:solidFill>
                <a:latin typeface="微软雅黑"/>
              </a:rPr>
              <a:t>下一步：完成知识图谱上的任务点学习，并在题库中完成本节配套练习。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