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0"/>
            <a:ext cx="12191695" cy="4572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48640"/>
            <a:ext cx="10698480" cy="457200"/>
          </a:xfrm>
          <a:prstGeom prst="rect">
            <a:avLst/>
          </a:prstGeom>
          <a:noFill/>
        </p:spPr>
        <p:txBody>
          <a:bodyPr wrap="none">
            <a:spAutoFit/>
          </a:bodyPr>
          <a:lstStyle/>
          <a:p>
            <a:r>
              <a:rPr sz="1800" b="0">
                <a:solidFill>
                  <a:srgbClr val="DDEBF7"/>
                </a:solidFill>
                <a:latin typeface="微软雅黑"/>
              </a:rPr>
              <a:t>智慧水利平台架构与开发</a:t>
            </a:r>
          </a:p>
        </p:txBody>
      </p:sp>
      <p:sp>
        <p:nvSpPr>
          <p:cNvPr id="5" name="TextBox 4"/>
          <p:cNvSpPr txBox="1"/>
          <p:nvPr/>
        </p:nvSpPr>
        <p:spPr>
          <a:xfrm>
            <a:off x="731520" y="2377440"/>
            <a:ext cx="10698480" cy="548640"/>
          </a:xfrm>
          <a:prstGeom prst="rect">
            <a:avLst/>
          </a:prstGeom>
          <a:noFill/>
        </p:spPr>
        <p:txBody>
          <a:bodyPr wrap="none">
            <a:spAutoFit/>
          </a:bodyPr>
          <a:lstStyle/>
          <a:p>
            <a:r>
              <a:rPr sz="2200" b="0">
                <a:solidFill>
                  <a:srgbClr val="DDEBF7"/>
                </a:solidFill>
                <a:latin typeface="微软雅黑"/>
              </a:rPr>
              <a:t>第 六 章   智慧水利三维场景构建</a:t>
            </a:r>
          </a:p>
        </p:txBody>
      </p:sp>
      <p:sp>
        <p:nvSpPr>
          <p:cNvPr id="6" name="TextBox 5"/>
          <p:cNvSpPr txBox="1"/>
          <p:nvPr/>
        </p:nvSpPr>
        <p:spPr>
          <a:xfrm>
            <a:off x="731520" y="2926080"/>
            <a:ext cx="10698480" cy="1097280"/>
          </a:xfrm>
          <a:prstGeom prst="rect">
            <a:avLst/>
          </a:prstGeom>
          <a:noFill/>
        </p:spPr>
        <p:txBody>
          <a:bodyPr wrap="none">
            <a:spAutoFit/>
          </a:bodyPr>
          <a:lstStyle/>
          <a:p>
            <a:r>
              <a:rPr sz="7200" b="1">
                <a:solidFill>
                  <a:srgbClr val="FFFFFF"/>
                </a:solidFill>
                <a:latin typeface="微软雅黑"/>
              </a:rPr>
              <a:t>6.5</a:t>
            </a:r>
          </a:p>
        </p:txBody>
      </p:sp>
      <p:sp>
        <p:nvSpPr>
          <p:cNvPr id="7" name="TextBox 6"/>
          <p:cNvSpPr txBox="1"/>
          <p:nvPr/>
        </p:nvSpPr>
        <p:spPr>
          <a:xfrm>
            <a:off x="731520" y="4297680"/>
            <a:ext cx="10698480" cy="914400"/>
          </a:xfrm>
          <a:prstGeom prst="rect">
            <a:avLst/>
          </a:prstGeom>
          <a:noFill/>
        </p:spPr>
        <p:txBody>
          <a:bodyPr wrap="none">
            <a:spAutoFit/>
          </a:bodyPr>
          <a:lstStyle/>
          <a:p>
            <a:r>
              <a:rPr sz="4400" b="1">
                <a:solidFill>
                  <a:srgbClr val="FFFFFF"/>
                </a:solidFill>
                <a:latin typeface="微软雅黑"/>
              </a:rPr>
              <a:t>水利场景渲染方法</a:t>
            </a:r>
          </a:p>
        </p:txBody>
      </p:sp>
      <p:sp>
        <p:nvSpPr>
          <p:cNvPr id="8" name="TextBox 7"/>
          <p:cNvSpPr txBox="1"/>
          <p:nvPr/>
        </p:nvSpPr>
        <p:spPr>
          <a:xfrm>
            <a:off x="731520" y="6035040"/>
            <a:ext cx="10698480" cy="365760"/>
          </a:xfrm>
          <a:prstGeom prst="rect">
            <a:avLst/>
          </a:prstGeom>
          <a:noFill/>
        </p:spPr>
        <p:txBody>
          <a:bodyPr wrap="none">
            <a:spAutoFit/>
          </a:bodyPr>
          <a:lstStyle/>
          <a:p>
            <a:r>
              <a:rPr sz="1400" b="0">
                <a:solidFill>
                  <a:srgbClr val="DDEBF7"/>
                </a:solidFill>
                <a:latin typeface="微软雅黑"/>
              </a:rPr>
              <a:t>河海大学 · 水利水电学院</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6.5  水利场景渲染方法</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3200" b="1">
                <a:solidFill>
                  <a:srgbClr val="003C71"/>
                </a:solidFill>
                <a:latin typeface="微软雅黑"/>
              </a:rPr>
              <a:t>学习目标</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4114800"/>
          </a:xfrm>
          <a:prstGeom prst="rect">
            <a:avLst/>
          </a:prstGeom>
          <a:noFill/>
        </p:spPr>
        <p:txBody>
          <a:bodyPr wrap="square">
            <a:spAutoFit/>
          </a:bodyPr>
          <a:lstStyle/>
          <a:p>
            <a:r>
              <a:rPr sz="2000" b="1">
                <a:solidFill>
                  <a:srgbClr val="333333"/>
                </a:solidFill>
                <a:latin typeface="微软雅黑"/>
              </a:rPr>
              <a:t>通过本节学习，学生应能够：</a:t>
            </a:r>
          </a:p>
          <a:p>
            <a:pPr/>
            <a:r>
              <a:rPr sz="1800" b="0">
                <a:solidFill>
                  <a:srgbClr val="333333"/>
                </a:solidFill>
                <a:latin typeface="微软雅黑"/>
              </a:rPr>
              <a:t>· 掌握 无人机倾斜摄影测量系统构成 的核心概念与方法</a:t>
            </a:r>
          </a:p>
          <a:p>
            <a:pPr/>
            <a:r>
              <a:rPr sz="1800" b="0">
                <a:solidFill>
                  <a:srgbClr val="333333"/>
                </a:solidFill>
                <a:latin typeface="微软雅黑"/>
              </a:rPr>
              <a:t>· 掌握 无人机倾斜摄影测量特点与应 的核心概念与方法</a:t>
            </a:r>
          </a:p>
          <a:p>
            <a:pPr/>
            <a:r>
              <a:rPr sz="1800" b="0">
                <a:solidFill>
                  <a:srgbClr val="333333"/>
                </a:solidFill>
                <a:latin typeface="微软雅黑"/>
              </a:rPr>
              <a:t>· 掌握 三维模型具体构建流程 的核心概念与方法</a:t>
            </a:r>
          </a:p>
          <a:p>
            <a:pPr/>
            <a:r>
              <a:rPr sz="1800" b="0">
                <a:solidFill>
                  <a:srgbClr val="333333"/>
                </a:solidFill>
                <a:latin typeface="微软雅黑"/>
              </a:rPr>
              <a:t>· 能够结合智慧水利平台需求，应用本节内容进行分析与设计</a:t>
            </a:r>
          </a:p>
        </p:txBody>
      </p:sp>
      <p:sp>
        <p:nvSpPr>
          <p:cNvPr id="9" name="TextBox 8"/>
          <p:cNvSpPr txBox="1"/>
          <p:nvPr/>
        </p:nvSpPr>
        <p:spPr>
          <a:xfrm>
            <a:off x="274320" y="6446520"/>
            <a:ext cx="11612880" cy="274320"/>
          </a:xfrm>
          <a:prstGeom prst="rect">
            <a:avLst/>
          </a:prstGeom>
          <a:noFill/>
        </p:spPr>
        <p:txBody>
          <a:bodyPr wrap="none" lIns="0" tIns="0">
            <a:spAutoFit/>
          </a:bodyPr>
          <a:lstStyle/>
          <a:p>
            <a:pPr algn="r"/>
            <a:r>
              <a:rPr sz="1000" b="0">
                <a:solidFill>
                  <a:srgbClr val="595959"/>
                </a:solidFill>
                <a:latin typeface="微软雅黑"/>
              </a:rPr>
              <a:t>河海大学 · 水利水电学院    第 2 / 0 页</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6.5  水利场景渲染方法</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3200" b="1">
                <a:solidFill>
                  <a:srgbClr val="003C71"/>
                </a:solidFill>
                <a:latin typeface="微软雅黑"/>
              </a:rPr>
              <a:t>本节知识图谱</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1463040"/>
          </a:xfrm>
          <a:prstGeom prst="rect">
            <a:avLst/>
          </a:prstGeom>
          <a:noFill/>
        </p:spPr>
        <p:txBody>
          <a:bodyPr wrap="square">
            <a:spAutoFit/>
          </a:bodyPr>
          <a:lstStyle/>
          <a:p>
            <a:r>
              <a:rPr sz="1400" b="0">
                <a:solidFill>
                  <a:srgbClr val="595959"/>
                </a:solidFill>
                <a:latin typeface="微软雅黑"/>
              </a:rPr>
              <a:t>无人机倾斜摄影测量技术包括无人机和倾斜摄影测量技术两部分。其中，无人机起到搭载倾斜摄影测量设备的作用，而摄影测量任务则由倾斜航空相机完成。目前应用较多的是五镜头航空相机，分别从正摄、前视、后视、左视和右视五个方位进行数据采集，配合实时差分定位系统获取地物高精度的位置和姿态信息</a:t>
            </a:r>
          </a:p>
        </p:txBody>
      </p:sp>
      <p:sp>
        <p:nvSpPr>
          <p:cNvPr id="9" name="TextBox 8"/>
          <p:cNvSpPr txBox="1"/>
          <p:nvPr/>
        </p:nvSpPr>
        <p:spPr>
          <a:xfrm>
            <a:off x="548640" y="3657600"/>
            <a:ext cx="11155680" cy="2560320"/>
          </a:xfrm>
          <a:prstGeom prst="rect">
            <a:avLst/>
          </a:prstGeom>
          <a:noFill/>
        </p:spPr>
        <p:txBody>
          <a:bodyPr wrap="square">
            <a:spAutoFit/>
          </a:bodyPr>
          <a:lstStyle/>
          <a:p>
            <a:r>
              <a:rPr sz="1800" b="1">
                <a:solidFill>
                  <a:srgbClr val="003C71"/>
                </a:solidFill>
                <a:latin typeface="微软雅黑"/>
              </a:rPr>
              <a:t>本节主要内容：</a:t>
            </a:r>
          </a:p>
          <a:p>
            <a:pPr/>
            <a:r>
              <a:rPr sz="1600" b="0">
                <a:solidFill>
                  <a:srgbClr val="333333"/>
                </a:solidFill>
                <a:latin typeface="微软雅黑"/>
              </a:rPr>
              <a:t>· 6.4.1 无人机倾斜摄影测量系统构成</a:t>
            </a:r>
          </a:p>
          <a:p>
            <a:pPr/>
            <a:r>
              <a:rPr sz="1600" b="0">
                <a:solidFill>
                  <a:srgbClr val="333333"/>
                </a:solidFill>
                <a:latin typeface="微软雅黑"/>
              </a:rPr>
              <a:t>· 6.4.2 无人机倾斜摄影测量特点与应</a:t>
            </a:r>
          </a:p>
          <a:p>
            <a:pPr/>
            <a:r>
              <a:rPr sz="1600" b="0">
                <a:solidFill>
                  <a:srgbClr val="333333"/>
                </a:solidFill>
                <a:latin typeface="微软雅黑"/>
              </a:rPr>
              <a:t>· 6.4.3三维模型具体构建流程</a:t>
            </a:r>
          </a:p>
          <a:p>
            <a:pPr/>
            <a:r>
              <a:rPr sz="1600" b="0">
                <a:solidFill>
                  <a:srgbClr val="333333"/>
                </a:solidFill>
                <a:latin typeface="微软雅黑"/>
              </a:rPr>
              <a:t>· 6.4.4工程三维模型构建流程</a:t>
            </a:r>
          </a:p>
          <a:p>
            <a:pPr/>
            <a:r>
              <a:rPr sz="1600" b="0">
                <a:solidFill>
                  <a:srgbClr val="333333"/>
                </a:solidFill>
                <a:latin typeface="微软雅黑"/>
              </a:rPr>
              <a:t>· 6.4.5 模型成果分析</a:t>
            </a:r>
          </a:p>
          <a:p>
            <a:pPr/>
            <a:r>
              <a:rPr sz="1600" b="0">
                <a:solidFill>
                  <a:srgbClr val="333333"/>
                </a:solidFill>
                <a:latin typeface="微软雅黑"/>
              </a:rPr>
              <a:t>· 基础</a:t>
            </a:r>
          </a:p>
          <a:p>
            <a:pPr/>
            <a:r>
              <a:rPr sz="1600" b="0">
                <a:solidFill>
                  <a:srgbClr val="333333"/>
                </a:solidFill>
                <a:latin typeface="微软雅黑"/>
              </a:rPr>
              <a:t>· 提高</a:t>
            </a:r>
          </a:p>
          <a:p>
            <a:pPr/>
            <a:r>
              <a:rPr sz="1600" b="0">
                <a:solidFill>
                  <a:srgbClr val="333333"/>
                </a:solidFill>
                <a:latin typeface="微软雅黑"/>
              </a:rPr>
              <a:t>· 讨论</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6.5  水利场景渲染方法</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2800" b="1">
                <a:solidFill>
                  <a:srgbClr val="003C71"/>
                </a:solidFill>
                <a:latin typeface="微软雅黑"/>
              </a:rPr>
              <a:t>6.4.1 无人机倾斜摄影测量系统构成</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4114800"/>
          </a:xfrm>
          <a:prstGeom prst="rect">
            <a:avLst/>
          </a:prstGeom>
          <a:noFill/>
        </p:spPr>
        <p:txBody>
          <a:bodyPr wrap="square">
            <a:spAutoFit/>
          </a:bodyPr>
          <a:lstStyle/>
          <a:p>
            <a:r>
              <a:rPr sz="2000" b="1">
                <a:solidFill>
                  <a:srgbClr val="2E75B6"/>
                </a:solidFill>
                <a:latin typeface="微软雅黑"/>
              </a:rPr>
              <a:t>核心要点</a:t>
            </a:r>
          </a:p>
          <a:p>
            <a:pPr/>
            <a:r>
              <a:rPr sz="1500" b="0">
                <a:solidFill>
                  <a:srgbClr val="333333"/>
                </a:solidFill>
                <a:latin typeface="微软雅黑"/>
              </a:rPr>
              <a:t>· 无人机倾斜摄影测量系统主要由四部分组成，分别是无人机飞行器、航摄仪 地面控制器和内业数据处理软件</a:t>
            </a:r>
          </a:p>
          <a:p>
            <a:pPr/>
            <a:r>
              <a:rPr sz="1500" b="0">
                <a:solidFill>
                  <a:srgbClr val="333333"/>
                </a:solidFill>
                <a:latin typeface="微软雅黑"/>
              </a:rPr>
              <a:t>· 如.5所示 ![?6.1](images/ch6_image61.png) **?.5 无人机倾斜摄影测量系统结构* ?）无人机飞行 无人机即无人驾驶飞行器，可通过无线电遥控设备或程序控制装置进行操控</a:t>
            </a:r>
          </a:p>
          <a:p>
            <a:pPr/>
            <a:r>
              <a:rPr sz="1500" b="0">
                <a:solidFill>
                  <a:srgbClr val="333333"/>
                </a:solidFill>
                <a:latin typeface="微软雅黑"/>
              </a:rPr>
              <a:t>· 无人机的种类丰富多样，根据动力结构的不同，可分为油动和电动两种</a:t>
            </a:r>
          </a:p>
          <a:p>
            <a:pPr/>
            <a:r>
              <a:rPr sz="1500" b="0">
                <a:solidFill>
                  <a:srgbClr val="333333"/>
                </a:solidFill>
                <a:latin typeface="微软雅黑"/>
              </a:rPr>
              <a:t>· 按照外形结构可分为固定翼、多旋翼无人机和无人直升机，其中多旋翼无人机又包含四旋翼、八旋翼等</a:t>
            </a:r>
          </a:p>
          <a:p>
            <a:pPr/>
            <a:r>
              <a:rPr sz="1500" b="0">
                <a:solidFill>
                  <a:srgbClr val="333333"/>
                </a:solidFill>
                <a:latin typeface="微软雅黑"/>
              </a:rPr>
              <a:t>· 从用途方面来看，又可分为军用、民用和专业级无人机 ?）航摄仪 航摄仪指的是搭载在飞行器平台上的进行航空摄影的仪器，它能够从不同角度采集地物影像，包括倾斜角度、垂直角度等，能够对地物的信息进行相对完整地获取，并且航摄仪可以根据飞行器的载荷限制</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6.5  水利场景渲染方法</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2800" b="1">
                <a:solidFill>
                  <a:srgbClr val="003C71"/>
                </a:solidFill>
                <a:latin typeface="微软雅黑"/>
              </a:rPr>
              <a:t>6.4.2 无人机倾斜摄影测量特点与应</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4114800"/>
          </a:xfrm>
          <a:prstGeom prst="rect">
            <a:avLst/>
          </a:prstGeom>
          <a:noFill/>
        </p:spPr>
        <p:txBody>
          <a:bodyPr wrap="square">
            <a:spAutoFit/>
          </a:bodyPr>
          <a:lstStyle/>
          <a:p>
            <a:r>
              <a:rPr sz="2000" b="1">
                <a:solidFill>
                  <a:srgbClr val="2E75B6"/>
                </a:solidFill>
                <a:latin typeface="微软雅黑"/>
              </a:rPr>
              <a:t>核心要点</a:t>
            </a:r>
          </a:p>
          <a:p>
            <a:pPr/>
            <a:r>
              <a:rPr sz="1500" b="0">
                <a:solidFill>
                  <a:srgbClr val="333333"/>
                </a:solidFill>
                <a:latin typeface="微软雅黑"/>
              </a:rPr>
              <a:t>· 随着国际测绘领域技术的发展，测绘需求与日俱增，倾斜摄影测量技术应运而生</a:t>
            </a:r>
          </a:p>
          <a:p>
            <a:pPr/>
            <a:r>
              <a:rPr sz="1500" b="0">
                <a:solidFill>
                  <a:srgbClr val="333333"/>
                </a:solidFill>
                <a:latin typeface="微软雅黑"/>
              </a:rPr>
              <a:t>· 传统的摄影测量技术只能从垂直角度进行拍摄，从而只能采集地物顶部的信息</a:t>
            </a:r>
          </a:p>
          <a:p>
            <a:pPr/>
            <a:r>
              <a:rPr sz="1500" b="0">
                <a:solidFill>
                  <a:srgbClr val="333333"/>
                </a:solidFill>
                <a:latin typeface="微软雅黑"/>
              </a:rPr>
              <a:t>· 倾斜摄影测量能从前、后、左、右以及上方五个角度采集地物影像信息，打破了垂直摄影只能从地物顶部获取影像的局限，在一定程度上对垂直摄影所存在的不足进行了弥补，但倾斜影像也存在一系列问题，如影像中出现的几何畸变、数据缺失、地物遮挡等</a:t>
            </a:r>
          </a:p>
          <a:p>
            <a:pPr/>
            <a:r>
              <a:rPr sz="1500" b="0">
                <a:solidFill>
                  <a:srgbClr val="333333"/>
                </a:solidFill>
                <a:latin typeface="微软雅黑"/>
              </a:rPr>
              <a:t>· 无人机倾斜摄影可以在同一飞行平台上搭载多台传感器，不仅能够满足倾斜摄影测量从五个角度获取地物信息的技术特点，而且能够更加真实、直观地反映地物情况，结合当前先进的定位技术，在采集的航空影像中嵌入高精度的地理信息，极大扩展了遥感影像的应用领域，</a:t>
            </a:r>
          </a:p>
          <a:p>
            <a:pPr/>
            <a:r>
              <a:rPr sz="1500" b="0">
                <a:solidFill>
                  <a:srgbClr val="333333"/>
                </a:solidFill>
                <a:latin typeface="微软雅黑"/>
              </a:rPr>
              <a:t>· 本文总结无人机倾斜摄影测量特点如下 ?）利用无人机搭载航摄仪进行航空摄影，不仅能够灵活、高效地采集地面影像，而且可以根据无人机航高的不同，采集不同分辨率的地面影像，从而满足各种数据采集需求</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6.5  水利场景渲染方法</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2800" b="1">
                <a:solidFill>
                  <a:srgbClr val="003C71"/>
                </a:solidFill>
                <a:latin typeface="微软雅黑"/>
              </a:rPr>
              <a:t>6.4.3三维模型具体构建流程</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4114800"/>
          </a:xfrm>
          <a:prstGeom prst="rect">
            <a:avLst/>
          </a:prstGeom>
          <a:noFill/>
        </p:spPr>
        <p:txBody>
          <a:bodyPr wrap="square">
            <a:spAutoFit/>
          </a:bodyPr>
          <a:lstStyle/>
          <a:p>
            <a:r>
              <a:rPr sz="2000" b="1">
                <a:solidFill>
                  <a:srgbClr val="2E75B6"/>
                </a:solidFill>
                <a:latin typeface="微软雅黑"/>
              </a:rPr>
              <a:t>核心要点</a:t>
            </a:r>
          </a:p>
          <a:p>
            <a:pPr/>
            <a:r>
              <a:rPr sz="1500" b="0">
                <a:solidFill>
                  <a:srgbClr val="333333"/>
                </a:solidFill>
                <a:latin typeface="微软雅黑"/>
              </a:rPr>
              <a:t>· 倾斜摄影测量技术由于作业效率高、成本低、模型效果良好等优势，常被用于获取大场景三维模型</a:t>
            </a:r>
          </a:p>
          <a:p>
            <a:pPr/>
            <a:r>
              <a:rPr sz="1500" b="0">
                <a:solidFill>
                  <a:srgbClr val="333333"/>
                </a:solidFill>
                <a:latin typeface="微软雅黑"/>
              </a:rPr>
              <a:t>· 不仅可以快速生成摄影测量数字产品如DEM、TDOM，且生产的实景三维模型可用于绘制大比例尺地图等</a:t>
            </a:r>
          </a:p>
          <a:p>
            <a:pPr/>
            <a:r>
              <a:rPr sz="1500" b="0">
                <a:solidFill>
                  <a:srgbClr val="333333"/>
                </a:solidFill>
                <a:latin typeface="微软雅黑"/>
              </a:rPr>
              <a:t>· 倾斜摄影构建三维模型的流程如下： 1）无人机采集测区大量的倾斜影像，对影像进行匀光匀色以及畸变处理，对影像数据以及POS数据检查，保证相对应 2）影像匹配环节，对影像间同名点进行匹配，经过空中三角测量计算后，恢复相机曝光瞬时位置和姿态 3）</a:t>
            </a:r>
          </a:p>
          <a:p>
            <a:pPr/>
            <a:r>
              <a:rPr sz="1500" b="0">
                <a:solidFill>
                  <a:srgbClr val="333333"/>
                </a:solidFill>
                <a:latin typeface="微软雅黑"/>
              </a:rPr>
              <a:t>· 对每架次飞行获取的影像数据进行及时、认真地检查和预处理，严格按照匀光、匀色要求对航摄影像进行调整，最后获得最佳成像效果的影像数据</a:t>
            </a:r>
          </a:p>
          <a:p>
            <a:pPr/>
            <a:r>
              <a:rPr sz="1500" b="0">
                <a:solidFill>
                  <a:srgbClr val="333333"/>
                </a:solidFill>
                <a:latin typeface="微软雅黑"/>
              </a:rPr>
              <a:t>· 影像预处理是航摄影像从不可见到可见，实现其色彩还原的重要步骤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6.5  水利场景渲染方法</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2800" b="1">
                <a:solidFill>
                  <a:srgbClr val="003C71"/>
                </a:solidFill>
                <a:latin typeface="微软雅黑"/>
              </a:rPr>
              <a:t>6.4.4工程三维模型构建流程</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4114800"/>
          </a:xfrm>
          <a:prstGeom prst="rect">
            <a:avLst/>
          </a:prstGeom>
          <a:noFill/>
        </p:spPr>
        <p:txBody>
          <a:bodyPr wrap="square">
            <a:spAutoFit/>
          </a:bodyPr>
          <a:lstStyle/>
          <a:p>
            <a:r>
              <a:rPr sz="2000" b="1">
                <a:solidFill>
                  <a:srgbClr val="2E75B6"/>
                </a:solidFill>
                <a:latin typeface="微软雅黑"/>
              </a:rPr>
              <a:t>核心要点</a:t>
            </a:r>
          </a:p>
          <a:p>
            <a:pPr/>
            <a:r>
              <a:rPr sz="1500" b="0">
                <a:solidFill>
                  <a:srgbClr val="333333"/>
                </a:solidFill>
                <a:latin typeface="微软雅黑"/>
              </a:rPr>
              <a:t>· 为了提高建模效率，大坝数字化建模可以采用工作站并GPU 框架架构和专用硬盘存储数据，保证数据快速读取及高效计算</a:t>
            </a:r>
          </a:p>
          <a:p>
            <a:pPr/>
            <a:r>
              <a:rPr sz="1500" b="0">
                <a:solidFill>
                  <a:srgbClr val="333333"/>
                </a:solidFill>
                <a:latin typeface="微软雅黑"/>
              </a:rPr>
              <a:t>· 除此以外，为了保证建模精度和效果，还要选择一款性能强大的建模软件，倾斜摄影三维建模软件众多，如Bentley公司的ContextCapture、Skyline公司的PhotoMesh、Astrium公司的街景工厂等 以采用ContextCa</a:t>
            </a:r>
          </a:p>
          <a:p>
            <a:pPr/>
            <a:r>
              <a:rPr sz="1500" b="0">
                <a:solidFill>
                  <a:srgbClr val="333333"/>
                </a:solidFill>
                <a:latin typeface="微软雅黑"/>
              </a:rPr>
              <a:t>· ContextCapture三维建模是利用空中三角测量算法，空中三角加密提取5个视角的影像特征点，将特征点与同名点进行匹配，通过反向结算确定影像之间的相对关系</a:t>
            </a:r>
          </a:p>
          <a:p>
            <a:pPr/>
            <a:r>
              <a:rPr sz="1500" b="0">
                <a:solidFill>
                  <a:srgbClr val="333333"/>
                </a:solidFill>
                <a:latin typeface="微软雅黑"/>
              </a:rPr>
              <a:t>· 特征点选取主要原则为： ?）特征点应选刺在航向及旁向六片（或五片）重叠范围内，使布设的特征点能尽量公用 ?）特征点尽量布设在旁向重叠的中线附近</a:t>
            </a:r>
          </a:p>
          <a:p>
            <a:pPr/>
            <a:r>
              <a:rPr sz="1500" b="0">
                <a:solidFill>
                  <a:srgbClr val="333333"/>
                </a:solidFill>
                <a:latin typeface="微软雅黑"/>
              </a:rPr>
              <a:t>· 旁向重叠过小，相邻航线像控点不能公用时，应分别布点</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6.5  水利场景渲染方法</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2800" b="1">
                <a:solidFill>
                  <a:srgbClr val="003C71"/>
                </a:solidFill>
                <a:latin typeface="微软雅黑"/>
              </a:rPr>
              <a:t>6.4.5 模型成果分析</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4114800"/>
          </a:xfrm>
          <a:prstGeom prst="rect">
            <a:avLst/>
          </a:prstGeom>
          <a:noFill/>
        </p:spPr>
        <p:txBody>
          <a:bodyPr wrap="square">
            <a:spAutoFit/>
          </a:bodyPr>
          <a:lstStyle/>
          <a:p>
            <a:r>
              <a:rPr sz="2000" b="1">
                <a:solidFill>
                  <a:srgbClr val="2E75B6"/>
                </a:solidFill>
                <a:latin typeface="微软雅黑"/>
              </a:rPr>
              <a:t>核心要点</a:t>
            </a:r>
          </a:p>
          <a:p>
            <a:pPr/>
            <a:r>
              <a:rPr sz="1500" b="0">
                <a:solidFill>
                  <a:srgbClr val="333333"/>
                </a:solidFill>
                <a:latin typeface="微软雅黑"/>
              </a:rPr>
              <a:t>· #### 6.4.5.1 模型复杂度分 模型成果格式主要为OSGB格式以及S3C格式，OSGB格式模型与相对应的OBJ格式模型导入第三方平台进行模型修饰</a:t>
            </a:r>
          </a:p>
          <a:p>
            <a:pPr/>
            <a:r>
              <a:rPr sz="1500" b="0">
                <a:solidFill>
                  <a:srgbClr val="333333"/>
                </a:solidFill>
                <a:latin typeface="微软雅黑"/>
              </a:rPr>
              <a:t>· S3C文件是分块模型的索引，可以全场景加载三维模型</a:t>
            </a:r>
          </a:p>
          <a:p>
            <a:pPr/>
            <a:r>
              <a:rPr sz="1500" b="0">
                <a:solidFill>
                  <a:srgbClr val="333333"/>
                </a:solidFill>
                <a:latin typeface="微软雅黑"/>
              </a:rPr>
              <a:t>· 将S3C格式的成果文件加载到Viewer模型浏览平台上，通过旋转浏览可以看出重建区域的三维实景模型中地物相对位置的正确与否</a:t>
            </a:r>
          </a:p>
          <a:p>
            <a:pPr/>
            <a:r>
              <a:rPr sz="1500" b="0">
                <a:solidFill>
                  <a:srgbClr val="333333"/>
                </a:solidFill>
                <a:latin typeface="微软雅黑"/>
              </a:rPr>
              <a:t>· 根据《三维地理信息模型数据产品规范》所规定，可以进一步评价模型达到的构建级别要求 #### 6.4.5.2 模型几何精度分析 为验证倾斜摄影测量技术生产的三维模型精度能否满足一些测绘应用如立面测绘、大比例尺地形图绘制、地籍测量等等，需要对模</a:t>
            </a:r>
          </a:p>
          <a:p>
            <a:pPr/>
            <a:r>
              <a:rPr sz="1500" b="0">
                <a:solidFill>
                  <a:srgbClr val="333333"/>
                </a:solidFill>
                <a:latin typeface="微软雅黑"/>
              </a:rPr>
              <a:t>· Context Capture生产的三维模型，加载到Viewer浏览平台上可以进行三维坐标量测、距离量测、高差计算及其他分析功能</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6.5  水利场景渲染方法</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2800" b="1">
                <a:solidFill>
                  <a:srgbClr val="003C71"/>
                </a:solidFill>
                <a:latin typeface="微软雅黑"/>
              </a:rPr>
              <a:t>基础</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4114800"/>
          </a:xfrm>
          <a:prstGeom prst="rect">
            <a:avLst/>
          </a:prstGeom>
          <a:noFill/>
        </p:spPr>
        <p:txBody>
          <a:bodyPr wrap="square">
            <a:spAutoFit/>
          </a:bodyPr>
          <a:lstStyle/>
          <a:p>
            <a:r>
              <a:rPr sz="2000" b="1">
                <a:solidFill>
                  <a:srgbClr val="2E75B6"/>
                </a:solidFill>
                <a:latin typeface="微软雅黑"/>
              </a:rPr>
              <a:t>核心要点</a:t>
            </a:r>
          </a:p>
          <a:p>
            <a:pPr/>
            <a:r>
              <a:rPr sz="1500" b="0">
                <a:solidFill>
                  <a:srgbClr val="333333"/>
                </a:solidFill>
                <a:latin typeface="微软雅黑"/>
              </a:rPr>
              <a:t>· 1. 请简述本节的核心概念，并说明其在智慧水利平台开发中的重要性2. 总结本节介绍的主要技术方法，并分析各方法的适用场景3. 结合智慧水利的实际需求，解释本节内容如何应用于实际项目中</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6.5  水利场景渲染方法</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3200" b="1">
                <a:solidFill>
                  <a:srgbClr val="003C71"/>
                </a:solidFill>
                <a:latin typeface="微软雅黑"/>
              </a:rPr>
              <a:t>智慧水利应用案例</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4206240"/>
          </a:xfrm>
          <a:prstGeom prst="rect">
            <a:avLst/>
          </a:prstGeom>
          <a:noFill/>
        </p:spPr>
        <p:txBody>
          <a:bodyPr wrap="square">
            <a:spAutoFit/>
          </a:bodyPr>
          <a:lstStyle/>
          <a:p>
            <a:r>
              <a:rPr sz="2000" b="1">
                <a:solidFill>
                  <a:srgbClr val="333333"/>
                </a:solidFill>
                <a:latin typeface="微软雅黑"/>
              </a:rPr>
              <a:t>案例：将 水利场景渲染方法 应用到智慧水利平台</a:t>
            </a:r>
          </a:p>
          <a:p>
            <a:pPr/>
            <a:r>
              <a:rPr sz="1500" b="0">
                <a:solidFill>
                  <a:srgbClr val="333333"/>
                </a:solidFill>
                <a:latin typeface="微软雅黑"/>
              </a:rPr>
              <a:t>· 业务场景：水利监测数据采集、三维场景展示或工程安全评估等典型业务环节。</a:t>
            </a:r>
          </a:p>
          <a:p>
            <a:pPr/>
            <a:r>
              <a:rPr sz="1500" b="0">
                <a:solidFill>
                  <a:srgbClr val="333333"/>
                </a:solidFill>
                <a:latin typeface="微软雅黑"/>
              </a:rPr>
              <a:t>· 技术落点：本节 水利场景渲染方法 的理论与方法如何映射到平台某个模块。</a:t>
            </a:r>
          </a:p>
          <a:p>
            <a:pPr/>
            <a:r>
              <a:rPr sz="1500" b="0">
                <a:solidFill>
                  <a:srgbClr val="333333"/>
                </a:solidFill>
                <a:latin typeface="微软雅黑"/>
              </a:rPr>
              <a:t>· 实施步骤：按照 需求 → 设计 → 实现 → 验证 的工程化流程逐步推进。</a:t>
            </a:r>
          </a:p>
          <a:p>
            <a:pPr/>
            <a:r>
              <a:rPr sz="1500" b="0">
                <a:solidFill>
                  <a:srgbClr val="333333"/>
                </a:solidFill>
                <a:latin typeface="微软雅黑"/>
              </a:rPr>
              <a:t>· 成效指标：从效率 / 准确率 / 可靠性 三个维度衡量应用效果。</a:t>
            </a:r>
          </a:p>
          <a:p>
            <a:pPr/>
            <a:r>
              <a:rPr sz="1200" b="0">
                <a:solidFill>
                  <a:srgbClr val="595959"/>
                </a:solidFill>
                <a:latin typeface="微软雅黑"/>
              </a:rPr>
              <a:t>（请教师结合具体水利工程实践，补充本节对应的真实案例细节）</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6.5  水利场景渲染方法</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3200" b="1">
                <a:solidFill>
                  <a:srgbClr val="003C71"/>
                </a:solidFill>
                <a:latin typeface="微软雅黑"/>
              </a:rPr>
              <a:t>思考题与练习</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4206240"/>
          </a:xfrm>
          <a:prstGeom prst="rect">
            <a:avLst/>
          </a:prstGeom>
          <a:noFill/>
        </p:spPr>
        <p:txBody>
          <a:bodyPr wrap="square">
            <a:spAutoFit/>
          </a:bodyPr>
          <a:lstStyle/>
          <a:p>
            <a:r>
              <a:rPr sz="1800" b="1">
                <a:solidFill>
                  <a:srgbClr val="2E75B6"/>
                </a:solidFill>
                <a:latin typeface="微软雅黑"/>
              </a:rPr>
              <a:t>基础题</a:t>
            </a:r>
          </a:p>
          <a:p>
            <a:pPr/>
            <a:r>
              <a:rPr sz="1400" b="0">
                <a:solidFill>
                  <a:srgbClr val="333333"/>
                </a:solidFill>
                <a:latin typeface="微软雅黑"/>
              </a:rPr>
              <a:t>· 简述 水利场景渲染方法 的基本概念。</a:t>
            </a:r>
          </a:p>
          <a:p>
            <a:pPr/>
            <a:r>
              <a:rPr sz="1400" b="0">
                <a:solidFill>
                  <a:srgbClr val="333333"/>
                </a:solidFill>
                <a:latin typeface="微软雅黑"/>
              </a:rPr>
              <a:t>· 分析 水利场景渲染方法 在智慧水利系统中的作用。</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6.5  水利场景渲染方法</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3200" b="1">
                <a:solidFill>
                  <a:srgbClr val="003C71"/>
                </a:solidFill>
                <a:latin typeface="微软雅黑"/>
              </a:rPr>
              <a:t>本节小结</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4206240"/>
          </a:xfrm>
          <a:prstGeom prst="rect">
            <a:avLst/>
          </a:prstGeom>
          <a:noFill/>
        </p:spPr>
        <p:txBody>
          <a:bodyPr wrap="square">
            <a:spAutoFit/>
          </a:bodyPr>
          <a:lstStyle/>
          <a:p>
            <a:r>
              <a:rPr sz="1600" b="0">
                <a:solidFill>
                  <a:srgbClr val="333333"/>
                </a:solidFill>
                <a:latin typeface="微软雅黑"/>
              </a:rPr>
              <a:t>本节介绍了无人机倾斜摄影技术在三维场景模型构建中的应用。随着遥感与航空摄影技术的不断发展，无人机（UAV, Unmanned Aerial Vehicle）成为获取地表空间数据的重要平台，其灵活、低成本、高分辨率的特点使其在城市建模、灾害评估、农业监测、水利工程等多个领域广泛应用。尤其在三维场景建模方面，传统的正射影像由于只能从垂直角度进行拍摄，难以全面反映建筑物或地形的立体结构。而倾斜摄影技术通过在无人机平台上搭载多镜头相机，从多个不同角度同时拍摄地面及建筑物，弥补了正射影像在侧面信息获取上的不足 在三维场景建模的流程中，无人机倾斜摄影技术首先通过规划飞行路线，确保多个方向的重叠率和覆盖度，通常需要前后重叠率达到80%、侧向重叠率达到70%以上，以保证影像数据质量。随后，通过搭载的五镜头或更多的多视角相机，在飞行过程中同步采集垂直向及四个斜向（前、后、左、右）高分辨率图像。拍摄结束后，通</a:t>
            </a:r>
          </a:p>
          <a:p>
            <a:pPr/>
            <a:r>
              <a:rPr sz="1000" b="0">
                <a:solidFill>
                  <a:srgbClr val="333333"/>
                </a:solidFill>
                <a:latin typeface="微软雅黑"/>
              </a:rPr>
              <a:t/>
            </a:r>
          </a:p>
          <a:p>
            <a:pPr/>
            <a:r>
              <a:rPr sz="1400" b="0">
                <a:solidFill>
                  <a:srgbClr val="595959"/>
                </a:solidFill>
                <a:latin typeface="微软雅黑"/>
              </a:rPr>
              <a:t>下一步：完成知识图谱上的任务点学习，并在题库中完成本节配套练习。</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