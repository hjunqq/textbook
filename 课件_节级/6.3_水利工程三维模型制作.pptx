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六 章   智慧水利三维场景构建</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6.3</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水利工程三维模型制作</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WebGL及基于WebGL的轻量级框架 的核心概念与方法</a:t>
            </a:r>
          </a:p>
          <a:p>
            <a:pPr/>
            <a:r>
              <a:rPr sz="1800" b="0">
                <a:solidFill>
                  <a:srgbClr val="333333"/>
                </a:solidFill>
                <a:latin typeface="微软雅黑"/>
              </a:rPr>
              <a:t>· 掌握 地理信息系统（GIS）框 的核心概念与方法</a:t>
            </a:r>
          </a:p>
          <a:p>
            <a:pPr/>
            <a:r>
              <a:rPr sz="1800" b="0">
                <a:solidFill>
                  <a:srgbClr val="333333"/>
                </a:solidFill>
                <a:latin typeface="微软雅黑"/>
              </a:rPr>
              <a:t>· 掌握 游戏引擎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1463040"/>
          </a:xfrm>
          <a:prstGeom prst="rect">
            <a:avLst/>
          </a:prstGeom>
          <a:noFill/>
        </p:spPr>
        <p:txBody>
          <a:bodyPr wrap="square">
            <a:spAutoFit/>
          </a:bodyPr>
          <a:lstStyle/>
          <a:p>
            <a:r>
              <a:rPr sz="1400" b="0">
                <a:solidFill>
                  <a:srgbClr val="595959"/>
                </a:solidFill>
                <a:latin typeface="微软雅黑"/>
              </a:rPr>
              <a:t>在智慧水利平台的三维场景构建中，选择合适的开发框架是项目成功的关键因素。目前，主流的三维场景开发框架主要包括基于WebGL的轻量级框架、基于GIS的专业框架以及游戏引擎等类型。本节将介绍这些框架的特点、适用场景和基本用法，帮助读者选择最适合智慧水利平台开发的技术方案</a:t>
            </a:r>
          </a:p>
        </p:txBody>
      </p:sp>
      <p:sp>
        <p:nvSpPr>
          <p:cNvPr id="9" name="TextBox 8"/>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6.2.1 WebGL及基于WebGL的轻量级框架</a:t>
            </a:r>
          </a:p>
          <a:p>
            <a:pPr/>
            <a:r>
              <a:rPr sz="1600" b="0">
                <a:solidFill>
                  <a:srgbClr val="333333"/>
                </a:solidFill>
                <a:latin typeface="微软雅黑"/>
              </a:rPr>
              <a:t>· 6.2.2 地理信息系统（GIS）框</a:t>
            </a:r>
          </a:p>
          <a:p>
            <a:pPr/>
            <a:r>
              <a:rPr sz="1600" b="0">
                <a:solidFill>
                  <a:srgbClr val="333333"/>
                </a:solidFill>
                <a:latin typeface="微软雅黑"/>
              </a:rPr>
              <a:t>· 6.2.3 游戏引擎</a:t>
            </a:r>
          </a:p>
          <a:p>
            <a:pPr/>
            <a:r>
              <a:rPr sz="1600" b="0">
                <a:solidFill>
                  <a:srgbClr val="333333"/>
                </a:solidFill>
                <a:latin typeface="微软雅黑"/>
              </a:rPr>
              <a:t>· 6.2.4 框架选择建议</a:t>
            </a:r>
          </a:p>
          <a:p>
            <a:pPr/>
            <a:r>
              <a:rPr sz="1600" b="0">
                <a:solidFill>
                  <a:srgbClr val="333333"/>
                </a:solidFill>
                <a:latin typeface="微软雅黑"/>
              </a:rPr>
              <a:t>· 6.2.5 框架混合开发策</a:t>
            </a:r>
          </a:p>
          <a:p>
            <a:pPr/>
            <a:r>
              <a:rPr sz="1600" b="0">
                <a:solidFill>
                  <a:srgbClr val="333333"/>
                </a:solidFill>
                <a:latin typeface="微软雅黑"/>
              </a:rPr>
              <a:t>· 基础</a:t>
            </a:r>
          </a:p>
          <a:p>
            <a:pPr/>
            <a:r>
              <a:rPr sz="1600" b="0">
                <a:solidFill>
                  <a:srgbClr val="333333"/>
                </a:solidFill>
                <a:latin typeface="微软雅黑"/>
              </a:rPr>
              <a:t>· 提高</a:t>
            </a:r>
          </a:p>
          <a:p>
            <a:pPr/>
            <a:r>
              <a:rPr sz="1600" b="0">
                <a:solidFill>
                  <a:srgbClr val="333333"/>
                </a:solidFill>
                <a:latin typeface="微软雅黑"/>
              </a:rPr>
              <a:t>· 讨论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6.2.1 WebGL及基于WebGL的轻量级框架</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6.2.1.1 WeGL技术基础 WebGL（Web Graphics Library）是一种基于JavaScript的图形API，它使得开发者能够在现代浏览器中直接渲染交互式的二维和三维图形，无需安装任何额外插件</a:t>
            </a:r>
          </a:p>
          <a:p>
            <a:pPr/>
            <a:r>
              <a:rPr sz="1500" b="0">
                <a:solidFill>
                  <a:srgbClr val="333333"/>
                </a:solidFill>
                <a:latin typeface="微软雅黑"/>
              </a:rPr>
              <a:t>· 这种技术突破了传统网页图形渲染的限制，极大地推动了Web?D图形的发展</a:t>
            </a:r>
          </a:p>
          <a:p>
            <a:pPr/>
            <a:r>
              <a:rPr sz="1500" b="0">
                <a:solidFill>
                  <a:srgbClr val="333333"/>
                </a:solidFill>
                <a:latin typeface="微软雅黑"/>
              </a:rPr>
              <a:t>· WebGL是基于OpenGL ES 2.0/3.0标准设计的，通过HTML5的Canvas元素实现与浏览器的无缝集成，充分利用计算机的图形硬件（GPU）进行加速渲染 一、WebGL的核心原理与架构 WebGL本质上是一个低层次的图形渲染接口</a:t>
            </a:r>
          </a:p>
          <a:p>
            <a:pPr/>
            <a:r>
              <a:rPr sz="1500" b="0">
                <a:solidFill>
                  <a:srgbClr val="333333"/>
                </a:solidFill>
                <a:latin typeface="微软雅黑"/>
              </a:rPr>
              <a:t>· 它采用了着色器（Shader）编程模型，主要包含顶点着色器（Vertex Shader）和片元着色器（Fragment Shader），分别处理顶点数据的变换和像素颜色的计算</a:t>
            </a:r>
          </a:p>
          <a:p>
            <a:pPr/>
            <a:r>
              <a:rPr sz="1500" b="0">
                <a:solidFill>
                  <a:srgbClr val="333333"/>
                </a:solidFill>
                <a:latin typeface="微软雅黑"/>
              </a:rPr>
              <a:t>· 通过GLSL（OpenGL Shading Language）语言编写的着色器程序被上传到GPU，极大地提升了图形渲染的灵活性和效率 WebGL运行时与浏览器环境紧密结合，利用HTML5的Canvas元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6.2.2 地理信息系统（GIS）框</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6.2.2.1 Cesium介绍 一、Cesium简 Cesium 是由AGI（Analytical Graphics Inc.）发起开发的一个基于JavaScript的开源三维地理空间可视化平台</a:t>
            </a:r>
          </a:p>
          <a:p>
            <a:pPr/>
            <a:r>
              <a:rPr sz="1500" b="0">
                <a:solidFill>
                  <a:srgbClr val="333333"/>
                </a:solidFill>
                <a:latin typeface="微软雅黑"/>
              </a:rPr>
              <a:t>· 它专注于高精度、跨平台、浏览器端的三维地球展示，被广泛用于军事、城市规划、应急响应以及智慧水利等领域的数据可视化任务</a:t>
            </a:r>
          </a:p>
          <a:p>
            <a:pPr/>
            <a:r>
              <a:rPr sz="1500" b="0">
                <a:solidFill>
                  <a:srgbClr val="333333"/>
                </a:solidFill>
                <a:latin typeface="微软雅黑"/>
              </a:rPr>
              <a:t>· Cesium在浏览器中渲染出一个真实的3D地球，支持海量地理空间数据加载、管理与可视化，同时兼容OGC标准，可对接主流的地理信息系统（如ArcGIS、GeoServer等），实现无插件、高性能、跨平台的地图三维渲染效果 二、核心技术特 1、</a:t>
            </a:r>
          </a:p>
          <a:p>
            <a:pPr/>
            <a:r>
              <a:rPr sz="1500" b="0">
                <a:solidFill>
                  <a:srgbClr val="333333"/>
                </a:solidFill>
                <a:latin typeface="微软雅黑"/>
              </a:rPr>
              <a:t>· 在智慧水利项目中，可以D Ti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6.2.3 游戏引擎</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6.2.3.1 Unity介绍 一、Unity技术概 Unity是一个由 Unity Technologies 公司开发的跨平D游戏与互动应用开发引擎</a:t>
            </a:r>
          </a:p>
          <a:p>
            <a:pPr/>
            <a:r>
              <a:rPr sz="1500" b="0">
                <a:solidFill>
                  <a:srgbClr val="333333"/>
                </a:solidFill>
                <a:latin typeface="微软雅黑"/>
              </a:rPr>
              <a:t>· 由于其高度集成的可视化编辑器、模块化资源管理体系以及WebGL、PC、移动、XR 等平台的广泛支持，Unity不仅被广泛用于游戏开发，更逐步扩展到工业仿真、建筑可视化、工程训练、教育教学、智慧城市与水利工程模拟等众多领域 在智慧水利建设背景</a:t>
            </a:r>
          </a:p>
          <a:p>
            <a:pPr/>
            <a:r>
              <a:rPr sz="1500" b="0">
                <a:solidFill>
                  <a:srgbClr val="333333"/>
                </a:solidFill>
                <a:latin typeface="微软雅黑"/>
              </a:rPr>
              <a:t>· 水利领域的仿真应用中，物理引擎能够实现：坝体溃决模拟</a:t>
            </a:r>
          </a:p>
          <a:p>
            <a:pPr/>
            <a:r>
              <a:rPr sz="1500" b="0">
                <a:solidFill>
                  <a:srgbClr val="333333"/>
                </a:solidFill>
                <a:latin typeface="微软雅黑"/>
              </a:rPr>
              <a:t>· 流体与结构相互作用（FSI）演示</a:t>
            </a:r>
          </a:p>
          <a:p>
            <a:pPr/>
            <a:r>
              <a:rPr sz="1500" b="0">
                <a:solidFill>
                  <a:srgbClr val="333333"/>
                </a:solidFill>
                <a:latin typeface="微软雅黑"/>
              </a:rPr>
              <a:t>· 泵站机械运转可视化</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6.2.4 框架选择建议</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6.2.4.1 框架特性对 一、入门难 Three.js：入门门槛较低，文档丰富，适合初学者快速上手三维开发</a:t>
            </a:r>
          </a:p>
          <a:p>
            <a:pPr/>
            <a:r>
              <a:rPr sz="1500" b="0">
                <a:solidFill>
                  <a:srgbClr val="333333"/>
                </a:solidFill>
                <a:latin typeface="微软雅黑"/>
              </a:rPr>
              <a:t>· 其 API 简洁清晰，但对更复杂的功能（如粒子系统、物理模拟）需要额外接入插件或手动实现 Babylon.js：比 Three.js 更完善的开发体系，提供了丰富的图形、动画、物理和交互功能，且内置开发工具（如沙盒、GUI 编辑器）较多，但</a:t>
            </a:r>
          </a:p>
          <a:p>
            <a:pPr/>
            <a:r>
              <a:rPr sz="1500" b="0">
                <a:solidFill>
                  <a:srgbClr val="333333"/>
                </a:solidFill>
                <a:latin typeface="微软雅黑"/>
              </a:rPr>
              <a:t>· 适合GIS 背景的开发者 SuperMap iClient3D：基Cesium 的封装，入门Cesium 略简单，中文资料较多，但绑定超图生态，对第三方开发的自由度稍低 Unity：拥有图形化编辑器，新手可通过拖拽方式搭建场景，但理解组件、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6.2.5 框架混合开发策</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 6.2.5.1 Web前端+GIS框架 一、Web前端框架：React/Vue/Angular React、Vue ?Angular 是目前最流行的Web前端框架，它们各具优势，但共同的特点是组件化开发和强大的数据绑定能力，适合开</a:t>
            </a:r>
          </a:p>
          <a:p>
            <a:pPr/>
            <a:r>
              <a:rPr sz="1500" b="0">
                <a:solidFill>
                  <a:srgbClr val="333333"/>
                </a:solidFill>
                <a:latin typeface="微软雅黑"/>
              </a:rPr>
              <a:t>· 智慧水利平台需要高效的前端框架来构建用户界面和处理应用逻辑，确保平台在各种设备上都有良好的响应性能 核心特点：组件化开发：这些框架提供了高度的可复用性和模块化开发方式，适合构建大型复杂的前端应用</a:t>
            </a:r>
          </a:p>
          <a:p>
            <a:pPr/>
            <a:r>
              <a:rPr sz="1500" b="0">
                <a:solidFill>
                  <a:srgbClr val="333333"/>
                </a:solidFill>
                <a:latin typeface="微软雅黑"/>
              </a:rPr>
              <a:t>· 响应式布局：可以确保智慧水利平台能够在各种设备上流畅运行，尤其在移动端和桌面端提供一致的用户体验</a:t>
            </a:r>
          </a:p>
          <a:p>
            <a:pPr/>
            <a:r>
              <a:rPr sz="1500" b="0">
                <a:solidFill>
                  <a:srgbClr val="333333"/>
                </a:solidFill>
                <a:latin typeface="微软雅黑"/>
              </a:rPr>
              <a:t>· 数据绑定和状态管理：React/Vue/Angular 能够高效管理应用状态和数据流，帮助开发者构建交互式应用，处理大规模数据的展示与更新</a:t>
            </a:r>
          </a:p>
          <a:p>
            <a:pPr/>
            <a:r>
              <a:rPr sz="1500" b="0">
                <a:solidFill>
                  <a:srgbClr val="333333"/>
                </a:solidFill>
                <a:latin typeface="微软雅黑"/>
              </a:rPr>
              <a:t>· 生态系统丰富：拥有大量的插件、库和社区支持，可以快速实现各种功能，如表单处理、图表展示、地图集成等 适用场景：用户界面（UI）构建：React、Vue ?Angular 可以有效地管理平台中的用户界面组件，处理交互逻辑、用户输入等</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基础</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1. 请简述本节的核心概念，并说明其在智慧水利平台开发中的重要性2. 总结本节介绍的主要技术方法，并分析各方法的适用场景3. 结合智慧水利的实际需求，解释本节内容如何应用于实际项目中</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水利工程三维模型制作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水利工程三维模型制作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水利工程三维模型制作 的基本概念。</a:t>
            </a:r>
          </a:p>
          <a:p>
            <a:pPr/>
            <a:r>
              <a:rPr sz="1400" b="0">
                <a:solidFill>
                  <a:srgbClr val="333333"/>
                </a:solidFill>
                <a:latin typeface="微软雅黑"/>
              </a:rPr>
              <a:t>· 分析 水利工程三维模型制作 在智慧水利系统中的作用。</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6.3  水利工程三维模型制作</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介绍了智慧水利平台三维场景构建中常用的开发框架，包括WebGL框架、GIS框架和游戏引擎等类别。随着信息技术的不断发展，智慧水利平台在水利管理、资源调度、防灾预警等领域的应用越来越广泛，而三维场景构建则是其中的重要组成部分。三维场景的构建不仅能有效提升水利数据的可视化效果，还能为决策者提供更加直观和精确的参考依据。因此，选择合适的开发框架是智慧水利平台三维场景构建中至关重要的一步 WebGL框架作为现代浏览器中的基础图形渲染技术，具有跨平台、无需插件、硬件加速等优势。其最主要的特点是能够在浏览器中直接渲D图形，这为智慧水利平台提供了轻量级且易于访问的解决方案。常见的WebGL框架如Three.js、Babylon.js等，提供了丰富的API接口和高效的渲染引擎，支持三维场景的快速搭建和渲染。这些框架特别适用于需要嵌入到Web页面中的小型和中型展示项目，如水库、河道等水利设施的三维可视化</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