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二 章   软件工程基础与需求分析</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2.1</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软件生命周期</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软件设计时期 的核心概念与方法</a:t>
            </a:r>
          </a:p>
          <a:p>
            <a:pPr/>
            <a:r>
              <a:rPr sz="1800" b="0">
                <a:solidFill>
                  <a:srgbClr val="333333"/>
                </a:solidFill>
                <a:latin typeface="微软雅黑"/>
              </a:rPr>
              <a:t>· 掌握 软件开发时 的核心概念与方法</a:t>
            </a:r>
          </a:p>
          <a:p>
            <a:pPr/>
            <a:r>
              <a:rPr sz="1800" b="0">
                <a:solidFill>
                  <a:srgbClr val="333333"/>
                </a:solidFill>
                <a:latin typeface="微软雅黑"/>
              </a:rPr>
              <a:t>· 掌握 运行与维护时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软件生命周期（Software Life Cycle）是贯穿软件从孕育到消亡全过程的系统性框架，其本质在于通过结构化方法将复杂的软件开解构"为可管理的模块化任务。根据IEEE Std 1074标准，软件生命周期是指软件产品从概念形成到退役的整个时间周期，涵盖需求分析、设计、实现、测试、部署和维护等关键阶段。与传统工业产品的物理损耗不同，软件的生命终结往往源于技术迭代或功能冗余——如同物种进化中的自然淘汰，而非机械磨损。这一概念的提出，标志着软件工程从无序的“手工艺”模式向标准化工业流程的跃迁，其核心价值在于为开发者提供了一套动态演进的行动指南 在实践层面</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2.1.1 软件设计时期</a:t>
            </a:r>
          </a:p>
          <a:p>
            <a:pPr/>
            <a:r>
              <a:rPr sz="1600" b="0">
                <a:solidFill>
                  <a:srgbClr val="333333"/>
                </a:solidFill>
                <a:latin typeface="微软雅黑"/>
              </a:rPr>
              <a:t>· 2.1.2 软件开发时</a:t>
            </a:r>
          </a:p>
          <a:p>
            <a:pPr/>
            <a:r>
              <a:rPr sz="1600" b="0">
                <a:solidFill>
                  <a:srgbClr val="333333"/>
                </a:solidFill>
                <a:latin typeface="微软雅黑"/>
              </a:rPr>
              <a:t>· 2.1.3 运行与维护时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2.1.1 软件设计时期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软件设计时期是将需求转化为可执行方案的关键阶段</a:t>
            </a:r>
          </a:p>
          <a:p>
            <a:pPr/>
            <a:r>
              <a:rPr sz="1500" b="0">
                <a:solidFill>
                  <a:srgbClr val="333333"/>
                </a:solidFill>
                <a:latin typeface="微软雅黑"/>
              </a:rPr>
              <a:t>· 根据《软件工程—产品质量》（GB/T 16260）国家标准，这一阶段的核心任务是将需求分析时期得出的逻辑模型转化为具体的软件架构和设计方案</a:t>
            </a:r>
          </a:p>
          <a:p>
            <a:pPr/>
            <a:r>
              <a:rPr sz="1500" b="0">
                <a:solidFill>
                  <a:srgbClr val="333333"/>
                </a:solidFill>
                <a:latin typeface="微软雅黑"/>
              </a:rPr>
              <a:t>· 设计团队需要构建软件的总体结构，确定系统的模块划分、模块间的交互方式以及数据流动的路径</a:t>
            </a:r>
          </a:p>
          <a:p>
            <a:pPr/>
            <a:r>
              <a:rPr sz="1500" b="0">
                <a:solidFill>
                  <a:srgbClr val="333333"/>
                </a:solidFill>
                <a:latin typeface="微软雅黑"/>
              </a:rPr>
              <a:t>· 模块的设计应遵循高内聚、低耦合的原则，以便于未来的维护和升级</a:t>
            </a:r>
          </a:p>
          <a:p>
            <a:pPr/>
            <a:r>
              <a:rPr sz="1500" b="0">
                <a:solidFill>
                  <a:srgbClr val="333333"/>
                </a:solidFill>
                <a:latin typeface="微软雅黑"/>
              </a:rPr>
              <a:t>· 此外，设计团队还需为每个模块制定具体的实现算法，选择合适的数据结构，设计高效的算法，并优化资源的使用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2.1.2 软件开发时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软件开发时期是将设计方案转化为实际代码的阶段</a:t>
            </a:r>
          </a:p>
          <a:p>
            <a:pPr/>
            <a:r>
              <a:rPr sz="1500" b="0">
                <a:solidFill>
                  <a:srgbClr val="333333"/>
                </a:solidFill>
                <a:latin typeface="微软雅黑"/>
              </a:rPr>
              <a:t>· 这一阶段的主要任务是根据设计文档编写代码，并进行单元测试、集成测试和系统测试，以确保软件的功能正确且符合需求规格说明书</a:t>
            </a:r>
          </a:p>
          <a:p>
            <a:pPr/>
            <a:r>
              <a:rPr sz="1500" b="0">
                <a:solidFill>
                  <a:srgbClr val="333333"/>
                </a:solidFill>
                <a:latin typeface="微软雅黑"/>
              </a:rPr>
              <a:t>· 开发人员需要遵循编码规范，确保代码的可读性和可维护性</a:t>
            </a:r>
          </a:p>
          <a:p>
            <a:pPr/>
            <a:r>
              <a:rPr sz="1500" b="0">
                <a:solidFill>
                  <a:srgbClr val="333333"/>
                </a:solidFill>
                <a:latin typeface="微软雅黑"/>
              </a:rPr>
              <a:t>· 单元测试是对每个模块进行测试，确保其功能正确</a:t>
            </a:r>
          </a:p>
          <a:p>
            <a:pPr/>
            <a:r>
              <a:rPr sz="1500" b="0">
                <a:solidFill>
                  <a:srgbClr val="333333"/>
                </a:solidFill>
                <a:latin typeface="微软雅黑"/>
              </a:rPr>
              <a:t>· 集成测试是将各个模块集成在一起，测试模块之间的接口和整体功能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2.1.3 运行与维护时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运行和维护时期是软件生命周期的最后一个阶段，也是软件真正发挥价值的阶段</a:t>
            </a:r>
          </a:p>
          <a:p>
            <a:pPr/>
            <a:r>
              <a:rPr sz="1500" b="0">
                <a:solidFill>
                  <a:srgbClr val="333333"/>
                </a:solidFill>
                <a:latin typeface="微软雅黑"/>
              </a:rPr>
              <a:t>· 在这一阶段，软件被部署到生产环境中供用户使用</a:t>
            </a:r>
          </a:p>
          <a:p>
            <a:pPr/>
            <a:r>
              <a:rPr sz="1500" b="0">
                <a:solidFill>
                  <a:srgbClr val="333333"/>
                </a:solidFill>
                <a:latin typeface="微软雅黑"/>
              </a:rPr>
              <a:t>· 维护工作包括修复软件中的错误、更新功能以适应新的需求，以及优化性能</a:t>
            </a:r>
          </a:p>
          <a:p>
            <a:pPr/>
            <a:r>
              <a:rPr sz="1500" b="0">
                <a:solidFill>
                  <a:srgbClr val="333333"/>
                </a:solidFill>
                <a:latin typeface="微软雅黑"/>
              </a:rPr>
              <a:t>· 维护可以分为纠错性维护、适应性维护、完善性维护和预防性维护</a:t>
            </a:r>
          </a:p>
          <a:p>
            <a:pPr/>
            <a:r>
              <a:rPr sz="1500" b="0">
                <a:solidFill>
                  <a:srgbClr val="333333"/>
                </a:solidFill>
                <a:latin typeface="微软雅黑"/>
              </a:rPr>
              <a:t>· 纠错性维护是修复软件中的错误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软件生命周期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软件生命周期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请简述本节的核心概念，并说明其在智慧水利平台开发中的重要性</a:t>
            </a:r>
          </a:p>
          <a:p>
            <a:pPr/>
            <a:r>
              <a:rPr sz="1400" b="0">
                <a:solidFill>
                  <a:srgbClr val="333333"/>
                </a:solidFill>
                <a:latin typeface="微软雅黑"/>
              </a:rPr>
              <a:t>· 总结本节介绍的主要技术方法，并分析各方法的适用场景</a:t>
            </a:r>
          </a:p>
          <a:p>
            <a:pPr/>
            <a:r>
              <a:rPr sz="1400" b="0">
                <a:solidFill>
                  <a:srgbClr val="333333"/>
                </a:solidFill>
                <a:latin typeface="微软雅黑"/>
              </a:rPr>
              <a:t>· 结合智慧水利的实际需求，解释本节内容如何应用于实际项目中</a:t>
            </a:r>
          </a:p>
          <a:p>
            <a:pPr/>
            <a:r>
              <a:rPr sz="800" b="0">
                <a:solidFill>
                  <a:srgbClr val="333333"/>
                </a:solidFill>
                <a:latin typeface="微软雅黑"/>
              </a:rPr>
              <a:t/>
            </a:r>
          </a:p>
          <a:p>
            <a:pPr/>
            <a:r>
              <a:rPr sz="1800" b="1">
                <a:solidFill>
                  <a:srgbClr val="2E75B6"/>
                </a:solidFill>
                <a:latin typeface="微软雅黑"/>
              </a:rPr>
              <a:t>提高题</a:t>
            </a:r>
          </a:p>
          <a:p>
            <a:pPr/>
            <a:r>
              <a:rPr sz="1400" b="0">
                <a:solidFill>
                  <a:srgbClr val="333333"/>
                </a:solidFill>
                <a:latin typeface="微软雅黑"/>
              </a:rPr>
              <a:t>· 分析本节涉及的技术难点，并提出可能的解决方案</a:t>
            </a:r>
          </a:p>
          <a:p>
            <a:pPr/>
            <a:r>
              <a:rPr sz="1400" b="0">
                <a:solidFill>
                  <a:srgbClr val="333333"/>
                </a:solidFill>
                <a:latin typeface="微软雅黑"/>
              </a:rPr>
              <a:t>· 比较本节介绍的不同方法的优缺点，并给出选择建议</a:t>
            </a:r>
          </a:p>
          <a:p>
            <a:pPr/>
            <a:r>
              <a:rPr sz="800" b="0">
                <a:solidFill>
                  <a:srgbClr val="333333"/>
                </a:solidFill>
                <a:latin typeface="微软雅黑"/>
              </a:rPr>
              <a:t/>
            </a:r>
          </a:p>
          <a:p>
            <a:pPr/>
            <a:r>
              <a:rPr sz="1800" b="1">
                <a:solidFill>
                  <a:srgbClr val="2E75B6"/>
                </a:solidFill>
                <a:latin typeface="微软雅黑"/>
              </a:rPr>
              <a:t>讨论题</a:t>
            </a:r>
          </a:p>
          <a:p>
            <a:pPr/>
            <a:r>
              <a:rPr sz="1400" b="0">
                <a:solidFill>
                  <a:srgbClr val="333333"/>
                </a:solidFill>
                <a:latin typeface="微软雅黑"/>
              </a:rPr>
              <a:t>· 讨论本节内容与其他相关技术的集成方案，分析可能遇到的挑战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2.1  软件生命周期</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内容为智慧水利平台的设计和开发提供了重要的理论基础和技术指导。通过学习本节内容，学生应能够理解相关概念的内涵和应用价值，掌握基本的分析方法和设计原则，为后续章节的学习和实际项目的开展奠定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