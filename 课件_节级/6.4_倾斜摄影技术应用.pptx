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六 章   智慧水利三维场景构建</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6.4</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倾斜摄影技术应用</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水利工程三维模型组成 的核心概念与方法</a:t>
            </a:r>
          </a:p>
          <a:p>
            <a:pPr/>
            <a:r>
              <a:rPr sz="1800" b="0">
                <a:solidFill>
                  <a:srgbClr val="333333"/>
                </a:solidFill>
                <a:latin typeface="微软雅黑"/>
              </a:rPr>
              <a:t>· 掌握 地形三维模型制作方法 的核心概念与方法</a:t>
            </a:r>
          </a:p>
          <a:p>
            <a:pPr/>
            <a:r>
              <a:rPr sz="1800" b="0">
                <a:solidFill>
                  <a:srgbClr val="333333"/>
                </a:solidFill>
                <a:latin typeface="微软雅黑"/>
              </a:rPr>
              <a:t>· 掌握 水利设施三维模型构建方法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6.3.1 水利工程三维模型组成</a:t>
            </a:r>
          </a:p>
          <a:p>
            <a:pPr/>
            <a:r>
              <a:rPr sz="1600" b="0">
                <a:solidFill>
                  <a:srgbClr val="333333"/>
                </a:solidFill>
                <a:latin typeface="微软雅黑"/>
              </a:rPr>
              <a:t>· 6.3.2 地形三维模型制作方法</a:t>
            </a:r>
          </a:p>
          <a:p>
            <a:pPr/>
            <a:r>
              <a:rPr sz="1600" b="0">
                <a:solidFill>
                  <a:srgbClr val="333333"/>
                </a:solidFill>
                <a:latin typeface="微软雅黑"/>
              </a:rPr>
              <a:t>· 6.3.3 水利设施三维模型构建方法</a:t>
            </a:r>
          </a:p>
          <a:p>
            <a:pPr/>
            <a:r>
              <a:rPr sz="1600" b="0">
                <a:solidFill>
                  <a:srgbClr val="333333"/>
                </a:solidFill>
                <a:latin typeface="微软雅黑"/>
              </a:rPr>
              <a:t>· 6.3.4 水流模拟三维模型构建方法</a:t>
            </a:r>
          </a:p>
          <a:p>
            <a:pPr/>
            <a:r>
              <a:rPr sz="1600" b="0">
                <a:solidFill>
                  <a:srgbClr val="333333"/>
                </a:solidFill>
                <a:latin typeface="微软雅黑"/>
              </a:rPr>
              <a:t>· 6.3.5 数据集成与可视化模型构建方法</a:t>
            </a:r>
          </a:p>
          <a:p>
            <a:pPr/>
            <a:r>
              <a:rPr sz="1600" b="0">
                <a:solidFill>
                  <a:srgbClr val="333333"/>
                </a:solidFill>
                <a:latin typeface="微软雅黑"/>
              </a:rPr>
              <a:t>· 6.3.6 实时监测与动态模型构建方</a:t>
            </a:r>
          </a:p>
          <a:p>
            <a:pPr/>
            <a:r>
              <a:rPr sz="1600" b="0">
                <a:solidFill>
                  <a:srgbClr val="333333"/>
                </a:solidFill>
                <a:latin typeface="微软雅黑"/>
              </a:rPr>
              <a:t>· 基础</a:t>
            </a:r>
          </a:p>
          <a:p>
            <a:pPr/>
            <a:r>
              <a:rPr sz="1600" b="0">
                <a:solidFill>
                  <a:srgbClr val="333333"/>
                </a:solidFill>
                <a:latin typeface="微软雅黑"/>
              </a:rPr>
              <a:t>· 提高</a:t>
            </a:r>
          </a:p>
          <a:p>
            <a:pPr/>
            <a:r>
              <a:rPr sz="1600" b="0">
                <a:solidFill>
                  <a:srgbClr val="333333"/>
                </a:solidFill>
                <a:latin typeface="微软雅黑"/>
              </a:rPr>
              <a:t>· 讨论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6.3.1 水利工程三维模型组成</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随着水利工程管理和决策的复杂性增加，传统的二维图纸和数据难以满足日益多样化的需求</a:t>
            </a:r>
          </a:p>
          <a:p>
            <a:pPr/>
            <a:r>
              <a:rPr sz="1500" b="0">
                <a:solidFill>
                  <a:srgbClr val="333333"/>
                </a:solidFill>
                <a:latin typeface="微软雅黑"/>
              </a:rPr>
              <a:t>· 三维模型的引入为水利工程提供了更加直观、精确的可视化手段</a:t>
            </a:r>
          </a:p>
          <a:p>
            <a:pPr/>
            <a:r>
              <a:rPr sz="1500" b="0">
                <a:solidFill>
                  <a:srgbClr val="333333"/>
                </a:solidFill>
                <a:latin typeface="微软雅黑"/>
              </a:rPr>
              <a:t>· 三高程点直接三角剖简直等高线是对高程点的图形化表达，比高程点包含了更多信息，通过等高线可以判读山谷、山脊、坡度等，这些特性是高程点不具备的</a:t>
            </a:r>
          </a:p>
          <a:p>
            <a:pPr/>
            <a:r>
              <a:rPr sz="1500" b="0">
                <a:solidFill>
                  <a:srgbClr val="333333"/>
                </a:solidFill>
                <a:latin typeface="微软雅黑"/>
              </a:rPr>
              <a:t>· 等高线直接三角剖分(简等高线法")是基于等高线的节点进行三角剖分</a:t>
            </a:r>
          </a:p>
          <a:p>
            <a:pPr/>
            <a:r>
              <a:rPr sz="1500" b="0">
                <a:solidFill>
                  <a:srgbClr val="333333"/>
                </a:solidFill>
                <a:latin typeface="微软雅黑"/>
              </a:rPr>
              <a:t>· 与直接剖分法不同，该方法考虑了等高线的内在联系及等高线间的关系，因此从理论上讲，所建地形模型与等高线吻合度更佳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6.3.2 地形三维模型制作方法</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6.3.2.1 地形模型格式及精度评价指 一、地形模型格 目前虽有少量软件采用非统一均分有理性B样条（Non-Uniform Rational B -Splines，Nubs) 曲面表达地形，但大部分软件仍采用不规则三角网（Tri</a:t>
            </a:r>
          </a:p>
          <a:p>
            <a:pPr/>
            <a:r>
              <a:rPr sz="1500" b="0">
                <a:solidFill>
                  <a:srgbClr val="333333"/>
                </a:solidFill>
                <a:latin typeface="微软雅黑"/>
              </a:rPr>
              <a:t>· 数字地形图一般将中误差作为精度指标之一</a:t>
            </a:r>
          </a:p>
          <a:p>
            <a:pPr/>
            <a:r>
              <a:rPr sz="1500" b="0">
                <a:solidFill>
                  <a:srgbClr val="333333"/>
                </a:solidFill>
                <a:latin typeface="微软雅黑"/>
              </a:rPr>
              <a:t>· 对于地形模型而言，主要适用的是高程中误差，见式(6.3.1)</a:t>
            </a:r>
          </a:p>
          <a:p>
            <a:pPr/>
            <a:r>
              <a:rPr sz="1500" b="0">
                <a:solidFill>
                  <a:srgbClr val="333333"/>
                </a:solidFill>
                <a:latin typeface="微软雅黑"/>
              </a:rPr>
              <a:t>· 采用高程点样本进行计算，因此应采用样本方差公式，见6.3.2)</a:t>
            </a:r>
          </a:p>
          <a:p>
            <a:pPr/>
            <a:r>
              <a:rPr sz="1500" b="0">
                <a:solidFill>
                  <a:srgbClr val="333333"/>
                </a:solidFill>
                <a:latin typeface="微软雅黑"/>
              </a:rPr>
              <a:t>· 此外，常用的还有标准差公式，见6.3.3)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6.3.3 水利设施三维模型构建方法</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6.3.3.1 基于ZBrush的次世代建模技 水利工程中的坝体、坝基、库盘及周围山体环境等部分可以运用次世代建模技术进行模型构建，建模结果可以具有足够真实度收集与整理工程资料与图纸所建立的模型为基本模型，这种模型结构简单、面数少</a:t>
            </a:r>
          </a:p>
          <a:p>
            <a:pPr/>
            <a:r>
              <a:rPr sz="1500" b="0">
                <a:solidFill>
                  <a:srgbClr val="333333"/>
                </a:solidFill>
                <a:latin typeface="微软雅黑"/>
              </a:rPr>
              <a:t>· 但该模型也存在缺乏细节、精度低的缺陷，使系统展示出的工程场景与实际情况相差较大</a:t>
            </a:r>
          </a:p>
          <a:p>
            <a:pPr/>
            <a:r>
              <a:rPr sz="1500" b="0">
                <a:solidFill>
                  <a:srgbClr val="333333"/>
                </a:solidFill>
                <a:latin typeface="微软雅黑"/>
              </a:rPr>
              <a:t>· 因此，需通过增加基本模型的网格数及细节建立更加符合实际的高精度模型</a:t>
            </a:r>
          </a:p>
          <a:p>
            <a:pPr/>
            <a:r>
              <a:rPr sz="1500" b="0">
                <a:solidFill>
                  <a:srgbClr val="333333"/>
                </a:solidFill>
                <a:latin typeface="微软雅黑"/>
              </a:rPr>
              <a:t>· 但对于水工建筑物这类庞大的工程建筑而言，高精度模型面数可达数百、甚至上千万个，难以用于实时渲染</a:t>
            </a:r>
          </a:p>
          <a:p>
            <a:pPr/>
            <a:r>
              <a:rPr sz="1500" b="0">
                <a:solidFill>
                  <a:srgbClr val="333333"/>
                </a:solidFill>
                <a:latin typeface="微软雅黑"/>
              </a:rPr>
              <a:t>· 为解决该问题，本文引入次世代建模技术，即在建立高精度模型之后，烘焙出高精度模型的贴图，并将这些贴图映射在基本模型上，从而渲染出与高精度模型细节一样丰富、能被用来进行实时渲染且真实感较强的次世代模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6.3.4 水流模拟三维模型构建方法</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6.3.4.1 水动力学模拟模型构建方法 水动力学模拟是大坝、水库、河道以及流域管理等水利工程中的核心环节，它通过数学模型和数值计算方法，对水流的运动过程进行精确描述与仿真</a:t>
            </a:r>
          </a:p>
          <a:p>
            <a:pPr/>
            <a:r>
              <a:rPr sz="1500" b="0">
                <a:solidFill>
                  <a:srgbClr val="333333"/>
                </a:solidFill>
                <a:latin typeface="微软雅黑"/>
              </a:rPr>
              <a:t>· 该模拟技术广泛应用于水资源管理、防洪规划、水环境保护和水利工程设计等领域，其核心在于将水力学基本原理与流体动力学方程结合，构建符合实际条件的数学模型 水动力学模拟通常基于控制体积法、有限元法或有限差分法等数值计算方法，利用纳维-斯托克斯方程</a:t>
            </a:r>
          </a:p>
          <a:p>
            <a:pPr/>
            <a:r>
              <a:rPr sz="1500" b="0">
                <a:solidFill>
                  <a:srgbClr val="333333"/>
                </a:solidFill>
                <a:latin typeface="微软雅黑"/>
              </a:rPr>
              <a:t>· 在实际模拟过程中，根据模拟区域的物理尺度和计算精度的要求，可以选择不同的建模方式</a:t>
            </a:r>
          </a:p>
          <a:p>
            <a:pPr/>
            <a:r>
              <a:rPr sz="1500" b="0">
                <a:solidFill>
                  <a:srgbClr val="333333"/>
                </a:solidFill>
                <a:latin typeface="微软雅黑"/>
              </a:rPr>
              <a:t>· 二维水动力学模型是目前应用最广泛的一种模型类型，适用于描述水流在地表二维平面上的扩展和传播情况</a:t>
            </a:r>
          </a:p>
          <a:p>
            <a:pPr/>
            <a:r>
              <a:rPr sz="1500" b="0">
                <a:solidFill>
                  <a:srgbClr val="333333"/>
                </a:solidFill>
                <a:latin typeface="微软雅黑"/>
              </a:rPr>
              <a:t>· 二维模型可以精确模拟水体的面状流动，广泛用于洪水淹没分析、排涝模拟、城市内涝建模等场景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6.3.5 数据集成与可视化模型构建方法</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6.3.5.1 GIS数据集成方法 地理信息系统（GIS）在现代水利工程管理中扮演着至关重要的角色</a:t>
            </a:r>
          </a:p>
          <a:p>
            <a:pPr/>
            <a:r>
              <a:rPr sz="1500" b="0">
                <a:solidFill>
                  <a:srgbClr val="333333"/>
                </a:solidFill>
                <a:latin typeface="微软雅黑"/>
              </a:rPr>
              <a:t>· GIS数据集成是指将不同来源、不同格式的空间数据如地形图、土地利用图、水文地质图等整合到一个统一的平台，以实现空间信息的统一管理、分析与可视化</a:t>
            </a:r>
          </a:p>
          <a:p>
            <a:pPr/>
            <a:r>
              <a:rPr sz="1500" b="0">
                <a:solidFill>
                  <a:srgbClr val="333333"/>
                </a:solidFill>
                <a:latin typeface="微软雅黑"/>
              </a:rPr>
              <a:t>· 水利工程项目往往涉及广泛的空间范围，其设计、运行和维护需要依赖大量地理空间信息</a:t>
            </a:r>
          </a:p>
          <a:p>
            <a:pPr/>
            <a:r>
              <a:rPr sz="1500" b="0">
                <a:solidFill>
                  <a:srgbClr val="333333"/>
                </a:solidFill>
                <a:latin typeface="微软雅黑"/>
              </a:rPr>
              <a:t>· 因此，GIS数据集成不仅提高了信息获取的效率，也为后续的分析与决策提供了坚实的数据基础 GIS数据集成首先涉及多源空间数据的采集与标准化，包括遥感影像、卫星数据、无人机航拍影像、激光雷达（LiDAR）数据等</a:t>
            </a:r>
          </a:p>
          <a:p>
            <a:pPr/>
            <a:r>
              <a:rPr sz="1500" b="0">
                <a:solidFill>
                  <a:srgbClr val="333333"/>
                </a:solidFill>
                <a:latin typeface="微软雅黑"/>
              </a:rPr>
              <a:t>· 这些数据可以提供不同分辨率、不同精度的地形与地貌信息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6.3.6 实时监测与动态模型构建方</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6.3.6.1 洪水预警模型构建方法 洪水预警模型是现代水利工程管理体系中至关重要的组成部分，主要依托于对降水、流量、水位等关键水文数据的实时监测，并结合先进的水流模拟算法来实现对洪水风险的精准预测和及时预警</a:t>
            </a:r>
          </a:p>
          <a:p>
            <a:pPr/>
            <a:r>
              <a:rPr sz="1500" b="0">
                <a:solidFill>
                  <a:srgbClr val="333333"/>
                </a:solidFill>
                <a:latin typeface="微软雅黑"/>
              </a:rPr>
              <a:t>· 模型的构建首先依赖于广泛部署的水文监测设备，如自动雨量计、水位计、遥测水流监测装置等，这些设备通过无线传输网络将实时数据发送至中央处理系统</a:t>
            </a:r>
          </a:p>
          <a:p>
            <a:pPr/>
            <a:r>
              <a:rPr sz="1500" b="0">
                <a:solidFill>
                  <a:srgbClr val="333333"/>
                </a:solidFill>
                <a:latin typeface="微软雅黑"/>
              </a:rPr>
              <a:t>· 系统在接收到数据后，会自动调用集成的水文模型进行动态分析，进而判断是否存在洪水形成的风险 在模型构建中，通常选用一维或二维非恒定流动模型，如圣维南方程（Saint-Venant Equations）等，这些方程可以较为准确地模拟暴雨或突发水</a:t>
            </a:r>
          </a:p>
          <a:p>
            <a:pPr/>
            <a:r>
              <a:rPr sz="1500" b="0">
                <a:solidFill>
                  <a:srgbClr val="333333"/>
                </a:solidFill>
                <a:latin typeface="微软雅黑"/>
              </a:rPr>
              <a:t>· 此外，现代洪水预警系统还引入了机器学习和人工智能技术，通过训练历史洪水数据集，提升模型对未来极端事件的识别能力</a:t>
            </a:r>
          </a:p>
          <a:p>
            <a:pPr/>
            <a:r>
              <a:rPr sz="1500" b="0">
                <a:solidFill>
                  <a:srgbClr val="333333"/>
                </a:solidFill>
                <a:latin typeface="微软雅黑"/>
              </a:rPr>
              <a:t>· 系统可以基于降雨强度、历时、流域响应时间等参数自动设定报警阈值，当预测数据超过阈值时，模型立即向相关管理机构、政府部门以及公众发出预警 此外，为实现区域协同防灾，洪水预警模型还可以与地理信息系统（GIS）深度融合，动态生成洪水淹没图，精准标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倾斜摄影技术应用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倾斜摄影技术应用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倾斜摄影技术应用 的基本概念。</a:t>
            </a:r>
          </a:p>
          <a:p>
            <a:pPr/>
            <a:r>
              <a:rPr sz="1400" b="0">
                <a:solidFill>
                  <a:srgbClr val="333333"/>
                </a:solidFill>
                <a:latin typeface="微软雅黑"/>
              </a:rPr>
              <a:t>· 分析 倾斜摄影技术应用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6.4  倾斜摄影技术应用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详细介绍了水利工程中各类模型的制作方法，涵盖地形模型、水利设施模型、水流模拟模型、数据集成与可视化模型以及实时监测模型等多个方面。随着三维建模和信息集成技术的迅猛发展，三维模型的引入为传统的水利工程提供了更加直观、精确、动态的可视化手段，显著提升了工程管理的科学性和智能化水平 首先，在地形模型的构建方面，通常基于数字高程模型（DEM）、数字表面模型（DSM）或激光雷达（LiDAR）数据，通过地理信息系统（GIS）或建模工具如ArcGIS、Rhino、SketchUp等进行三维地形建模。该类模型可准确还原流域地貌、河道地形、高差关系等基础地理要素，为后续水流路径分析、水源调配等提供真实的地形基础。地形模型不仅用于静态展示，更可用于洪水淹没模拟、滑坡泥石流预判等自然灾害预测场景中。其次，水利设施模型包括水库、大坝、涵洞、闸门、泵站等结构物的三维建模。通过使用如Revit?ds Max、MA</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