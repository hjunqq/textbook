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10698480" cy="457200"/>
          </a:xfrm>
          <a:prstGeom prst="rect">
            <a:avLst/>
          </a:prstGeom>
          <a:noFill/>
        </p:spPr>
        <p:txBody>
          <a:bodyPr wrap="none">
            <a:spAutoFit/>
          </a:bodyPr>
          <a:lstStyle/>
          <a:p>
            <a:r>
              <a:rPr sz="1800" b="0">
                <a:solidFill>
                  <a:srgbClr val="DDEBF7"/>
                </a:solidFill>
                <a:latin typeface="微软雅黑"/>
              </a:rPr>
              <a:t>智慧水利平台架构与开发</a:t>
            </a:r>
          </a:p>
        </p:txBody>
      </p:sp>
      <p:sp>
        <p:nvSpPr>
          <p:cNvPr id="5" name="TextBox 4"/>
          <p:cNvSpPr txBox="1"/>
          <p:nvPr/>
        </p:nvSpPr>
        <p:spPr>
          <a:xfrm>
            <a:off x="731520" y="2194560"/>
            <a:ext cx="10698480" cy="548640"/>
          </a:xfrm>
          <a:prstGeom prst="rect">
            <a:avLst/>
          </a:prstGeom>
          <a:noFill/>
        </p:spPr>
        <p:txBody>
          <a:bodyPr wrap="none">
            <a:spAutoFit/>
          </a:bodyPr>
          <a:lstStyle/>
          <a:p>
            <a:r>
              <a:rPr sz="2200" b="0">
                <a:solidFill>
                  <a:srgbClr val="DDEBF7"/>
                </a:solidFill>
                <a:latin typeface="微软雅黑"/>
              </a:rPr>
              <a:t>第 二 章   软件工程基础与需求分析</a:t>
            </a:r>
          </a:p>
        </p:txBody>
      </p:sp>
      <p:sp>
        <p:nvSpPr>
          <p:cNvPr id="6" name="TextBox 5"/>
          <p:cNvSpPr txBox="1"/>
          <p:nvPr/>
        </p:nvSpPr>
        <p:spPr>
          <a:xfrm>
            <a:off x="731520" y="2743200"/>
            <a:ext cx="10698480" cy="1097280"/>
          </a:xfrm>
          <a:prstGeom prst="rect">
            <a:avLst/>
          </a:prstGeom>
          <a:noFill/>
        </p:spPr>
        <p:txBody>
          <a:bodyPr wrap="none">
            <a:spAutoFit/>
          </a:bodyPr>
          <a:lstStyle/>
          <a:p>
            <a:r>
              <a:rPr sz="7200" b="1">
                <a:solidFill>
                  <a:srgbClr val="FFFFFF"/>
                </a:solidFill>
                <a:latin typeface="微软雅黑"/>
              </a:rPr>
              <a:t>2.5</a:t>
            </a:r>
          </a:p>
        </p:txBody>
      </p:sp>
      <p:sp>
        <p:nvSpPr>
          <p:cNvPr id="7" name="TextBox 6"/>
          <p:cNvSpPr txBox="1"/>
          <p:nvPr/>
        </p:nvSpPr>
        <p:spPr>
          <a:xfrm>
            <a:off x="731520" y="4297680"/>
            <a:ext cx="10698480" cy="1097280"/>
          </a:xfrm>
          <a:prstGeom prst="rect">
            <a:avLst/>
          </a:prstGeom>
          <a:noFill/>
        </p:spPr>
        <p:txBody>
          <a:bodyPr wrap="none">
            <a:spAutoFit/>
          </a:bodyPr>
          <a:lstStyle/>
          <a:p>
            <a:r>
              <a:rPr sz="4000" b="1">
                <a:solidFill>
                  <a:srgbClr val="FFFFFF"/>
                </a:solidFill>
                <a:latin typeface="微软雅黑"/>
              </a:rPr>
              <a:t>软件工程工具</a:t>
            </a:r>
          </a:p>
        </p:txBody>
      </p:sp>
      <p:sp>
        <p:nvSpPr>
          <p:cNvPr id="8" name="TextBox 7"/>
          <p:cNvSpPr txBox="1"/>
          <p:nvPr/>
        </p:nvSpPr>
        <p:spPr>
          <a:xfrm>
            <a:off x="731520" y="6035040"/>
            <a:ext cx="10698480" cy="365760"/>
          </a:xfrm>
          <a:prstGeom prst="rect">
            <a:avLst/>
          </a:prstGeom>
          <a:noFill/>
        </p:spPr>
        <p:txBody>
          <a:bodyPr wrap="none">
            <a:spAutoFit/>
          </a:bodyPr>
          <a:lstStyle/>
          <a:p>
            <a:r>
              <a:rPr sz="1400" b="0">
                <a:solidFill>
                  <a:srgbClr val="DDEBF7"/>
                </a:solidFill>
                <a:latin typeface="微软雅黑"/>
              </a:rPr>
              <a:t>河海大学 · 水利水电学院</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a:spAutoFit/>
          </a:bodyPr>
          <a:lstStyle/>
          <a:p>
            <a:r>
              <a:rPr sz="1800" b="1">
                <a:solidFill>
                  <a:srgbClr val="FFFFFF"/>
                </a:solidFill>
                <a:latin typeface="微软雅黑"/>
              </a:rPr>
              <a:t>2.5  软件工程工具</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学习目标</a:t>
            </a:r>
          </a:p>
        </p:txBody>
      </p:sp>
      <p:sp>
        <p:nvSpPr>
          <p:cNvPr id="7" name="Rectangle 6"/>
          <p:cNvSpPr/>
          <p:nvPr/>
        </p:nvSpPr>
        <p:spPr>
          <a:xfrm>
            <a:off x="548640" y="1554480"/>
            <a:ext cx="137160" cy="5486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333333"/>
                </a:solidFill>
                <a:latin typeface="微软雅黑"/>
              </a:rPr>
              <a:t>通过本节学习，学生应能够：</a:t>
            </a:r>
          </a:p>
          <a:p>
            <a:r>
              <a:rPr sz="1600" b="0">
                <a:solidFill>
                  <a:srgbClr val="333333"/>
                </a:solidFill>
                <a:latin typeface="微软雅黑"/>
              </a:rPr>
              <a:t>· 理解 软件工程工具 的基本概念与核心原理</a:t>
            </a:r>
          </a:p>
          <a:p>
            <a:r>
              <a:rPr sz="1600" b="0">
                <a:solidFill>
                  <a:srgbClr val="333333"/>
                </a:solidFill>
                <a:latin typeface="微软雅黑"/>
              </a:rPr>
              <a:t>· 掌握 软件工程工具 的关键技术要点与典型方法</a:t>
            </a:r>
          </a:p>
          <a:p>
            <a:r>
              <a:rPr sz="1600" b="0">
                <a:solidFill>
                  <a:srgbClr val="333333"/>
                </a:solidFill>
                <a:latin typeface="微软雅黑"/>
              </a:rPr>
              <a:t>· 熟悉 软件工程工具 在智慧水利平台中的应用场景与价值</a:t>
            </a:r>
          </a:p>
          <a:p>
            <a:r>
              <a:rPr sz="1600" b="0">
                <a:solidFill>
                  <a:srgbClr val="333333"/>
                </a:solidFill>
                <a:latin typeface="微软雅黑"/>
              </a:rPr>
              <a:t>· 能够将所学应用到具体的水利信息化项目中</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a:spAutoFit/>
          </a:bodyPr>
          <a:lstStyle/>
          <a:p>
            <a:r>
              <a:rPr sz="1800" b="1">
                <a:solidFill>
                  <a:srgbClr val="FFFFFF"/>
                </a:solidFill>
                <a:latin typeface="微软雅黑"/>
              </a:rPr>
              <a:t>2.5  软件工程工具</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本节知识要点</a:t>
            </a:r>
          </a:p>
        </p:txBody>
      </p:sp>
      <p:sp>
        <p:nvSpPr>
          <p:cNvPr id="7" name="Rectangle 6"/>
          <p:cNvSpPr/>
          <p:nvPr/>
        </p:nvSpPr>
        <p:spPr>
          <a:xfrm>
            <a:off x="548640" y="1554480"/>
            <a:ext cx="137160" cy="5486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389120"/>
          </a:xfrm>
          <a:prstGeom prst="rect">
            <a:avLst/>
          </a:prstGeom>
          <a:noFill/>
        </p:spPr>
        <p:txBody>
          <a:bodyPr wrap="square">
            <a:spAutoFit/>
          </a:bodyPr>
          <a:lstStyle/>
          <a:p>
            <a:r>
              <a:rPr sz="2000" b="1">
                <a:solidFill>
                  <a:srgbClr val="2E75B6"/>
                </a:solidFill>
                <a:latin typeface="微软雅黑"/>
              </a:rPr>
              <a:t>主要内容</a:t>
            </a:r>
          </a:p>
          <a:p>
            <a:r>
              <a:rPr sz="1500" b="0">
                <a:solidFill>
                  <a:srgbClr val="333333"/>
                </a:solidFill>
                <a:latin typeface="微软雅黑"/>
              </a:rPr>
              <a:t>· 需求建模工具：Visio、StarUML、Enterprise Architect</a:t>
            </a:r>
          </a:p>
          <a:p>
            <a:r>
              <a:rPr sz="1500" b="0">
                <a:solidFill>
                  <a:srgbClr val="333333"/>
                </a:solidFill>
                <a:latin typeface="微软雅黑"/>
              </a:rPr>
              <a:t>· 版本控制工具：Git、SVN</a:t>
            </a:r>
          </a:p>
          <a:p>
            <a:r>
              <a:rPr sz="1500" b="0">
                <a:solidFill>
                  <a:srgbClr val="333333"/>
                </a:solidFill>
                <a:latin typeface="微软雅黑"/>
              </a:rPr>
              <a:t>· 协作平台：GitHub、GitLab、Gitee、Jira</a:t>
            </a:r>
          </a:p>
          <a:p>
            <a:r>
              <a:rPr sz="1500" b="0">
                <a:solidFill>
                  <a:srgbClr val="333333"/>
                </a:solidFill>
                <a:latin typeface="微软雅黑"/>
              </a:rPr>
              <a:t>· 持续集成工具：Jenkins、GitLab CI、GitHub Actions</a:t>
            </a:r>
          </a:p>
          <a:p>
            <a:r>
              <a:rPr sz="1500" b="0">
                <a:solidFill>
                  <a:srgbClr val="333333"/>
                </a:solidFill>
                <a:latin typeface="微软雅黑"/>
              </a:rPr>
              <a:t>· 代码质量工具：SonarQube、ESLint、Pylint</a:t>
            </a:r>
          </a:p>
          <a:p>
            <a:r>
              <a:rPr sz="1500" b="0">
                <a:solidFill>
                  <a:srgbClr val="333333"/>
                </a:solidFill>
                <a:latin typeface="微软雅黑"/>
              </a:rPr>
              <a:t>· 测试工具：JUnit、PyTest、Selenium、Postman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a:spAutoFit/>
          </a:bodyPr>
          <a:lstStyle/>
          <a:p>
            <a:r>
              <a:rPr sz="1800" b="1">
                <a:solidFill>
                  <a:srgbClr val="FFFFFF"/>
                </a:solidFill>
                <a:latin typeface="微软雅黑"/>
              </a:rPr>
              <a:t>2.5  软件工程工具</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要点 1：需求建模工具</a:t>
            </a:r>
          </a:p>
        </p:txBody>
      </p:sp>
      <p:sp>
        <p:nvSpPr>
          <p:cNvPr id="7" name="Rectangle 6"/>
          <p:cNvSpPr/>
          <p:nvPr/>
        </p:nvSpPr>
        <p:spPr>
          <a:xfrm>
            <a:off x="548640" y="1554480"/>
            <a:ext cx="137160" cy="5486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1800" b="0">
                <a:solidFill>
                  <a:srgbClr val="333333"/>
                </a:solidFill>
                <a:latin typeface="微软雅黑"/>
              </a:rPr>
              <a:t>需求建模工具：Visio、StarUML、Enterprise Architect</a:t>
            </a:r>
          </a:p>
          <a:p>
            <a:r>
              <a:rPr sz="1000" b="0">
                <a:solidFill>
                  <a:srgbClr val="333333"/>
                </a:solidFill>
                <a:latin typeface="微软雅黑"/>
              </a:rPr>
              <a:t/>
            </a:r>
          </a:p>
          <a:p>
            <a:r>
              <a:rPr sz="1400" b="1">
                <a:solidFill>
                  <a:srgbClr val="2E75B6"/>
                </a:solidFill>
                <a:latin typeface="微软雅黑"/>
              </a:rPr>
              <a:t>【讨论引导】</a:t>
            </a:r>
          </a:p>
          <a:p>
            <a:r>
              <a:rPr sz="1300" b="0">
                <a:solidFill>
                  <a:srgbClr val="595959"/>
                </a:solidFill>
                <a:latin typeface="微软雅黑"/>
              </a:rPr>
              <a:t>结合智慧水利场景，思考 "需求建模工具" 与本课程其他知识点的关联。</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a:spAutoFit/>
          </a:bodyPr>
          <a:lstStyle/>
          <a:p>
            <a:r>
              <a:rPr sz="1800" b="1">
                <a:solidFill>
                  <a:srgbClr val="FFFFFF"/>
                </a:solidFill>
                <a:latin typeface="微软雅黑"/>
              </a:rPr>
              <a:t>2.5  软件工程工具</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要点 2：版本控制工具</a:t>
            </a:r>
          </a:p>
        </p:txBody>
      </p:sp>
      <p:sp>
        <p:nvSpPr>
          <p:cNvPr id="7" name="Rectangle 6"/>
          <p:cNvSpPr/>
          <p:nvPr/>
        </p:nvSpPr>
        <p:spPr>
          <a:xfrm>
            <a:off x="548640" y="1554480"/>
            <a:ext cx="137160" cy="5486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1800" b="0">
                <a:solidFill>
                  <a:srgbClr val="333333"/>
                </a:solidFill>
                <a:latin typeface="微软雅黑"/>
              </a:rPr>
              <a:t>版本控制工具：Git、SVN</a:t>
            </a:r>
          </a:p>
          <a:p>
            <a:r>
              <a:rPr sz="1000" b="0">
                <a:solidFill>
                  <a:srgbClr val="333333"/>
                </a:solidFill>
                <a:latin typeface="微软雅黑"/>
              </a:rPr>
              <a:t/>
            </a:r>
          </a:p>
          <a:p>
            <a:r>
              <a:rPr sz="1400" b="1">
                <a:solidFill>
                  <a:srgbClr val="2E75B6"/>
                </a:solidFill>
                <a:latin typeface="微软雅黑"/>
              </a:rPr>
              <a:t>【讨论引导】</a:t>
            </a:r>
          </a:p>
          <a:p>
            <a:r>
              <a:rPr sz="1300" b="0">
                <a:solidFill>
                  <a:srgbClr val="595959"/>
                </a:solidFill>
                <a:latin typeface="微软雅黑"/>
              </a:rPr>
              <a:t>结合智慧水利场景，思考 "版本控制工具" 与本课程其他知识点的关联。</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a:spAutoFit/>
          </a:bodyPr>
          <a:lstStyle/>
          <a:p>
            <a:r>
              <a:rPr sz="1800" b="1">
                <a:solidFill>
                  <a:srgbClr val="FFFFFF"/>
                </a:solidFill>
                <a:latin typeface="微软雅黑"/>
              </a:rPr>
              <a:t>2.5  软件工程工具</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要点 3：协作平台</a:t>
            </a:r>
          </a:p>
        </p:txBody>
      </p:sp>
      <p:sp>
        <p:nvSpPr>
          <p:cNvPr id="7" name="Rectangle 6"/>
          <p:cNvSpPr/>
          <p:nvPr/>
        </p:nvSpPr>
        <p:spPr>
          <a:xfrm>
            <a:off x="548640" y="1554480"/>
            <a:ext cx="137160" cy="5486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1800" b="0">
                <a:solidFill>
                  <a:srgbClr val="333333"/>
                </a:solidFill>
                <a:latin typeface="微软雅黑"/>
              </a:rPr>
              <a:t>协作平台：GitHub、GitLab、Gitee、Jira</a:t>
            </a:r>
          </a:p>
          <a:p>
            <a:r>
              <a:rPr sz="1000" b="0">
                <a:solidFill>
                  <a:srgbClr val="333333"/>
                </a:solidFill>
                <a:latin typeface="微软雅黑"/>
              </a:rPr>
              <a:t/>
            </a:r>
          </a:p>
          <a:p>
            <a:r>
              <a:rPr sz="1400" b="1">
                <a:solidFill>
                  <a:srgbClr val="2E75B6"/>
                </a:solidFill>
                <a:latin typeface="微软雅黑"/>
              </a:rPr>
              <a:t>【讨论引导】</a:t>
            </a:r>
          </a:p>
          <a:p>
            <a:r>
              <a:rPr sz="1300" b="0">
                <a:solidFill>
                  <a:srgbClr val="595959"/>
                </a:solidFill>
                <a:latin typeface="微软雅黑"/>
              </a:rPr>
              <a:t>结合智慧水利场景，思考 "协作平台" 与本课程其他知识点的关联。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a:spAutoFit/>
          </a:bodyPr>
          <a:lstStyle/>
          <a:p>
            <a:r>
              <a:rPr sz="1800" b="1">
                <a:solidFill>
                  <a:srgbClr val="FFFFFF"/>
                </a:solidFill>
                <a:latin typeface="微软雅黑"/>
              </a:rPr>
              <a:t>2.5  软件工程工具</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要点 4：持续集成工具</a:t>
            </a:r>
          </a:p>
        </p:txBody>
      </p:sp>
      <p:sp>
        <p:nvSpPr>
          <p:cNvPr id="7" name="Rectangle 6"/>
          <p:cNvSpPr/>
          <p:nvPr/>
        </p:nvSpPr>
        <p:spPr>
          <a:xfrm>
            <a:off x="548640" y="1554480"/>
            <a:ext cx="137160" cy="5486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1800" b="0">
                <a:solidFill>
                  <a:srgbClr val="333333"/>
                </a:solidFill>
                <a:latin typeface="微软雅黑"/>
              </a:rPr>
              <a:t>持续集成工具：Jenkins、GitLab CI、GitHub Actions</a:t>
            </a:r>
          </a:p>
          <a:p>
            <a:r>
              <a:rPr sz="1000" b="0">
                <a:solidFill>
                  <a:srgbClr val="333333"/>
                </a:solidFill>
                <a:latin typeface="微软雅黑"/>
              </a:rPr>
              <a:t/>
            </a:r>
          </a:p>
          <a:p>
            <a:r>
              <a:rPr sz="1400" b="1">
                <a:solidFill>
                  <a:srgbClr val="2E75B6"/>
                </a:solidFill>
                <a:latin typeface="微软雅黑"/>
              </a:rPr>
              <a:t>【讨论引导】</a:t>
            </a:r>
          </a:p>
          <a:p>
            <a:r>
              <a:rPr sz="1300" b="0">
                <a:solidFill>
                  <a:srgbClr val="595959"/>
                </a:solidFill>
                <a:latin typeface="微软雅黑"/>
              </a:rPr>
              <a:t>结合智慧水利场景，思考 "持续集成工具" 与本课程其他知识点的关联。</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a:spAutoFit/>
          </a:bodyPr>
          <a:lstStyle/>
          <a:p>
            <a:r>
              <a:rPr sz="1800" b="1">
                <a:solidFill>
                  <a:srgbClr val="FFFFFF"/>
                </a:solidFill>
                <a:latin typeface="微软雅黑"/>
              </a:rPr>
              <a:t>2.5  软件工程工具</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要点 5：代码质量工具</a:t>
            </a:r>
          </a:p>
        </p:txBody>
      </p:sp>
      <p:sp>
        <p:nvSpPr>
          <p:cNvPr id="7" name="Rectangle 6"/>
          <p:cNvSpPr/>
          <p:nvPr/>
        </p:nvSpPr>
        <p:spPr>
          <a:xfrm>
            <a:off x="548640" y="1554480"/>
            <a:ext cx="137160" cy="5486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1800" b="0">
                <a:solidFill>
                  <a:srgbClr val="333333"/>
                </a:solidFill>
                <a:latin typeface="微软雅黑"/>
              </a:rPr>
              <a:t>代码质量工具：SonarQube、ESLint、Pylint</a:t>
            </a:r>
          </a:p>
          <a:p>
            <a:r>
              <a:rPr sz="1000" b="0">
                <a:solidFill>
                  <a:srgbClr val="333333"/>
                </a:solidFill>
                <a:latin typeface="微软雅黑"/>
              </a:rPr>
              <a:t/>
            </a:r>
          </a:p>
          <a:p>
            <a:r>
              <a:rPr sz="1400" b="1">
                <a:solidFill>
                  <a:srgbClr val="2E75B6"/>
                </a:solidFill>
                <a:latin typeface="微软雅黑"/>
              </a:rPr>
              <a:t>【讨论引导】</a:t>
            </a:r>
          </a:p>
          <a:p>
            <a:r>
              <a:rPr sz="1300" b="0">
                <a:solidFill>
                  <a:srgbClr val="595959"/>
                </a:solidFill>
                <a:latin typeface="微软雅黑"/>
              </a:rPr>
              <a:t>结合智慧水利场景，思考 "代码质量工具" 与本课程其他知识点的关联。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a:spAutoFit/>
          </a:bodyPr>
          <a:lstStyle/>
          <a:p>
            <a:r>
              <a:rPr sz="1800" b="1">
                <a:solidFill>
                  <a:srgbClr val="FFFFFF"/>
                </a:solidFill>
                <a:latin typeface="微软雅黑"/>
              </a:rPr>
              <a:t>2.5  软件工程工具</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要点 6：测试工具</a:t>
            </a:r>
          </a:p>
        </p:txBody>
      </p:sp>
      <p:sp>
        <p:nvSpPr>
          <p:cNvPr id="7" name="Rectangle 6"/>
          <p:cNvSpPr/>
          <p:nvPr/>
        </p:nvSpPr>
        <p:spPr>
          <a:xfrm>
            <a:off x="548640" y="1554480"/>
            <a:ext cx="137160" cy="5486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1800" b="0">
                <a:solidFill>
                  <a:srgbClr val="333333"/>
                </a:solidFill>
                <a:latin typeface="微软雅黑"/>
              </a:rPr>
              <a:t>测试工具：JUnit、PyTest、Selenium、Postman</a:t>
            </a:r>
          </a:p>
          <a:p>
            <a:r>
              <a:rPr sz="1000" b="0">
                <a:solidFill>
                  <a:srgbClr val="333333"/>
                </a:solidFill>
                <a:latin typeface="微软雅黑"/>
              </a:rPr>
              <a:t/>
            </a:r>
          </a:p>
          <a:p>
            <a:r>
              <a:rPr sz="1400" b="1">
                <a:solidFill>
                  <a:srgbClr val="2E75B6"/>
                </a:solidFill>
                <a:latin typeface="微软雅黑"/>
              </a:rPr>
              <a:t>【讨论引导】</a:t>
            </a:r>
          </a:p>
          <a:p>
            <a:r>
              <a:rPr sz="1300" b="0">
                <a:solidFill>
                  <a:srgbClr val="595959"/>
                </a:solidFill>
                <a:latin typeface="微软雅黑"/>
              </a:rPr>
              <a:t>结合智慧水利场景，思考 "测试工具" 与本课程其他知识点的关联。</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a:spAutoFit/>
          </a:bodyPr>
          <a:lstStyle/>
          <a:p>
            <a:r>
              <a:rPr sz="1800" b="1">
                <a:solidFill>
                  <a:srgbClr val="FFFFFF"/>
                </a:solidFill>
                <a:latin typeface="微软雅黑"/>
              </a:rPr>
              <a:t>2.5  软件工程工具</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智慧水利应用场景</a:t>
            </a:r>
          </a:p>
        </p:txBody>
      </p:sp>
      <p:sp>
        <p:nvSpPr>
          <p:cNvPr id="7" name="Rectangle 6"/>
          <p:cNvSpPr/>
          <p:nvPr/>
        </p:nvSpPr>
        <p:spPr>
          <a:xfrm>
            <a:off x="548640" y="1554480"/>
            <a:ext cx="137160" cy="5486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1800" b="0">
                <a:solidFill>
                  <a:srgbClr val="333333"/>
                </a:solidFill>
                <a:latin typeface="微软雅黑"/>
              </a:rPr>
              <a:t>智慧水利项目团队需要建立统一的工具链以保证交付质量与协作效率。</a:t>
            </a:r>
          </a:p>
          <a:p>
            <a:r>
              <a:rPr sz="1000" b="0">
                <a:solidFill>
                  <a:srgbClr val="333333"/>
                </a:solidFill>
                <a:latin typeface="微软雅黑"/>
              </a:rPr>
              <a:t/>
            </a:r>
          </a:p>
          <a:p>
            <a:r>
              <a:rPr sz="1400" b="1">
                <a:solidFill>
                  <a:srgbClr val="2E75B6"/>
                </a:solidFill>
                <a:latin typeface="微软雅黑"/>
              </a:rPr>
              <a:t>【拓展思考】</a:t>
            </a:r>
          </a:p>
          <a:p>
            <a:r>
              <a:rPr sz="1400" b="0">
                <a:solidFill>
                  <a:srgbClr val="595959"/>
                </a:solidFill>
                <a:latin typeface="微软雅黑"/>
              </a:rPr>
              <a:t>请结合所在地区或感兴趣的水利工程项目，举出 1-2 个具体应用案例。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a:spAutoFit/>
          </a:bodyPr>
          <a:lstStyle/>
          <a:p>
            <a:r>
              <a:rPr sz="1800" b="1">
                <a:solidFill>
                  <a:srgbClr val="FFFFFF"/>
                </a:solidFill>
                <a:latin typeface="微软雅黑"/>
              </a:rPr>
              <a:t>2.5  软件工程工具</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思考题与练习</a:t>
            </a:r>
          </a:p>
        </p:txBody>
      </p:sp>
      <p:sp>
        <p:nvSpPr>
          <p:cNvPr id="7" name="Rectangle 6"/>
          <p:cNvSpPr/>
          <p:nvPr/>
        </p:nvSpPr>
        <p:spPr>
          <a:xfrm>
            <a:off x="548640" y="1554480"/>
            <a:ext cx="137160" cy="5486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1800" b="1">
                <a:solidFill>
                  <a:srgbClr val="2E75B6"/>
                </a:solidFill>
                <a:latin typeface="微软雅黑"/>
              </a:rPr>
              <a:t>基础题</a:t>
            </a:r>
          </a:p>
          <a:p>
            <a:r>
              <a:rPr sz="1400" b="0">
                <a:solidFill>
                  <a:srgbClr val="333333"/>
                </a:solidFill>
                <a:latin typeface="微软雅黑"/>
              </a:rPr>
              <a:t>· 简述 软件工程工具 的基本概念与核心要点。</a:t>
            </a:r>
          </a:p>
          <a:p>
            <a:r>
              <a:rPr sz="1400" b="0">
                <a:solidFill>
                  <a:srgbClr val="333333"/>
                </a:solidFill>
                <a:latin typeface="微软雅黑"/>
              </a:rPr>
              <a:t>· 列举 软件工程工具 中常见的方法/工具/技术。</a:t>
            </a:r>
          </a:p>
          <a:p>
            <a:r>
              <a:rPr sz="1000" b="0">
                <a:solidFill>
                  <a:srgbClr val="333333"/>
                </a:solidFill>
                <a:latin typeface="微软雅黑"/>
              </a:rPr>
              <a:t/>
            </a:r>
          </a:p>
          <a:p>
            <a:r>
              <a:rPr sz="1800" b="1">
                <a:solidFill>
                  <a:srgbClr val="2E75B6"/>
                </a:solidFill>
                <a:latin typeface="微软雅黑"/>
              </a:rPr>
              <a:t>提高题</a:t>
            </a:r>
          </a:p>
          <a:p>
            <a:r>
              <a:rPr sz="1400" b="0">
                <a:solidFill>
                  <a:srgbClr val="333333"/>
                </a:solidFill>
                <a:latin typeface="微软雅黑"/>
              </a:rPr>
              <a:t>· 分析 软件工程工具 在智慧水利系统中的关键作用与潜在挑战。</a:t>
            </a:r>
          </a:p>
          <a:p>
            <a:r>
              <a:rPr sz="1000" b="0">
                <a:solidFill>
                  <a:srgbClr val="333333"/>
                </a:solidFill>
                <a:latin typeface="微软雅黑"/>
              </a:rPr>
              <a:t/>
            </a:r>
          </a:p>
          <a:p>
            <a:r>
              <a:rPr sz="1800" b="1">
                <a:solidFill>
                  <a:srgbClr val="2E75B6"/>
                </a:solidFill>
                <a:latin typeface="微软雅黑"/>
              </a:rPr>
              <a:t>讨论题</a:t>
            </a:r>
          </a:p>
          <a:p>
            <a:r>
              <a:rPr sz="1400" b="0">
                <a:solidFill>
                  <a:srgbClr val="333333"/>
                </a:solidFill>
                <a:latin typeface="微软雅黑"/>
              </a:rPr>
              <a:t>· 结合工程实践，讨论 软件工程工具 与本课程其他章节的关联。</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a:spAutoFit/>
          </a:bodyPr>
          <a:lstStyle/>
          <a:p>
            <a:r>
              <a:rPr sz="1800" b="1">
                <a:solidFill>
                  <a:srgbClr val="FFFFFF"/>
                </a:solidFill>
                <a:latin typeface="微软雅黑"/>
              </a:rPr>
              <a:t>2.5  软件工程工具</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本节小结</a:t>
            </a:r>
          </a:p>
        </p:txBody>
      </p:sp>
      <p:sp>
        <p:nvSpPr>
          <p:cNvPr id="7" name="Rectangle 6"/>
          <p:cNvSpPr/>
          <p:nvPr/>
        </p:nvSpPr>
        <p:spPr>
          <a:xfrm>
            <a:off x="548640" y="1554480"/>
            <a:ext cx="137160" cy="5486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1600" b="0">
                <a:solidFill>
                  <a:srgbClr val="333333"/>
                </a:solidFill>
                <a:latin typeface="微软雅黑"/>
              </a:rPr>
              <a:t>本节系统介绍了 软件工程工具 的核心概念、技术要点与智慧水利场景下的应用价值。</a:t>
            </a:r>
          </a:p>
          <a:p>
            <a:r>
              <a:rPr sz="1000" b="0">
                <a:solidFill>
                  <a:srgbClr val="333333"/>
                </a:solidFill>
                <a:latin typeface="微软雅黑"/>
              </a:rPr>
              <a:t/>
            </a:r>
          </a:p>
          <a:p>
            <a:r>
              <a:rPr sz="1400" b="1">
                <a:solidFill>
                  <a:srgbClr val="2E75B6"/>
                </a:solidFill>
                <a:latin typeface="微软雅黑"/>
              </a:rPr>
              <a:t>主要收获</a:t>
            </a:r>
          </a:p>
          <a:p>
            <a:r>
              <a:rPr sz="1300" b="0">
                <a:solidFill>
                  <a:srgbClr val="333333"/>
                </a:solidFill>
                <a:latin typeface="微软雅黑"/>
              </a:rPr>
              <a:t>· 需求建模工具</a:t>
            </a:r>
          </a:p>
          <a:p>
            <a:r>
              <a:rPr sz="1300" b="0">
                <a:solidFill>
                  <a:srgbClr val="333333"/>
                </a:solidFill>
                <a:latin typeface="微软雅黑"/>
              </a:rPr>
              <a:t>· 版本控制工具</a:t>
            </a:r>
          </a:p>
          <a:p>
            <a:r>
              <a:rPr sz="1300" b="0">
                <a:solidFill>
                  <a:srgbClr val="333333"/>
                </a:solidFill>
                <a:latin typeface="微软雅黑"/>
              </a:rPr>
              <a:t>· 协作平台</a:t>
            </a:r>
          </a:p>
          <a:p>
            <a:r>
              <a:rPr sz="1000" b="0">
                <a:solidFill>
                  <a:srgbClr val="333333"/>
                </a:solidFill>
                <a:latin typeface="微软雅黑"/>
              </a:rPr>
              <a:t/>
            </a:r>
          </a:p>
          <a:p>
            <a:r>
              <a:rPr sz="1300" b="0">
                <a:solidFill>
                  <a:srgbClr val="595959"/>
                </a:solidFill>
                <a:latin typeface="微软雅黑"/>
              </a:rPr>
              <a:t>下一步：完成对应知识点学习并提交本节配套练习。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