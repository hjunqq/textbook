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0"/>
            <a:ext cx="12191695" cy="457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DDEBF7"/>
                </a:solidFill>
                <a:latin typeface="微软雅黑"/>
              </a:rPr>
              <a:t>第 一 章   智慧水利概述与平台架构基础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200" b="1">
                <a:solidFill>
                  <a:srgbClr val="FFFFFF"/>
                </a:solidFill>
                <a:latin typeface="微软雅黑"/>
              </a:rPr>
              <a:t>1.2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9768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微软雅黑"/>
              </a:rPr>
              <a:t>软件工程概述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DDEBF7"/>
                </a:solidFill>
                <a:latin typeface="微软雅黑"/>
              </a:rPr>
              <a:t>河海大学 · 水利水电学院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1.2  软件工程概述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学习目标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333333"/>
                </a:solidFill>
                <a:latin typeface="微软雅黑"/>
              </a:rPr>
              <a:t>通过本节学习，学生应能够：</a:t>
            </a:r>
          </a:p>
          <a:p>
            <a:r>
              <a:rPr sz="1600" b="0">
                <a:solidFill>
                  <a:srgbClr val="333333"/>
                </a:solidFill>
                <a:latin typeface="微软雅黑"/>
              </a:rPr>
              <a:t>· 理解 软件工程概述 的基本概念与核心原理</a:t>
            </a:r>
          </a:p>
          <a:p>
            <a:r>
              <a:rPr sz="1600" b="0">
                <a:solidFill>
                  <a:srgbClr val="333333"/>
                </a:solidFill>
                <a:latin typeface="微软雅黑"/>
              </a:rPr>
              <a:t>· 掌握 软件工程概述 的关键技术要点与典型方法</a:t>
            </a:r>
          </a:p>
          <a:p>
            <a:r>
              <a:rPr sz="1600" b="0">
                <a:solidFill>
                  <a:srgbClr val="333333"/>
                </a:solidFill>
                <a:latin typeface="微软雅黑"/>
              </a:rPr>
              <a:t>· 熟悉 软件工程概述 在智慧水利平台中的应用场景与价值</a:t>
            </a:r>
          </a:p>
          <a:p>
            <a:r>
              <a:rPr sz="1600" b="0">
                <a:solidFill>
                  <a:srgbClr val="333333"/>
                </a:solidFill>
                <a:latin typeface="微软雅黑"/>
              </a:rPr>
              <a:t>· 能够将所学应用到具体的水利信息化项目中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1.2  软件工程概述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本节知识要点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E75B6"/>
                </a:solidFill>
                <a:latin typeface="微软雅黑"/>
              </a:rPr>
              <a:t>主要内容</a:t>
            </a:r>
          </a:p>
          <a:p>
            <a:r>
              <a:rPr sz="1500" b="0">
                <a:solidFill>
                  <a:srgbClr val="333333"/>
                </a:solidFill>
                <a:latin typeface="微软雅黑"/>
              </a:rPr>
              <a:t>· 软件工程的定义：用工程化方法开发、运行、维护软件</a:t>
            </a:r>
          </a:p>
          <a:p>
            <a:r>
              <a:rPr sz="1500" b="0">
                <a:solidFill>
                  <a:srgbClr val="333333"/>
                </a:solidFill>
                <a:latin typeface="微软雅黑"/>
              </a:rPr>
              <a:t>· 软件工程的目标：高质量、低成本、按期、易维护</a:t>
            </a:r>
          </a:p>
          <a:p>
            <a:r>
              <a:rPr sz="1500" b="0">
                <a:solidFill>
                  <a:srgbClr val="333333"/>
                </a:solidFill>
                <a:latin typeface="微软雅黑"/>
              </a:rPr>
              <a:t>· 软件工程三要素：方法、工具、过程</a:t>
            </a:r>
          </a:p>
          <a:p>
            <a:r>
              <a:rPr sz="1500" b="0">
                <a:solidFill>
                  <a:srgbClr val="333333"/>
                </a:solidFill>
                <a:latin typeface="微软雅黑"/>
              </a:rPr>
              <a:t>· SWEBOK 十一大知识域</a:t>
            </a:r>
          </a:p>
          <a:p>
            <a:r>
              <a:rPr sz="1500" b="0">
                <a:solidFill>
                  <a:srgbClr val="333333"/>
                </a:solidFill>
                <a:latin typeface="微软雅黑"/>
              </a:rPr>
              <a:t>· 软件工程的伦理与思政：质量责任、用户隐私、绿色低耗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1.2  软件工程概述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要点 1：软件工程的定义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软件工程的定义：用工程化方法开发、运行、维护软件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【讨论引导】</a:t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结合智慧水利场景，思考 "软件工程的定义" 与本课程其他知识点的关联。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1.2  软件工程概述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要点 2：软件工程的目标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软件工程的目标：高质量、低成本、按期、易维护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【讨论引导】</a:t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结合智慧水利场景，思考 "软件工程的目标" 与本课程其他知识点的关联。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1.2  软件工程概述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要点 3：软件工程三要素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软件工程三要素：方法、工具、过程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【讨论引导】</a:t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结合智慧水利场景，思考 "软件工程三要素" 与本课程其他知识点的关联。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1.2  软件工程概述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要点 4：SWEBOK 十一大知识域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SWEBOK 十一大知识域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【讨论引导】</a:t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结合智慧水利场景，思考 "SWEBOK 十一大知识域" 与本课程其他知识点的关联。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1.2  软件工程概述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要点 5：软件工程的伦理与思政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软件工程的伦理与思政：质量责任、用户隐私、绿色低耗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【讨论引导】</a:t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结合智慧水利场景，思考 "软件工程的伦理与思政" 与本课程其他知识点的关联。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1.2  软件工程概述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智慧水利应用场景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智慧水利平台涉及水利数据安全、群众用水权益，工程伦理尤为关键。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【拓展思考】</a:t>
            </a:r>
          </a:p>
          <a:p>
            <a:r>
              <a:rPr sz="1400" b="0">
                <a:solidFill>
                  <a:srgbClr val="595959"/>
                </a:solidFill>
                <a:latin typeface="微软雅黑"/>
              </a:rPr>
              <a:t>请结合所在地区或感兴趣的水利工程项目，举出 1-2 个具体应用案例。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1.2  软件工程概述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思考题与练习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E75B6"/>
                </a:solidFill>
                <a:latin typeface="微软雅黑"/>
              </a:rPr>
              <a:t>基础题</a:t>
            </a:r>
          </a:p>
          <a:p>
            <a:r>
              <a:rPr sz="1400" b="0">
                <a:solidFill>
                  <a:srgbClr val="333333"/>
                </a:solidFill>
                <a:latin typeface="微软雅黑"/>
              </a:rPr>
              <a:t>· 简述 软件工程概述 的基本概念与核心要点。</a:t>
            </a:r>
          </a:p>
          <a:p>
            <a:r>
              <a:rPr sz="1400" b="0">
                <a:solidFill>
                  <a:srgbClr val="333333"/>
                </a:solidFill>
                <a:latin typeface="微软雅黑"/>
              </a:rPr>
              <a:t>· 列举 软件工程概述 中常见的方法/工具/技术。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800" b="1">
                <a:solidFill>
                  <a:srgbClr val="2E75B6"/>
                </a:solidFill>
                <a:latin typeface="微软雅黑"/>
              </a:rPr>
              <a:t>提高题</a:t>
            </a:r>
          </a:p>
          <a:p>
            <a:r>
              <a:rPr sz="1400" b="0">
                <a:solidFill>
                  <a:srgbClr val="333333"/>
                </a:solidFill>
                <a:latin typeface="微软雅黑"/>
              </a:rPr>
              <a:t>· 分析 软件工程概述 在智慧水利系统中的关键作用与潜在挑战。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800" b="1">
                <a:solidFill>
                  <a:srgbClr val="2E75B6"/>
                </a:solidFill>
                <a:latin typeface="微软雅黑"/>
              </a:rPr>
              <a:t>讨论题</a:t>
            </a:r>
          </a:p>
          <a:p>
            <a:r>
              <a:rPr sz="1400" b="0">
                <a:solidFill>
                  <a:srgbClr val="333333"/>
                </a:solidFill>
                <a:latin typeface="微软雅黑"/>
              </a:rPr>
              <a:t>· 结合工程实践，讨论 软件工程概述 与本课程其他章节的关联。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1.2  软件工程概述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本节小结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3333"/>
                </a:solidFill>
                <a:latin typeface="微软雅黑"/>
              </a:rPr>
              <a:t>本节系统介绍了 软件工程概述 的核心概念、技术要点与智慧水利场景下的应用价值。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主要收获</a:t>
            </a:r>
          </a:p>
          <a:p>
            <a:r>
              <a:rPr sz="1300" b="0">
                <a:solidFill>
                  <a:srgbClr val="333333"/>
                </a:solidFill>
                <a:latin typeface="微软雅黑"/>
              </a:rPr>
              <a:t>· 软件工程的定义</a:t>
            </a:r>
          </a:p>
          <a:p>
            <a:r>
              <a:rPr sz="1300" b="0">
                <a:solidFill>
                  <a:srgbClr val="333333"/>
                </a:solidFill>
                <a:latin typeface="微软雅黑"/>
              </a:rPr>
              <a:t>· 软件工程的目标</a:t>
            </a:r>
          </a:p>
          <a:p>
            <a:r>
              <a:rPr sz="1300" b="0">
                <a:solidFill>
                  <a:srgbClr val="333333"/>
                </a:solidFill>
                <a:latin typeface="微软雅黑"/>
              </a:rPr>
              <a:t>· 软件工程三要素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下一步：完成对应知识点学习并提交本节配套练习。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