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DEBF7"/>
                </a:solidFill>
                <a:latin typeface="微软雅黑"/>
              </a:rPr>
              <a:t>第 二 章   软件工程基础与需求分析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  <a:latin typeface="微软雅黑"/>
              </a:rPr>
              <a:t>2.4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</a:rPr>
              <a:t>结构化设计方法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DDEBF7"/>
                </a:solidFill>
                <a:latin typeface="微软雅黑"/>
              </a:rPr>
              <a:t>河海大学 · 水利水电学院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2.4  结构化设计方法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学习目标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33333"/>
                </a:solidFill>
                <a:latin typeface="微软雅黑"/>
              </a:rPr>
              <a:t>通过本节学习，学生应能够：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理解 结构化设计方法 的基本概念与核心原理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掌握 结构化设计方法 的关键技术要点与典型方法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熟悉 结构化设计方法 在智慧水利平台中的应用场景与价值</a:t>
            </a:r>
          </a:p>
          <a:p>
            <a:r>
              <a:rPr sz="1600" b="0">
                <a:solidFill>
                  <a:srgbClr val="333333"/>
                </a:solidFill>
                <a:latin typeface="微软雅黑"/>
              </a:rPr>
              <a:t>· 能够将所学应用到具体的水利信息化项目中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2.4  结构化设计方法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本节知识要点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75B6"/>
                </a:solidFill>
                <a:latin typeface="微软雅黑"/>
              </a:rPr>
              <a:t>主要内容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结构化设计（SD）的目标：将分析模型转化为可实现的设计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总体设计：模块划分、层次结构图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详细设计：模块内部算法、数据结构、接口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设计原则：高内聚、低耦合、信息隐藏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模块独立性的评判：内聚度与耦合度等级</a:t>
            </a:r>
          </a:p>
          <a:p>
            <a:r>
              <a:rPr sz="1500" b="0">
                <a:solidFill>
                  <a:srgbClr val="333333"/>
                </a:solidFill>
                <a:latin typeface="微软雅黑"/>
              </a:rPr>
              <a:t>· 从 DFD 到结构图的映射方法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2.4  结构化设计方法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1：结构化设计（SD）的目标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结构化设计（SD）的目标：将分析模型转化为可实现的设计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"结构化设计（SD）的目标" 与本课程其他知识点的关联。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2.4  结构化设计方法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2：总体设计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总体设计：模块划分、层次结构图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"总体设计" 与本课程其他知识点的关联。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2.4  结构化设计方法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3：详细设计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详细设计：模块内部算法、数据结构、接口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"详细设计" 与本课程其他知识点的关联。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2.4  结构化设计方法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4：设计原则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设计原则：高内聚、低耦合、信息隐藏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"设计原则" 与本课程其他知识点的关联。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2.4  结构化设计方法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5：模块独立性的评判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模块独立性的评判：内聚度与耦合度等级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"模块独立性的评判" 与本课程其他知识点的关联。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2.4  结构化设计方法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3C71"/>
                </a:solidFill>
                <a:latin typeface="微软雅黑"/>
              </a:rPr>
              <a:t>要点 6：从 DFD 到结构图的映射方法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从 DFD 到结构图的映射方法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【讨论引导】</a:t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结合智慧水利场景，思考 "从 DFD 到结构图的映射方法" 与本课程其他知识点的关联。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2.4  结构化设计方法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智慧水利应用场景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微软雅黑"/>
              </a:rPr>
              <a:t>智慧水利模块（采集、传输、存储、展示）的层次设计直接决定平台可维护性。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【拓展思考】</a:t>
            </a:r>
          </a:p>
          <a:p>
            <a:r>
              <a:rPr sz="1400" b="0">
                <a:solidFill>
                  <a:srgbClr val="595959"/>
                </a:solidFill>
                <a:latin typeface="微软雅黑"/>
              </a:rPr>
              <a:t>请结合所在地区或感兴趣的水利工程项目，举出 1-2 个具体应用案例。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2.4  结构化设计方法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思考题与练习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E75B6"/>
                </a:solidFill>
                <a:latin typeface="微软雅黑"/>
              </a:rPr>
              <a:t>基础题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简述 结构化设计方法 的基本概念与核心要点。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列举 结构化设计方法 中常见的方法/工具/技术。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提高题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分析 结构化设计方法 在智慧水利系统中的关键作用与潜在挑战。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800" b="1">
                <a:solidFill>
                  <a:srgbClr val="2E75B6"/>
                </a:solidFill>
                <a:latin typeface="微软雅黑"/>
              </a:rPr>
              <a:t>讨论题</a:t>
            </a:r>
          </a:p>
          <a:p>
            <a:r>
              <a:rPr sz="1400" b="0">
                <a:solidFill>
                  <a:srgbClr val="333333"/>
                </a:solidFill>
                <a:latin typeface="微软雅黑"/>
              </a:rPr>
              <a:t>· 结合工程实践，讨论 结构化设计方法 与本课程其他章节的关联。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微软雅黑"/>
              </a:rPr>
              <a:t>2.4  结构化设计方法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DDEBF7"/>
                </a:solidFill>
                <a:latin typeface="微软雅黑"/>
              </a:rPr>
              <a:t>智慧水利平台架构与开发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C71"/>
                </a:solidFill>
                <a:latin typeface="微软雅黑"/>
              </a:rPr>
              <a:t>本节小结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371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3333"/>
                </a:solidFill>
                <a:latin typeface="微软雅黑"/>
              </a:rPr>
              <a:t>本节系统介绍了 结构化设计方法 的核心概念、技术要点与智慧水利场景下的应用价值。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400" b="1">
                <a:solidFill>
                  <a:srgbClr val="2E75B6"/>
                </a:solidFill>
                <a:latin typeface="微软雅黑"/>
              </a:rPr>
              <a:t>主要收获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结构化设计（SD）的目标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总体设计</a:t>
            </a:r>
          </a:p>
          <a:p>
            <a:r>
              <a:rPr sz="1300" b="0">
                <a:solidFill>
                  <a:srgbClr val="333333"/>
                </a:solidFill>
                <a:latin typeface="微软雅黑"/>
              </a:rPr>
              <a:t>· 详细设计</a:t>
            </a:r>
          </a:p>
          <a:p>
            <a:r>
              <a:rPr sz="1000" b="0">
                <a:solidFill>
                  <a:srgbClr val="333333"/>
                </a:solidFill>
                <a:latin typeface="微软雅黑"/>
              </a:rPr>
              <a:t/>
            </a:r>
          </a:p>
          <a:p>
            <a:r>
              <a:rPr sz="1300" b="0">
                <a:solidFill>
                  <a:srgbClr val="595959"/>
                </a:solidFill>
                <a:latin typeface="微软雅黑"/>
              </a:rPr>
              <a:t>下一步：完成对应知识点学习并提交本节配套练习。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